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embeddedFontLst>
    <p:embeddedFont>
      <p:font typeface="Geist"/>
      <p:regular r:id="rId15"/>
      <p:bold r:id="rId16"/>
      <p:italic r:id="rId17"/>
      <p:boldItalic r:id="rId18"/>
    </p:embeddedFont>
    <p:embeddedFont>
      <p:font typeface="Syne ExtraBold"/>
      <p:bold r:id="rId19"/>
    </p:embeddedFont>
    <p:embeddedFont>
      <p:font typeface="Syne"/>
      <p:regular r:id="rId20"/>
      <p:bold r:id="rId21"/>
    </p:embeddedFont>
    <p:embeddedFont>
      <p:font typeface="Syne SemiBold"/>
      <p:regular r:id="rId22"/>
      <p:bold r:id="rId23"/>
    </p:embeddedFont>
    <p:embeddedFont>
      <p:font typeface="Syne Medium"/>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yne-regular.fntdata"/><Relationship Id="rId22" Type="http://schemas.openxmlformats.org/officeDocument/2006/relationships/font" Target="fonts/SyneSemiBold-regular.fntdata"/><Relationship Id="rId21" Type="http://schemas.openxmlformats.org/officeDocument/2006/relationships/font" Target="fonts/Syne-bold.fntdata"/><Relationship Id="rId24" Type="http://schemas.openxmlformats.org/officeDocument/2006/relationships/font" Target="fonts/SyneMedium-regular.fntdata"/><Relationship Id="rId23" Type="http://schemas.openxmlformats.org/officeDocument/2006/relationships/font" Target="fonts/SyneSemiBold-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SyneMedium-bold.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Geist-regular.fntdata"/><Relationship Id="rId14" Type="http://schemas.openxmlformats.org/officeDocument/2006/relationships/slide" Target="slides/slide10.xml"/><Relationship Id="rId17" Type="http://schemas.openxmlformats.org/officeDocument/2006/relationships/font" Target="fonts/Geist-italic.fntdata"/><Relationship Id="rId16" Type="http://schemas.openxmlformats.org/officeDocument/2006/relationships/font" Target="fonts/Geist-bold.fntdata"/><Relationship Id="rId19" Type="http://schemas.openxmlformats.org/officeDocument/2006/relationships/font" Target="fonts/SyneExtraBold-bold.fntdata"/><Relationship Id="rId18" Type="http://schemas.openxmlformats.org/officeDocument/2006/relationships/font" Target="fonts/Geis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hyperlink" Target="https://gamma.app/?utm_source=made-with-gamma" TargetMode="Externa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 name="Google Shape;12;p2"/>
          <p:cNvSpPr/>
          <p:nvPr/>
        </p:nvSpPr>
        <p:spPr>
          <a:xfrm>
            <a:off x="0" y="0"/>
            <a:ext cx="9144000" cy="5143500"/>
          </a:xfrm>
          <a:prstGeom prst="rect">
            <a:avLst/>
          </a:prstGeom>
          <a:solidFill>
            <a:srgbClr val="152025">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transition spd="med">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1.png"/><Relationship Id="rId9" Type="http://schemas.openxmlformats.org/officeDocument/2006/relationships/image" Target="../media/image22.jp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image" Target="../media/image25.png"/><Relationship Id="rId7"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18.png"/><Relationship Id="rId7"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preencoded.png" id="20" name="Google Shape;20;p4"/>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21" name="Google Shape;21;p4"/>
          <p:cNvSpPr/>
          <p:nvPr/>
        </p:nvSpPr>
        <p:spPr>
          <a:xfrm>
            <a:off x="3925119" y="1582564"/>
            <a:ext cx="4722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0F4F1"/>
              </a:buClr>
              <a:buSzPts val="2750"/>
              <a:buFont typeface="Syne ExtraBold"/>
              <a:buNone/>
            </a:pPr>
            <a:r>
              <a:rPr b="0" i="0" lang="en-US" sz="2750" u="none" cap="none" strike="noStrike">
                <a:solidFill>
                  <a:srgbClr val="F0F4F1"/>
                </a:solidFill>
                <a:latin typeface="Syne ExtraBold"/>
                <a:ea typeface="Syne ExtraBold"/>
                <a:cs typeface="Syne ExtraBold"/>
                <a:sym typeface="Syne ExtraBold"/>
              </a:rPr>
              <a:t>AgriVision</a:t>
            </a:r>
            <a:endParaRPr b="0" i="0" sz="2750" u="none" cap="none" strike="noStrike">
              <a:solidFill>
                <a:schemeClr val="dk1"/>
              </a:solidFill>
              <a:latin typeface="Calibri"/>
              <a:ea typeface="Calibri"/>
              <a:cs typeface="Calibri"/>
              <a:sym typeface="Calibri"/>
            </a:endParaRPr>
          </a:p>
        </p:txBody>
      </p:sp>
      <p:sp>
        <p:nvSpPr>
          <p:cNvPr id="22" name="Google Shape;22;p4"/>
          <p:cNvSpPr/>
          <p:nvPr/>
        </p:nvSpPr>
        <p:spPr>
          <a:xfrm>
            <a:off x="3925119" y="2082254"/>
            <a:ext cx="4722763" cy="66436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0F4F1"/>
              </a:buClr>
              <a:buSzPts val="1350"/>
              <a:buFont typeface="Syne ExtraBold"/>
              <a:buNone/>
            </a:pPr>
            <a:r>
              <a:rPr b="0" i="0" lang="en-US" sz="1350" u="none" cap="none" strike="noStrike">
                <a:solidFill>
                  <a:srgbClr val="F0F4F1"/>
                </a:solidFill>
                <a:latin typeface="Syne ExtraBold"/>
                <a:ea typeface="Syne ExtraBold"/>
                <a:cs typeface="Syne ExtraBold"/>
                <a:sym typeface="Syne ExtraBold"/>
              </a:rPr>
              <a:t>AI-Driven Crop Disease Prediction via MERN Stack &amp; CNN</a:t>
            </a:r>
            <a:endParaRPr b="0" i="0" sz="1350" u="none" cap="none" strike="noStrike">
              <a:solidFill>
                <a:schemeClr val="dk1"/>
              </a:solidFill>
              <a:latin typeface="Calibri"/>
              <a:ea typeface="Calibri"/>
              <a:cs typeface="Calibri"/>
              <a:sym typeface="Calibri"/>
            </a:endParaRPr>
          </a:p>
        </p:txBody>
      </p:sp>
      <p:sp>
        <p:nvSpPr>
          <p:cNvPr id="23" name="Google Shape;23;p4"/>
          <p:cNvSpPr/>
          <p:nvPr/>
        </p:nvSpPr>
        <p:spPr>
          <a:xfrm>
            <a:off x="3925125" y="2803325"/>
            <a:ext cx="4565100" cy="276600"/>
          </a:xfrm>
          <a:prstGeom prst="rect">
            <a:avLst/>
          </a:prstGeom>
          <a:solidFill>
            <a:srgbClr val="000000">
              <a:alpha val="0"/>
            </a:srgbClr>
          </a:solidFill>
          <a:ln cap="flat" cmpd="sng" w="9525">
            <a:solidFill>
              <a:srgbClr val="54780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D7E5D8"/>
              </a:buClr>
              <a:buSzPts val="1100"/>
              <a:buFont typeface="Syne"/>
              <a:buNone/>
            </a:pPr>
            <a:r>
              <a:rPr b="1" lang="en-US" sz="1300">
                <a:solidFill>
                  <a:srgbClr val="D7E5D8"/>
                </a:solidFill>
                <a:latin typeface="Syne"/>
                <a:ea typeface="Syne"/>
                <a:cs typeface="Syne"/>
                <a:sym typeface="Syne"/>
              </a:rPr>
              <a:t>SUBJECT : </a:t>
            </a:r>
            <a:r>
              <a:rPr b="1" i="0" lang="en-US" sz="1300" u="none" cap="none" strike="noStrike">
                <a:solidFill>
                  <a:srgbClr val="D7E5D8"/>
                </a:solidFill>
                <a:latin typeface="Syne"/>
                <a:ea typeface="Syne"/>
                <a:cs typeface="Syne"/>
                <a:sym typeface="Syne"/>
              </a:rPr>
              <a:t>Full Stack Development </a:t>
            </a:r>
            <a:endParaRPr b="1" i="0" sz="1300" u="none" cap="none" strike="noStrike">
              <a:solidFill>
                <a:schemeClr val="dk1"/>
              </a:solidFill>
              <a:latin typeface="Syne"/>
              <a:ea typeface="Syne"/>
              <a:cs typeface="Syne"/>
              <a:sym typeface="Syne"/>
            </a:endParaRPr>
          </a:p>
        </p:txBody>
      </p:sp>
      <p:sp>
        <p:nvSpPr>
          <p:cNvPr id="24" name="Google Shape;24;p4"/>
          <p:cNvSpPr/>
          <p:nvPr/>
        </p:nvSpPr>
        <p:spPr>
          <a:xfrm>
            <a:off x="3925119" y="3345507"/>
            <a:ext cx="1792932" cy="215354"/>
          </a:xfrm>
          <a:prstGeom prst="roundRect">
            <a:avLst>
              <a:gd fmla="val 22119" name="adj"/>
            </a:avLst>
          </a:prstGeom>
          <a:noFill/>
          <a:ln cap="flat" cmpd="sng" w="9525">
            <a:solidFill>
              <a:srgbClr val="A9F0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p:nvPr/>
        </p:nvSpPr>
        <p:spPr>
          <a:xfrm>
            <a:off x="4010174" y="3387998"/>
            <a:ext cx="2080022"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A9F00F"/>
              </a:buClr>
              <a:buSzPts val="850"/>
              <a:buFont typeface="Syne"/>
              <a:buNone/>
            </a:pPr>
            <a:r>
              <a:rPr b="0" i="0" lang="en-US" sz="850" u="none" cap="none" strike="noStrike">
                <a:solidFill>
                  <a:srgbClr val="A9F00F"/>
                </a:solidFill>
                <a:latin typeface="Syne"/>
                <a:ea typeface="Syne"/>
                <a:cs typeface="Syne"/>
                <a:sym typeface="Syne"/>
              </a:rPr>
              <a:t>PRESENTED B</a:t>
            </a:r>
            <a:r>
              <a:rPr lang="en-US" sz="850">
                <a:solidFill>
                  <a:srgbClr val="A9F00F"/>
                </a:solidFill>
                <a:latin typeface="Syne"/>
                <a:ea typeface="Syne"/>
                <a:cs typeface="Syne"/>
                <a:sym typeface="Syne"/>
              </a:rPr>
              <a:t>Y : MADHAN V M</a:t>
            </a:r>
            <a:endParaRPr b="0" i="0" sz="850" u="none" cap="none" strike="noStrike">
              <a:solidFill>
                <a:schemeClr val="dk1"/>
              </a:solidFill>
              <a:latin typeface="Calibri"/>
              <a:ea typeface="Calibri"/>
              <a:cs typeface="Calibri"/>
              <a:sym typeface="Calibri"/>
            </a:endParaRPr>
          </a:p>
        </p:txBody>
      </p:sp>
      <p:sp>
        <p:nvSpPr>
          <p:cNvPr id="26" name="Google Shape;26;p4"/>
          <p:cNvSpPr/>
          <p:nvPr/>
        </p:nvSpPr>
        <p:spPr>
          <a:xfrm>
            <a:off x="5788893" y="3345507"/>
            <a:ext cx="1202903" cy="215354"/>
          </a:xfrm>
          <a:prstGeom prst="roundRect">
            <a:avLst>
              <a:gd fmla="val 22119" name="adj"/>
            </a:avLst>
          </a:prstGeom>
          <a:noFill/>
          <a:ln cap="flat" cmpd="sng" w="9525">
            <a:solidFill>
              <a:srgbClr val="A9F0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5873948" y="3387998"/>
            <a:ext cx="1489993"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A9F00F"/>
              </a:buClr>
              <a:buSzPts val="850"/>
              <a:buFont typeface="Syne"/>
              <a:buNone/>
            </a:pPr>
            <a:r>
              <a:rPr lang="en-US" sz="850">
                <a:solidFill>
                  <a:srgbClr val="A9F00F"/>
                </a:solidFill>
                <a:latin typeface="Syne"/>
                <a:ea typeface="Syne"/>
                <a:cs typeface="Syne"/>
                <a:sym typeface="Syne"/>
              </a:rPr>
              <a:t>310624104172</a:t>
            </a:r>
            <a:endParaRPr b="0" i="0" sz="850" u="none" cap="none" strike="noStrike">
              <a:solidFill>
                <a:schemeClr val="dk1"/>
              </a:solidFill>
              <a:latin typeface="Calibri"/>
              <a:ea typeface="Calibri"/>
              <a:cs typeface="Calibri"/>
              <a:sym typeface="Calibri"/>
            </a:endParaRPr>
          </a:p>
        </p:txBody>
      </p:sp>
      <p:sp>
        <p:nvSpPr>
          <p:cNvPr id="28" name="Google Shape;28;p4"/>
          <p:cNvSpPr/>
          <p:nvPr/>
        </p:nvSpPr>
        <p:spPr>
          <a:xfrm>
            <a:off x="3632200" y="518400"/>
            <a:ext cx="5442000" cy="616200"/>
          </a:xfrm>
          <a:prstGeom prst="rect">
            <a:avLst/>
          </a:prstGeom>
          <a:noFill/>
          <a:ln>
            <a:noFill/>
          </a:ln>
        </p:spPr>
        <p:txBody>
          <a:bodyPr anchorCtr="0" anchor="t" bIns="0" lIns="0" spcFirstLastPara="1" rIns="0" wrap="square" tIns="0">
            <a:noAutofit/>
          </a:bodyPr>
          <a:lstStyle/>
          <a:p>
            <a:pPr indent="0" lvl="0" marL="0" marR="0" rtl="0" algn="ctr">
              <a:lnSpc>
                <a:spcPct val="96000"/>
              </a:lnSpc>
              <a:spcBef>
                <a:spcPts val="0"/>
              </a:spcBef>
              <a:spcAft>
                <a:spcPts val="0"/>
              </a:spcAft>
              <a:buClr>
                <a:srgbClr val="A9F00F"/>
              </a:buClr>
              <a:buSzPts val="850"/>
              <a:buFont typeface="Syne"/>
              <a:buNone/>
            </a:pPr>
            <a:r>
              <a:rPr lang="en-US" sz="1950">
                <a:solidFill>
                  <a:schemeClr val="lt1"/>
                </a:solidFill>
                <a:latin typeface="Syne ExtraBold"/>
                <a:ea typeface="Syne ExtraBold"/>
                <a:cs typeface="Syne ExtraBold"/>
                <a:sym typeface="Syne ExtraBold"/>
              </a:rPr>
              <a:t>EASWARI ENGINEERING COLLEGE</a:t>
            </a:r>
            <a:endParaRPr i="0" sz="1950" u="none" cap="none" strike="noStrike">
              <a:solidFill>
                <a:schemeClr val="lt1"/>
              </a:solidFill>
              <a:latin typeface="Syne ExtraBold"/>
              <a:ea typeface="Syne ExtraBold"/>
              <a:cs typeface="Syne ExtraBold"/>
              <a:sym typeface="Syne ExtraBold"/>
            </a:endParaRPr>
          </a:p>
        </p:txBody>
      </p:sp>
      <p:sp>
        <p:nvSpPr>
          <p:cNvPr id="29" name="Google Shape;29;p4"/>
          <p:cNvSpPr/>
          <p:nvPr/>
        </p:nvSpPr>
        <p:spPr>
          <a:xfrm>
            <a:off x="3925128" y="3769725"/>
            <a:ext cx="2786700" cy="215400"/>
          </a:xfrm>
          <a:prstGeom prst="roundRect">
            <a:avLst>
              <a:gd fmla="val 22119" name="adj"/>
            </a:avLst>
          </a:prstGeom>
          <a:noFill/>
          <a:ln cap="flat" cmpd="sng" w="9525">
            <a:solidFill>
              <a:srgbClr val="A9F0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a:solidFill>
                  <a:schemeClr val="lt1"/>
                </a:solidFill>
                <a:latin typeface="Syne SemiBold"/>
                <a:ea typeface="Syne SemiBold"/>
                <a:cs typeface="Syne SemiBold"/>
                <a:sym typeface="Syne SemiBold"/>
              </a:rPr>
              <a:t>ZERO’TH REVIEW</a:t>
            </a:r>
            <a:endParaRPr>
              <a:solidFill>
                <a:schemeClr val="lt1"/>
              </a:solidFill>
              <a:latin typeface="Syne SemiBold"/>
              <a:ea typeface="Syne SemiBold"/>
              <a:cs typeface="Syne SemiBold"/>
              <a:sym typeface="Syne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1000"/>
                                        <p:tgtEl>
                                          <p:spTgt spid="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5"/>
          <p:cNvSpPr/>
          <p:nvPr/>
        </p:nvSpPr>
        <p:spPr>
          <a:xfrm>
            <a:off x="496119" y="924892"/>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36" name="Google Shape;36;p5"/>
          <p:cNvSpPr/>
          <p:nvPr/>
        </p:nvSpPr>
        <p:spPr>
          <a:xfrm>
            <a:off x="496119" y="1646783"/>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37" name="Google Shape;37;p5"/>
          <p:cNvSpPr/>
          <p:nvPr/>
        </p:nvSpPr>
        <p:spPr>
          <a:xfrm>
            <a:off x="496119" y="2368674"/>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pic>
        <p:nvPicPr>
          <p:cNvPr descr="preencoded.png" id="38" name="Google Shape;38;p5"/>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39" name="Google Shape;39;p5"/>
          <p:cNvSpPr/>
          <p:nvPr/>
        </p:nvSpPr>
        <p:spPr>
          <a:xfrm>
            <a:off x="496119" y="434504"/>
            <a:ext cx="4722900" cy="354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200"/>
              <a:buFont typeface="Arial"/>
              <a:buNone/>
            </a:pPr>
            <a:r>
              <a:rPr b="1" i="0" lang="en-US" sz="2200" u="none" cap="none" strike="noStrike">
                <a:solidFill>
                  <a:srgbClr val="D1EFE4"/>
                </a:solidFill>
                <a:latin typeface="Syne"/>
                <a:ea typeface="Syne"/>
                <a:cs typeface="Syne"/>
                <a:sym typeface="Syne"/>
              </a:rPr>
              <a:t>Table of Contents</a:t>
            </a:r>
            <a:endParaRPr b="1" i="0" sz="2200" u="none" cap="none" strike="noStrike">
              <a:solidFill>
                <a:srgbClr val="D1EFE4"/>
              </a:solidFill>
              <a:latin typeface="Syne"/>
              <a:ea typeface="Syne"/>
              <a:cs typeface="Syne"/>
              <a:sym typeface="Syne"/>
            </a:endParaRPr>
          </a:p>
        </p:txBody>
      </p:sp>
      <p:sp>
        <p:nvSpPr>
          <p:cNvPr id="40" name="Google Shape;40;p5"/>
          <p:cNvSpPr/>
          <p:nvPr/>
        </p:nvSpPr>
        <p:spPr>
          <a:xfrm>
            <a:off x="614288" y="1043062"/>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01</a:t>
            </a:r>
            <a:endParaRPr i="0" sz="1100" u="none" cap="none" strike="noStrike">
              <a:solidFill>
                <a:schemeClr val="lt1"/>
              </a:solidFill>
              <a:latin typeface="Syne Medium"/>
              <a:ea typeface="Syne Medium"/>
              <a:cs typeface="Syne Medium"/>
              <a:sym typeface="Syne Medium"/>
            </a:endParaRPr>
          </a:p>
        </p:txBody>
      </p:sp>
      <p:sp>
        <p:nvSpPr>
          <p:cNvPr id="41" name="Google Shape;41;p5"/>
          <p:cNvSpPr/>
          <p:nvPr/>
        </p:nvSpPr>
        <p:spPr>
          <a:xfrm>
            <a:off x="614288" y="1274638"/>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Abstract</a:t>
            </a:r>
            <a:endParaRPr i="0" sz="850" u="none" cap="none" strike="noStrike">
              <a:solidFill>
                <a:schemeClr val="lt1"/>
              </a:solidFill>
              <a:latin typeface="Syne Medium"/>
              <a:ea typeface="Syne Medium"/>
              <a:cs typeface="Syne Medium"/>
              <a:sym typeface="Syne Medium"/>
            </a:endParaRPr>
          </a:p>
        </p:txBody>
      </p:sp>
      <p:sp>
        <p:nvSpPr>
          <p:cNvPr id="42" name="Google Shape;42;p5"/>
          <p:cNvSpPr/>
          <p:nvPr/>
        </p:nvSpPr>
        <p:spPr>
          <a:xfrm>
            <a:off x="2902818" y="924892"/>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43" name="Google Shape;43;p5"/>
          <p:cNvSpPr/>
          <p:nvPr/>
        </p:nvSpPr>
        <p:spPr>
          <a:xfrm>
            <a:off x="3020988" y="1043062"/>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02</a:t>
            </a:r>
            <a:endParaRPr i="0" sz="1100" u="none" cap="none" strike="noStrike">
              <a:solidFill>
                <a:schemeClr val="lt1"/>
              </a:solidFill>
              <a:latin typeface="Syne Medium"/>
              <a:ea typeface="Syne Medium"/>
              <a:cs typeface="Syne Medium"/>
              <a:sym typeface="Syne Medium"/>
            </a:endParaRPr>
          </a:p>
        </p:txBody>
      </p:sp>
      <p:sp>
        <p:nvSpPr>
          <p:cNvPr id="44" name="Google Shape;44;p5"/>
          <p:cNvSpPr/>
          <p:nvPr/>
        </p:nvSpPr>
        <p:spPr>
          <a:xfrm>
            <a:off x="3020988" y="1274638"/>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Problem Statement</a:t>
            </a:r>
            <a:endParaRPr i="0" sz="850" u="none" cap="none" strike="noStrike">
              <a:solidFill>
                <a:schemeClr val="lt1"/>
              </a:solidFill>
              <a:latin typeface="Syne Medium"/>
              <a:ea typeface="Syne Medium"/>
              <a:cs typeface="Syne Medium"/>
              <a:sym typeface="Syne Medium"/>
            </a:endParaRPr>
          </a:p>
        </p:txBody>
      </p:sp>
      <p:sp>
        <p:nvSpPr>
          <p:cNvPr id="45" name="Google Shape;45;p5"/>
          <p:cNvSpPr/>
          <p:nvPr/>
        </p:nvSpPr>
        <p:spPr>
          <a:xfrm>
            <a:off x="614288" y="1764953"/>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03</a:t>
            </a:r>
            <a:endParaRPr i="0" sz="1100" u="none" cap="none" strike="noStrike">
              <a:solidFill>
                <a:schemeClr val="lt1"/>
              </a:solidFill>
              <a:latin typeface="Syne Medium"/>
              <a:ea typeface="Syne Medium"/>
              <a:cs typeface="Syne Medium"/>
              <a:sym typeface="Syne Medium"/>
            </a:endParaRPr>
          </a:p>
        </p:txBody>
      </p:sp>
      <p:sp>
        <p:nvSpPr>
          <p:cNvPr id="46" name="Google Shape;46;p5"/>
          <p:cNvSpPr/>
          <p:nvPr/>
        </p:nvSpPr>
        <p:spPr>
          <a:xfrm>
            <a:off x="614288" y="1996529"/>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Proposed Solution</a:t>
            </a:r>
            <a:endParaRPr i="0" sz="850" u="none" cap="none" strike="noStrike">
              <a:solidFill>
                <a:schemeClr val="lt1"/>
              </a:solidFill>
              <a:latin typeface="Syne Medium"/>
              <a:ea typeface="Syne Medium"/>
              <a:cs typeface="Syne Medium"/>
              <a:sym typeface="Syne Medium"/>
            </a:endParaRPr>
          </a:p>
        </p:txBody>
      </p:sp>
      <p:sp>
        <p:nvSpPr>
          <p:cNvPr id="47" name="Google Shape;47;p5"/>
          <p:cNvSpPr/>
          <p:nvPr/>
        </p:nvSpPr>
        <p:spPr>
          <a:xfrm>
            <a:off x="2902818" y="1646783"/>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48" name="Google Shape;48;p5"/>
          <p:cNvSpPr/>
          <p:nvPr/>
        </p:nvSpPr>
        <p:spPr>
          <a:xfrm>
            <a:off x="3020988" y="1764953"/>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04</a:t>
            </a:r>
            <a:endParaRPr i="0" sz="1100" u="none" cap="none" strike="noStrike">
              <a:solidFill>
                <a:schemeClr val="lt1"/>
              </a:solidFill>
              <a:latin typeface="Syne Medium"/>
              <a:ea typeface="Syne Medium"/>
              <a:cs typeface="Syne Medium"/>
              <a:sym typeface="Syne Medium"/>
            </a:endParaRPr>
          </a:p>
        </p:txBody>
      </p:sp>
      <p:sp>
        <p:nvSpPr>
          <p:cNvPr id="49" name="Google Shape;49;p5"/>
          <p:cNvSpPr/>
          <p:nvPr/>
        </p:nvSpPr>
        <p:spPr>
          <a:xfrm>
            <a:off x="3020988" y="1996529"/>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Objectives</a:t>
            </a:r>
            <a:endParaRPr i="0" sz="850" u="none" cap="none" strike="noStrike">
              <a:solidFill>
                <a:schemeClr val="lt1"/>
              </a:solidFill>
              <a:latin typeface="Syne Medium"/>
              <a:ea typeface="Syne Medium"/>
              <a:cs typeface="Syne Medium"/>
              <a:sym typeface="Syne Medium"/>
            </a:endParaRPr>
          </a:p>
        </p:txBody>
      </p:sp>
      <p:sp>
        <p:nvSpPr>
          <p:cNvPr id="50" name="Google Shape;50;p5"/>
          <p:cNvSpPr/>
          <p:nvPr/>
        </p:nvSpPr>
        <p:spPr>
          <a:xfrm>
            <a:off x="614288" y="2486844"/>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05</a:t>
            </a:r>
            <a:endParaRPr i="0" sz="1100" u="none" cap="none" strike="noStrike">
              <a:solidFill>
                <a:schemeClr val="lt1"/>
              </a:solidFill>
              <a:latin typeface="Syne Medium"/>
              <a:ea typeface="Syne Medium"/>
              <a:cs typeface="Syne Medium"/>
              <a:sym typeface="Syne Medium"/>
            </a:endParaRPr>
          </a:p>
        </p:txBody>
      </p:sp>
      <p:sp>
        <p:nvSpPr>
          <p:cNvPr id="51" name="Google Shape;51;p5"/>
          <p:cNvSpPr/>
          <p:nvPr/>
        </p:nvSpPr>
        <p:spPr>
          <a:xfrm>
            <a:off x="614288" y="2718420"/>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System Modules</a:t>
            </a:r>
            <a:endParaRPr i="0" sz="850" u="none" cap="none" strike="noStrike">
              <a:solidFill>
                <a:schemeClr val="lt1"/>
              </a:solidFill>
              <a:latin typeface="Syne Medium"/>
              <a:ea typeface="Syne Medium"/>
              <a:cs typeface="Syne Medium"/>
              <a:sym typeface="Syne Medium"/>
            </a:endParaRPr>
          </a:p>
        </p:txBody>
      </p:sp>
      <p:sp>
        <p:nvSpPr>
          <p:cNvPr id="52" name="Google Shape;52;p5"/>
          <p:cNvSpPr/>
          <p:nvPr/>
        </p:nvSpPr>
        <p:spPr>
          <a:xfrm>
            <a:off x="2902818" y="2368674"/>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53" name="Google Shape;53;p5"/>
          <p:cNvSpPr/>
          <p:nvPr/>
        </p:nvSpPr>
        <p:spPr>
          <a:xfrm>
            <a:off x="3020988" y="2486844"/>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06</a:t>
            </a:r>
            <a:endParaRPr i="0" sz="1100" u="none" cap="none" strike="noStrike">
              <a:solidFill>
                <a:schemeClr val="lt1"/>
              </a:solidFill>
              <a:latin typeface="Syne Medium"/>
              <a:ea typeface="Syne Medium"/>
              <a:cs typeface="Syne Medium"/>
              <a:sym typeface="Syne Medium"/>
            </a:endParaRPr>
          </a:p>
        </p:txBody>
      </p:sp>
      <p:sp>
        <p:nvSpPr>
          <p:cNvPr id="54" name="Google Shape;54;p5"/>
          <p:cNvSpPr/>
          <p:nvPr/>
        </p:nvSpPr>
        <p:spPr>
          <a:xfrm>
            <a:off x="3020988" y="2718420"/>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System Workflow</a:t>
            </a:r>
            <a:endParaRPr i="0" sz="850" u="none" cap="none" strike="noStrike">
              <a:solidFill>
                <a:schemeClr val="lt1"/>
              </a:solidFill>
              <a:latin typeface="Syne Medium"/>
              <a:ea typeface="Syne Medium"/>
              <a:cs typeface="Syne Medium"/>
              <a:sym typeface="Syne Medium"/>
            </a:endParaRPr>
          </a:p>
        </p:txBody>
      </p:sp>
      <p:sp>
        <p:nvSpPr>
          <p:cNvPr id="55" name="Google Shape;55;p5"/>
          <p:cNvSpPr/>
          <p:nvPr/>
        </p:nvSpPr>
        <p:spPr>
          <a:xfrm>
            <a:off x="496119" y="3090565"/>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56" name="Google Shape;56;p5"/>
          <p:cNvSpPr/>
          <p:nvPr/>
        </p:nvSpPr>
        <p:spPr>
          <a:xfrm>
            <a:off x="614288" y="3208734"/>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07</a:t>
            </a:r>
            <a:endParaRPr i="0" sz="1100" u="none" cap="none" strike="noStrike">
              <a:solidFill>
                <a:schemeClr val="lt1"/>
              </a:solidFill>
              <a:latin typeface="Syne Medium"/>
              <a:ea typeface="Syne Medium"/>
              <a:cs typeface="Syne Medium"/>
              <a:sym typeface="Syne Medium"/>
            </a:endParaRPr>
          </a:p>
        </p:txBody>
      </p:sp>
      <p:sp>
        <p:nvSpPr>
          <p:cNvPr id="57" name="Google Shape;57;p5"/>
          <p:cNvSpPr/>
          <p:nvPr/>
        </p:nvSpPr>
        <p:spPr>
          <a:xfrm>
            <a:off x="614288" y="3440311"/>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Technology Stack</a:t>
            </a:r>
            <a:endParaRPr i="0" sz="850" u="none" cap="none" strike="noStrike">
              <a:solidFill>
                <a:schemeClr val="lt1"/>
              </a:solidFill>
              <a:latin typeface="Syne Medium"/>
              <a:ea typeface="Syne Medium"/>
              <a:cs typeface="Syne Medium"/>
              <a:sym typeface="Syne Medium"/>
            </a:endParaRPr>
          </a:p>
        </p:txBody>
      </p:sp>
      <p:sp>
        <p:nvSpPr>
          <p:cNvPr id="58" name="Google Shape;58;p5"/>
          <p:cNvSpPr/>
          <p:nvPr/>
        </p:nvSpPr>
        <p:spPr>
          <a:xfrm>
            <a:off x="2902818" y="3090565"/>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59" name="Google Shape;59;p5"/>
          <p:cNvSpPr/>
          <p:nvPr/>
        </p:nvSpPr>
        <p:spPr>
          <a:xfrm>
            <a:off x="3020988" y="3208734"/>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08</a:t>
            </a:r>
            <a:endParaRPr i="0" sz="1100" u="none" cap="none" strike="noStrike">
              <a:solidFill>
                <a:schemeClr val="lt1"/>
              </a:solidFill>
              <a:latin typeface="Syne Medium"/>
              <a:ea typeface="Syne Medium"/>
              <a:cs typeface="Syne Medium"/>
              <a:sym typeface="Syne Medium"/>
            </a:endParaRPr>
          </a:p>
        </p:txBody>
      </p:sp>
      <p:sp>
        <p:nvSpPr>
          <p:cNvPr id="60" name="Google Shape;60;p5"/>
          <p:cNvSpPr/>
          <p:nvPr/>
        </p:nvSpPr>
        <p:spPr>
          <a:xfrm>
            <a:off x="3020988" y="3440311"/>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System Architecture</a:t>
            </a:r>
            <a:endParaRPr i="0" sz="850" u="none" cap="none" strike="noStrike">
              <a:solidFill>
                <a:schemeClr val="lt1"/>
              </a:solidFill>
              <a:latin typeface="Syne Medium"/>
              <a:ea typeface="Syne Medium"/>
              <a:cs typeface="Syne Medium"/>
              <a:sym typeface="Syne Medium"/>
            </a:endParaRPr>
          </a:p>
        </p:txBody>
      </p:sp>
      <p:sp>
        <p:nvSpPr>
          <p:cNvPr id="61" name="Google Shape;61;p5"/>
          <p:cNvSpPr/>
          <p:nvPr/>
        </p:nvSpPr>
        <p:spPr>
          <a:xfrm>
            <a:off x="496119" y="3812456"/>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62" name="Google Shape;62;p5"/>
          <p:cNvSpPr/>
          <p:nvPr/>
        </p:nvSpPr>
        <p:spPr>
          <a:xfrm>
            <a:off x="614288" y="3930625"/>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09</a:t>
            </a:r>
            <a:endParaRPr i="0" sz="1100" u="none" cap="none" strike="noStrike">
              <a:solidFill>
                <a:schemeClr val="lt1"/>
              </a:solidFill>
              <a:latin typeface="Syne Medium"/>
              <a:ea typeface="Syne Medium"/>
              <a:cs typeface="Syne Medium"/>
              <a:sym typeface="Syne Medium"/>
            </a:endParaRPr>
          </a:p>
        </p:txBody>
      </p:sp>
      <p:sp>
        <p:nvSpPr>
          <p:cNvPr id="63" name="Google Shape;63;p5"/>
          <p:cNvSpPr/>
          <p:nvPr/>
        </p:nvSpPr>
        <p:spPr>
          <a:xfrm>
            <a:off x="614288" y="4162202"/>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Expected Outcome</a:t>
            </a:r>
            <a:endParaRPr i="0" sz="850" u="none" cap="none" strike="noStrike">
              <a:solidFill>
                <a:schemeClr val="lt1"/>
              </a:solidFill>
              <a:latin typeface="Syne Medium"/>
              <a:ea typeface="Syne Medium"/>
              <a:cs typeface="Syne Medium"/>
              <a:sym typeface="Syne Medium"/>
            </a:endParaRPr>
          </a:p>
        </p:txBody>
      </p:sp>
      <p:sp>
        <p:nvSpPr>
          <p:cNvPr id="64" name="Google Shape;64;p5"/>
          <p:cNvSpPr/>
          <p:nvPr/>
        </p:nvSpPr>
        <p:spPr>
          <a:xfrm>
            <a:off x="2902818" y="3812456"/>
            <a:ext cx="2316000" cy="631200"/>
          </a:xfrm>
          <a:prstGeom prst="roundRect">
            <a:avLst>
              <a:gd fmla="val 16172" name="adj"/>
            </a:avLst>
          </a:prstGeom>
          <a:solidFill>
            <a:srgbClr val="547808"/>
          </a:solidFill>
          <a:ln cap="flat" cmpd="sng" w="952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yne Medium"/>
              <a:ea typeface="Syne Medium"/>
              <a:cs typeface="Syne Medium"/>
              <a:sym typeface="Syne Medium"/>
            </a:endParaRPr>
          </a:p>
        </p:txBody>
      </p:sp>
      <p:sp>
        <p:nvSpPr>
          <p:cNvPr id="65" name="Google Shape;65;p5"/>
          <p:cNvSpPr/>
          <p:nvPr/>
        </p:nvSpPr>
        <p:spPr>
          <a:xfrm>
            <a:off x="3020988" y="3930625"/>
            <a:ext cx="20796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i="0" lang="en-US" sz="1100" u="none" cap="none" strike="noStrike">
                <a:solidFill>
                  <a:schemeClr val="lt1"/>
                </a:solidFill>
                <a:latin typeface="Syne Medium"/>
                <a:ea typeface="Syne Medium"/>
                <a:cs typeface="Syne Medium"/>
                <a:sym typeface="Syne Medium"/>
              </a:rPr>
              <a:t>10</a:t>
            </a:r>
            <a:endParaRPr i="0" sz="1100" u="none" cap="none" strike="noStrike">
              <a:solidFill>
                <a:schemeClr val="lt1"/>
              </a:solidFill>
              <a:latin typeface="Syne Medium"/>
              <a:ea typeface="Syne Medium"/>
              <a:cs typeface="Syne Medium"/>
              <a:sym typeface="Syne Medium"/>
            </a:endParaRPr>
          </a:p>
        </p:txBody>
      </p:sp>
      <p:sp>
        <p:nvSpPr>
          <p:cNvPr id="66" name="Google Shape;66;p5"/>
          <p:cNvSpPr/>
          <p:nvPr/>
        </p:nvSpPr>
        <p:spPr>
          <a:xfrm>
            <a:off x="3020988" y="4162202"/>
            <a:ext cx="2079600" cy="1632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Medium"/>
                <a:ea typeface="Syne Medium"/>
                <a:cs typeface="Syne Medium"/>
                <a:sym typeface="Syne Medium"/>
              </a:rPr>
              <a:t>Conclusion</a:t>
            </a:r>
            <a:endParaRPr i="0" sz="850" u="none" cap="none" strike="noStrike">
              <a:solidFill>
                <a:schemeClr val="lt1"/>
              </a:solidFill>
              <a:latin typeface="Syne Medium"/>
              <a:ea typeface="Syne Medium"/>
              <a:cs typeface="Syne Medium"/>
              <a:sym typeface="Syne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E24"/>
        </a:solidFill>
      </p:bgPr>
    </p:bg>
    <p:spTree>
      <p:nvGrpSpPr>
        <p:cNvPr id="71" name="Shape 71"/>
        <p:cNvGrpSpPr/>
        <p:nvPr/>
      </p:nvGrpSpPr>
      <p:grpSpPr>
        <a:xfrm>
          <a:off x="0" y="0"/>
          <a:ext cx="0" cy="0"/>
          <a:chOff x="0" y="0"/>
          <a:chExt cx="0" cy="0"/>
        </a:xfrm>
      </p:grpSpPr>
      <p:sp>
        <p:nvSpPr>
          <p:cNvPr id="72" name="Google Shape;72;p6"/>
          <p:cNvSpPr/>
          <p:nvPr/>
        </p:nvSpPr>
        <p:spPr>
          <a:xfrm>
            <a:off x="496119" y="492323"/>
            <a:ext cx="4722900" cy="332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050"/>
              <a:buFont typeface="Arial"/>
              <a:buNone/>
            </a:pPr>
            <a:r>
              <a:rPr b="1" i="0" lang="en-US" sz="2050" u="none" cap="none" strike="noStrike">
                <a:solidFill>
                  <a:schemeClr val="lt1"/>
                </a:solidFill>
                <a:latin typeface="Syne"/>
                <a:ea typeface="Syne"/>
                <a:cs typeface="Syne"/>
                <a:sym typeface="Syne"/>
              </a:rPr>
              <a:t>Abstract</a:t>
            </a:r>
            <a:endParaRPr b="1" i="0" sz="2050" u="none" cap="none" strike="noStrike">
              <a:solidFill>
                <a:schemeClr val="lt1"/>
              </a:solidFill>
              <a:latin typeface="Syne"/>
              <a:ea typeface="Syne"/>
              <a:cs typeface="Syne"/>
              <a:sym typeface="Syne"/>
            </a:endParaRPr>
          </a:p>
        </p:txBody>
      </p:sp>
      <p:sp>
        <p:nvSpPr>
          <p:cNvPr id="73" name="Google Shape;73;p6"/>
          <p:cNvSpPr/>
          <p:nvPr/>
        </p:nvSpPr>
        <p:spPr>
          <a:xfrm>
            <a:off x="496119" y="944166"/>
            <a:ext cx="4722900" cy="1726800"/>
          </a:xfrm>
          <a:prstGeom prst="rect">
            <a:avLst/>
          </a:prstGeom>
          <a:noFill/>
          <a:ln>
            <a:noFill/>
          </a:ln>
        </p:spPr>
        <p:txBody>
          <a:bodyPr anchorCtr="0" anchor="t" bIns="0" lIns="0" spcFirstLastPara="1" rIns="0" wrap="square" tIns="0">
            <a:noAutofit/>
          </a:bodyPr>
          <a:lstStyle/>
          <a:p>
            <a:pPr indent="0" lvl="0" marL="0" marR="0" rtl="0" algn="just">
              <a:lnSpc>
                <a:spcPct val="117000"/>
              </a:lnSpc>
              <a:spcBef>
                <a:spcPts val="0"/>
              </a:spcBef>
              <a:spcAft>
                <a:spcPts val="0"/>
              </a:spcAft>
              <a:buClr>
                <a:srgbClr val="4B4A4A"/>
              </a:buClr>
              <a:buSzPts val="800"/>
              <a:buFont typeface="Geist"/>
              <a:buNone/>
            </a:pPr>
            <a:r>
              <a:rPr b="0" i="0" lang="en-US" sz="800" u="none" cap="none" strike="noStrike">
                <a:solidFill>
                  <a:schemeClr val="lt1"/>
                </a:solidFill>
                <a:latin typeface="Geist"/>
                <a:ea typeface="Geist"/>
                <a:cs typeface="Geist"/>
                <a:sym typeface="Geist"/>
              </a:rPr>
              <a:t>Agricultural ecosystems face growing pressure from fungal and bacterial pathogens that degrade crop yield, threaten food security, and increase the burden on farm management teams. Monitoring bodies and farmers must track disease reports, verify affected sites, coordinate treatments, and record farm health readings, but these tasks are often handled through manual logs and disconnected communication channels that slow response times and reduce accuracy.</a:t>
            </a:r>
            <a:endParaRPr b="0" i="0" sz="800" u="none" cap="none" strike="noStrike">
              <a:solidFill>
                <a:schemeClr val="lt1"/>
              </a:solidFill>
              <a:latin typeface="Calibri"/>
              <a:ea typeface="Calibri"/>
              <a:cs typeface="Calibri"/>
              <a:sym typeface="Calibri"/>
            </a:endParaRPr>
          </a:p>
          <a:p>
            <a:pPr indent="0" lvl="0" marL="0" marR="0" rtl="0" algn="just">
              <a:lnSpc>
                <a:spcPct val="117000"/>
              </a:lnSpc>
              <a:spcBef>
                <a:spcPts val="700"/>
              </a:spcBef>
              <a:spcAft>
                <a:spcPts val="0"/>
              </a:spcAft>
              <a:buClr>
                <a:srgbClr val="4B4A4A"/>
              </a:buClr>
              <a:buSzPts val="800"/>
              <a:buFont typeface="Geist"/>
              <a:buNone/>
            </a:pPr>
            <a:r>
              <a:rPr b="0" i="0" lang="en-US" sz="800" u="none" cap="none" strike="noStrike">
                <a:solidFill>
                  <a:schemeClr val="lt1"/>
                </a:solidFill>
                <a:latin typeface="Geist"/>
                <a:ea typeface="Geist"/>
                <a:cs typeface="Geist"/>
                <a:sym typeface="Geist"/>
              </a:rPr>
              <a:t>This project presents a web-based Crop Disease Tracking and Monitoring System that digitalizes and centralizes the entire workflow. Farmers can submit disease incidents, administrators can verify affected locations, and the integrated CNN model compares uploaded image readings against predefined disease thresholds to detect hazardous conditions early. Once treatment is verified, a digital agricultural report is generated and made available through a central dashboard, improving responsiveness, transparency, and decision-making in farm management.</a:t>
            </a:r>
            <a:endParaRPr b="0" i="0" sz="800" u="none" cap="none" strike="noStrike">
              <a:solidFill>
                <a:schemeClr val="lt1"/>
              </a:solidFill>
              <a:latin typeface="Calibri"/>
              <a:ea typeface="Calibri"/>
              <a:cs typeface="Calibri"/>
              <a:sym typeface="Calibri"/>
            </a:endParaRPr>
          </a:p>
        </p:txBody>
      </p:sp>
      <p:sp>
        <p:nvSpPr>
          <p:cNvPr id="74" name="Google Shape;74;p6"/>
          <p:cNvSpPr/>
          <p:nvPr/>
        </p:nvSpPr>
        <p:spPr>
          <a:xfrm>
            <a:off x="496119" y="2760613"/>
            <a:ext cx="4722900" cy="502200"/>
          </a:xfrm>
          <a:prstGeom prst="roundRect">
            <a:avLst>
              <a:gd fmla="val 19054" name="adj"/>
            </a:avLst>
          </a:prstGeom>
          <a:solidFill>
            <a:srgbClr val="5478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5" name="Google Shape;75;p6"/>
          <p:cNvPicPr preferRelativeResize="0"/>
          <p:nvPr/>
        </p:nvPicPr>
        <p:blipFill rotWithShape="1">
          <a:blip r:embed="rId3">
            <a:alphaModFix/>
          </a:blip>
          <a:srcRect b="0" l="0" r="0" t="0"/>
          <a:stretch/>
        </p:blipFill>
        <p:spPr>
          <a:xfrm>
            <a:off x="602382" y="2878634"/>
            <a:ext cx="132904" cy="106263"/>
          </a:xfrm>
          <a:prstGeom prst="rect">
            <a:avLst/>
          </a:prstGeom>
          <a:noFill/>
          <a:ln>
            <a:noFill/>
          </a:ln>
        </p:spPr>
      </p:pic>
      <p:sp>
        <p:nvSpPr>
          <p:cNvPr id="76" name="Google Shape;76;p6"/>
          <p:cNvSpPr/>
          <p:nvPr/>
        </p:nvSpPr>
        <p:spPr>
          <a:xfrm>
            <a:off x="841549" y="2866876"/>
            <a:ext cx="4271100" cy="297600"/>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000000"/>
              </a:buClr>
              <a:buSzPts val="800"/>
              <a:buFont typeface="Geist"/>
              <a:buNone/>
            </a:pPr>
            <a:r>
              <a:rPr i="0" lang="en-US" sz="800" u="none" cap="none" strike="noStrike">
                <a:solidFill>
                  <a:schemeClr val="lt1"/>
                </a:solidFill>
                <a:latin typeface="Syne SemiBold"/>
                <a:ea typeface="Syne SemiBold"/>
                <a:cs typeface="Syne SemiBold"/>
                <a:sym typeface="Syne SemiBold"/>
              </a:rPr>
              <a:t>Digital tracking can reduce reporting delays, improve verification accuracy, and enable faster treatment decisions for affected crops.</a:t>
            </a:r>
            <a:endParaRPr i="0" sz="800" u="none" cap="none" strike="noStrike">
              <a:solidFill>
                <a:schemeClr val="lt1"/>
              </a:solidFill>
              <a:latin typeface="Syne SemiBold"/>
              <a:ea typeface="Syne SemiBold"/>
              <a:cs typeface="Syne SemiBold"/>
              <a:sym typeface="Syne SemiBold"/>
            </a:endParaRPr>
          </a:p>
        </p:txBody>
      </p:sp>
      <p:sp>
        <p:nvSpPr>
          <p:cNvPr id="77" name="Google Shape;77;p6"/>
          <p:cNvSpPr/>
          <p:nvPr/>
        </p:nvSpPr>
        <p:spPr>
          <a:xfrm>
            <a:off x="496119" y="3352502"/>
            <a:ext cx="2321400" cy="573300"/>
          </a:xfrm>
          <a:prstGeom prst="roundRect">
            <a:avLst>
              <a:gd fmla="val 16692" name="adj"/>
            </a:avLst>
          </a:prstGeom>
          <a:solidFill>
            <a:srgbClr val="547808"/>
          </a:solidFill>
          <a:ln cap="flat" cmpd="sng" w="1427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p:nvPr/>
        </p:nvSpPr>
        <p:spPr>
          <a:xfrm>
            <a:off x="616669" y="3473053"/>
            <a:ext cx="2080500" cy="3321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000"/>
              <a:buFont typeface="Arial"/>
              <a:buNone/>
            </a:pPr>
            <a:r>
              <a:rPr i="0" lang="en-US" sz="1000" u="none" cap="none" strike="noStrike">
                <a:solidFill>
                  <a:schemeClr val="lt1"/>
                </a:solidFill>
                <a:latin typeface="Syne SemiBold"/>
                <a:ea typeface="Syne SemiBold"/>
                <a:cs typeface="Syne SemiBold"/>
                <a:sym typeface="Syne SemiBold"/>
              </a:rPr>
              <a:t>Manual reporting risks delay &amp; poor tracking</a:t>
            </a:r>
            <a:endParaRPr i="0" sz="1000" u="none" cap="none" strike="noStrike">
              <a:solidFill>
                <a:schemeClr val="lt1"/>
              </a:solidFill>
              <a:latin typeface="Syne SemiBold"/>
              <a:ea typeface="Syne SemiBold"/>
              <a:cs typeface="Syne SemiBold"/>
              <a:sym typeface="Syne SemiBold"/>
            </a:endParaRPr>
          </a:p>
        </p:txBody>
      </p:sp>
      <p:sp>
        <p:nvSpPr>
          <p:cNvPr id="79" name="Google Shape;79;p6"/>
          <p:cNvSpPr/>
          <p:nvPr/>
        </p:nvSpPr>
        <p:spPr>
          <a:xfrm>
            <a:off x="2897312" y="3352502"/>
            <a:ext cx="2321700" cy="573300"/>
          </a:xfrm>
          <a:prstGeom prst="roundRect">
            <a:avLst>
              <a:gd fmla="val 16692" name="adj"/>
            </a:avLst>
          </a:prstGeom>
          <a:solidFill>
            <a:srgbClr val="547808"/>
          </a:solidFill>
          <a:ln cap="flat" cmpd="sng" w="1427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p:nvPr/>
        </p:nvSpPr>
        <p:spPr>
          <a:xfrm>
            <a:off x="3017862" y="3473053"/>
            <a:ext cx="2080500" cy="166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000"/>
              <a:buFont typeface="Arial"/>
              <a:buNone/>
            </a:pPr>
            <a:r>
              <a:rPr i="0" lang="en-US" sz="1000" u="none" cap="none" strike="noStrike">
                <a:solidFill>
                  <a:schemeClr val="lt1"/>
                </a:solidFill>
                <a:latin typeface="Syne SemiBold"/>
                <a:ea typeface="Syne SemiBold"/>
                <a:cs typeface="Syne SemiBold"/>
                <a:sym typeface="Syne SemiBold"/>
              </a:rPr>
              <a:t>Centralized digital platform</a:t>
            </a:r>
            <a:endParaRPr i="0" sz="1000" u="none" cap="none" strike="noStrike">
              <a:solidFill>
                <a:schemeClr val="lt1"/>
              </a:solidFill>
              <a:latin typeface="Syne SemiBold"/>
              <a:ea typeface="Syne SemiBold"/>
              <a:cs typeface="Syne SemiBold"/>
              <a:sym typeface="Syne SemiBold"/>
            </a:endParaRPr>
          </a:p>
        </p:txBody>
      </p:sp>
      <p:sp>
        <p:nvSpPr>
          <p:cNvPr id="81" name="Google Shape;81;p6"/>
          <p:cNvSpPr/>
          <p:nvPr/>
        </p:nvSpPr>
        <p:spPr>
          <a:xfrm>
            <a:off x="496119" y="4005486"/>
            <a:ext cx="4722900" cy="407100"/>
          </a:xfrm>
          <a:prstGeom prst="roundRect">
            <a:avLst>
              <a:gd fmla="val 23501" name="adj"/>
            </a:avLst>
          </a:prstGeom>
          <a:solidFill>
            <a:srgbClr val="547808"/>
          </a:solidFill>
          <a:ln cap="flat" cmpd="sng" w="14275">
            <a:solidFill>
              <a:srgbClr val="B7D5C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p:nvPr/>
        </p:nvSpPr>
        <p:spPr>
          <a:xfrm>
            <a:off x="616669" y="4126037"/>
            <a:ext cx="4481700" cy="1662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000"/>
              <a:buFont typeface="Arial"/>
              <a:buNone/>
            </a:pPr>
            <a:r>
              <a:rPr i="0" lang="en-US" sz="1000" u="none" cap="none" strike="noStrike">
                <a:solidFill>
                  <a:schemeClr val="lt1"/>
                </a:solidFill>
                <a:latin typeface="Syne SemiBold"/>
                <a:ea typeface="Syne SemiBold"/>
                <a:cs typeface="Syne SemiBold"/>
                <a:sym typeface="Syne SemiBold"/>
              </a:rPr>
              <a:t>Auto threshold-based disease alerts</a:t>
            </a:r>
            <a:endParaRPr i="0" sz="1000" u="none" cap="none" strike="noStrike">
              <a:solidFill>
                <a:schemeClr val="lt1"/>
              </a:solidFill>
              <a:latin typeface="Syne SemiBold"/>
              <a:ea typeface="Syne SemiBold"/>
              <a:cs typeface="Syne SemiBold"/>
              <a:sym typeface="Syne SemiBold"/>
            </a:endParaRPr>
          </a:p>
        </p:txBody>
      </p:sp>
      <p:pic>
        <p:nvPicPr>
          <p:cNvPr id="83" name="Google Shape;83;p6"/>
          <p:cNvPicPr preferRelativeResize="0"/>
          <p:nvPr/>
        </p:nvPicPr>
        <p:blipFill rotWithShape="1">
          <a:blip r:embed="rId4">
            <a:alphaModFix/>
          </a:blip>
          <a:srcRect b="0" l="0" r="0" t="0"/>
          <a:stretch/>
        </p:blipFill>
        <p:spPr>
          <a:xfrm>
            <a:off x="5543550" y="0"/>
            <a:ext cx="3600500" cy="5143500"/>
          </a:xfrm>
          <a:custGeom>
            <a:rect b="b" l="l" r="r" t="t"/>
            <a:pathLst>
              <a:path extrusionOk="0" h="100000" w="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E24"/>
        </a:solidFill>
      </p:bgPr>
    </p:bg>
    <p:spTree>
      <p:nvGrpSpPr>
        <p:cNvPr id="88" name="Shape 88"/>
        <p:cNvGrpSpPr/>
        <p:nvPr/>
      </p:nvGrpSpPr>
      <p:grpSpPr>
        <a:xfrm>
          <a:off x="0" y="0"/>
          <a:ext cx="0" cy="0"/>
          <a:chOff x="0" y="0"/>
          <a:chExt cx="0" cy="0"/>
        </a:xfrm>
      </p:grpSpPr>
      <p:sp>
        <p:nvSpPr>
          <p:cNvPr id="89" name="Google Shape;89;p7"/>
          <p:cNvSpPr/>
          <p:nvPr/>
        </p:nvSpPr>
        <p:spPr>
          <a:xfrm>
            <a:off x="496119" y="400199"/>
            <a:ext cx="8151900" cy="35430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200"/>
              <a:buFont typeface="Arial"/>
              <a:buNone/>
            </a:pPr>
            <a:r>
              <a:rPr b="1" i="0" lang="en-US" sz="2200" u="none" cap="none" strike="noStrike">
                <a:solidFill>
                  <a:schemeClr val="lt1"/>
                </a:solidFill>
                <a:latin typeface="Syne"/>
                <a:ea typeface="Syne"/>
                <a:cs typeface="Syne"/>
                <a:sym typeface="Syne"/>
              </a:rPr>
              <a:t>Problem Statement</a:t>
            </a:r>
            <a:endParaRPr b="1" i="0" sz="2200" u="none" cap="none" strike="noStrike">
              <a:solidFill>
                <a:schemeClr val="lt1"/>
              </a:solidFill>
              <a:latin typeface="Syne"/>
              <a:ea typeface="Syne"/>
              <a:cs typeface="Syne"/>
              <a:sym typeface="Syne"/>
            </a:endParaRPr>
          </a:p>
        </p:txBody>
      </p:sp>
      <p:sp>
        <p:nvSpPr>
          <p:cNvPr id="90" name="Google Shape;90;p7"/>
          <p:cNvSpPr/>
          <p:nvPr/>
        </p:nvSpPr>
        <p:spPr>
          <a:xfrm>
            <a:off x="496125" y="1019775"/>
            <a:ext cx="4106100" cy="1981200"/>
          </a:xfrm>
          <a:prstGeom prst="rect">
            <a:avLst/>
          </a:pr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just">
              <a:lnSpc>
                <a:spcPct val="120000"/>
              </a:lnSpc>
              <a:spcBef>
                <a:spcPts val="0"/>
              </a:spcBef>
              <a:spcAft>
                <a:spcPts val="0"/>
              </a:spcAft>
              <a:buClr>
                <a:srgbClr val="4B4A4A"/>
              </a:buClr>
              <a:buSzPts val="850"/>
              <a:buFont typeface="Geist"/>
              <a:buNone/>
            </a:pPr>
            <a:r>
              <a:rPr b="1" i="0" lang="en-US" sz="850" u="none" cap="none" strike="noStrike">
                <a:solidFill>
                  <a:schemeClr val="lt1"/>
                </a:solidFill>
                <a:latin typeface="Syne"/>
                <a:ea typeface="Syne"/>
                <a:cs typeface="Syne"/>
                <a:sym typeface="Syne"/>
              </a:rPr>
              <a:t>Crop diseases are an escalating threat to global agriculture. Agricultural teams must track incoming disease reports from many sources, verify affected crops, assign experts, and record field data, typically relying on manual logs, scattered spreadsheets, and disconnected communication.</a:t>
            </a:r>
            <a:endParaRPr b="1" i="0" sz="850" u="none" cap="none" strike="noStrike">
              <a:solidFill>
                <a:schemeClr val="lt1"/>
              </a:solidFill>
              <a:latin typeface="Syne"/>
              <a:ea typeface="Syne"/>
              <a:cs typeface="Syne"/>
              <a:sym typeface="Syne"/>
            </a:endParaRPr>
          </a:p>
          <a:p>
            <a:pPr indent="0" lvl="0" marL="0" marR="0" rtl="0" algn="just">
              <a:lnSpc>
                <a:spcPct val="120000"/>
              </a:lnSpc>
              <a:spcBef>
                <a:spcPts val="600"/>
              </a:spcBef>
              <a:spcAft>
                <a:spcPts val="0"/>
              </a:spcAft>
              <a:buClr>
                <a:srgbClr val="4B4A4A"/>
              </a:buClr>
              <a:buSzPts val="850"/>
              <a:buFont typeface="Geist"/>
              <a:buNone/>
            </a:pPr>
            <a:r>
              <a:rPr b="1" i="0" lang="en-US" sz="850" u="none" cap="none" strike="noStrike">
                <a:solidFill>
                  <a:schemeClr val="lt1"/>
                </a:solidFill>
                <a:latin typeface="Syne"/>
                <a:ea typeface="Syne"/>
                <a:cs typeface="Syne"/>
                <a:sym typeface="Syne"/>
              </a:rPr>
              <a:t>This creates delays in identifying outbreaks, makes it harder to coordinate treatments across teams, and increases the risk of incomplete or inconsistent farm records. Farmers and field officers need a centralized digital system that can manage the full lifecycle of a disease report, from submission and verification to treatment coordination and compliance tracking, with clear role-based access for farmers, field officers, and administrators.</a:t>
            </a:r>
            <a:endParaRPr b="1" i="0" sz="850" u="none" cap="none" strike="noStrike">
              <a:solidFill>
                <a:schemeClr val="lt1"/>
              </a:solidFill>
              <a:latin typeface="Syne"/>
              <a:ea typeface="Syne"/>
              <a:cs typeface="Syne"/>
              <a:sym typeface="Syne"/>
            </a:endParaRPr>
          </a:p>
        </p:txBody>
      </p:sp>
      <p:sp>
        <p:nvSpPr>
          <p:cNvPr id="91" name="Google Shape;91;p7"/>
          <p:cNvSpPr/>
          <p:nvPr/>
        </p:nvSpPr>
        <p:spPr>
          <a:xfrm>
            <a:off x="496119" y="3186732"/>
            <a:ext cx="4106100" cy="17730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1100"/>
              <a:buFont typeface="Arial"/>
              <a:buNone/>
            </a:pPr>
            <a:r>
              <a:rPr b="1" i="0" lang="en-US" sz="1100" u="none" cap="none" strike="noStrike">
                <a:solidFill>
                  <a:schemeClr val="lt1"/>
                </a:solidFill>
                <a:latin typeface="Syne"/>
                <a:ea typeface="Syne"/>
                <a:cs typeface="Syne"/>
                <a:sym typeface="Syne"/>
              </a:rPr>
              <a:t>Key challenges farmers face</a:t>
            </a:r>
            <a:endParaRPr b="1" i="0" sz="1100" u="none" cap="none" strike="noStrike">
              <a:solidFill>
                <a:schemeClr val="lt1"/>
              </a:solidFill>
              <a:latin typeface="Syne"/>
              <a:ea typeface="Syne"/>
              <a:cs typeface="Syne"/>
              <a:sym typeface="Syne"/>
            </a:endParaRPr>
          </a:p>
        </p:txBody>
      </p:sp>
      <p:sp>
        <p:nvSpPr>
          <p:cNvPr id="92" name="Google Shape;92;p7"/>
          <p:cNvSpPr/>
          <p:nvPr/>
        </p:nvSpPr>
        <p:spPr>
          <a:xfrm>
            <a:off x="454294" y="3479998"/>
            <a:ext cx="4106100" cy="1401300"/>
          </a:xfrm>
          <a:prstGeom prst="rect">
            <a:avLst/>
          </a:prstGeom>
          <a:noFill/>
          <a:ln>
            <a:noFill/>
          </a:ln>
        </p:spPr>
        <p:txBody>
          <a:bodyPr anchorCtr="0" anchor="t" bIns="0" lIns="0" spcFirstLastPara="1" rIns="0" wrap="square" tIns="0">
            <a:noAutofit/>
          </a:bodyPr>
          <a:lstStyle/>
          <a:p>
            <a:pPr indent="-172720" lvl="0" marL="172720" marR="0" rtl="0" algn="l">
              <a:lnSpc>
                <a:spcPct val="120000"/>
              </a:lnSpc>
              <a:spcBef>
                <a:spcPts val="0"/>
              </a:spcBef>
              <a:spcAft>
                <a:spcPts val="0"/>
              </a:spcAft>
              <a:buClr>
                <a:schemeClr val="lt1"/>
              </a:buClr>
              <a:buSzPts val="850"/>
              <a:buFont typeface="Syne"/>
              <a:buChar char="•"/>
            </a:pPr>
            <a:r>
              <a:rPr b="1" i="0" lang="en-US" sz="850" u="none" cap="none" strike="noStrike">
                <a:solidFill>
                  <a:schemeClr val="lt1"/>
                </a:solidFill>
                <a:latin typeface="Syne"/>
                <a:ea typeface="Syne"/>
                <a:cs typeface="Syne"/>
                <a:sym typeface="Syne"/>
              </a:rPr>
              <a:t>Manual reporting slows down incident capture and increases the chance of errors</a:t>
            </a:r>
            <a:endParaRPr b="1" i="0" sz="850" u="none" cap="none" strike="noStrike">
              <a:solidFill>
                <a:schemeClr val="lt1"/>
              </a:solidFill>
              <a:latin typeface="Syne"/>
              <a:ea typeface="Syne"/>
              <a:cs typeface="Syne"/>
              <a:sym typeface="Syne"/>
            </a:endParaRPr>
          </a:p>
          <a:p>
            <a:pPr indent="-172720" lvl="0" marL="172720" marR="0" rtl="0" algn="l">
              <a:lnSpc>
                <a:spcPct val="120000"/>
              </a:lnSpc>
              <a:spcBef>
                <a:spcPts val="0"/>
              </a:spcBef>
              <a:spcAft>
                <a:spcPts val="0"/>
              </a:spcAft>
              <a:buClr>
                <a:schemeClr val="lt1"/>
              </a:buClr>
              <a:buSzPts val="850"/>
              <a:buFont typeface="Syne"/>
              <a:buChar char="•"/>
            </a:pPr>
            <a:r>
              <a:rPr b="1" i="0" lang="en-US" sz="850" u="none" cap="none" strike="noStrike">
                <a:solidFill>
                  <a:schemeClr val="lt1"/>
                </a:solidFill>
                <a:latin typeface="Syne"/>
                <a:ea typeface="Syne"/>
                <a:cs typeface="Syne"/>
                <a:sym typeface="Syne"/>
              </a:rPr>
              <a:t>Delays in verification and escalation can allow disease to spread across fields</a:t>
            </a:r>
            <a:endParaRPr b="1" i="0" sz="850" u="none" cap="none" strike="noStrike">
              <a:solidFill>
                <a:schemeClr val="lt1"/>
              </a:solidFill>
              <a:latin typeface="Syne"/>
              <a:ea typeface="Syne"/>
              <a:cs typeface="Syne"/>
              <a:sym typeface="Syne"/>
            </a:endParaRPr>
          </a:p>
          <a:p>
            <a:pPr indent="-172720" lvl="0" marL="172720" marR="0" rtl="0" algn="l">
              <a:lnSpc>
                <a:spcPct val="120000"/>
              </a:lnSpc>
              <a:spcBef>
                <a:spcPts val="0"/>
              </a:spcBef>
              <a:spcAft>
                <a:spcPts val="0"/>
              </a:spcAft>
              <a:buClr>
                <a:schemeClr val="lt1"/>
              </a:buClr>
              <a:buSzPts val="850"/>
              <a:buFont typeface="Syne"/>
              <a:buChar char="•"/>
            </a:pPr>
            <a:r>
              <a:rPr b="1" i="0" lang="en-US" sz="850" u="none" cap="none" strike="noStrike">
                <a:solidFill>
                  <a:schemeClr val="lt1"/>
                </a:solidFill>
                <a:latin typeface="Syne"/>
                <a:ea typeface="Syne"/>
                <a:cs typeface="Syne"/>
                <a:sym typeface="Syne"/>
              </a:rPr>
              <a:t>Lack of coordination makes it difficult to assign the right experts at the right time</a:t>
            </a:r>
            <a:endParaRPr b="1" i="0" sz="850" u="none" cap="none" strike="noStrike">
              <a:solidFill>
                <a:schemeClr val="lt1"/>
              </a:solidFill>
              <a:latin typeface="Syne"/>
              <a:ea typeface="Syne"/>
              <a:cs typeface="Syne"/>
              <a:sym typeface="Syne"/>
            </a:endParaRPr>
          </a:p>
          <a:p>
            <a:pPr indent="-172720" lvl="0" marL="172720" marR="0" rtl="0" algn="l">
              <a:lnSpc>
                <a:spcPct val="120000"/>
              </a:lnSpc>
              <a:spcBef>
                <a:spcPts val="0"/>
              </a:spcBef>
              <a:spcAft>
                <a:spcPts val="0"/>
              </a:spcAft>
              <a:buClr>
                <a:schemeClr val="lt1"/>
              </a:buClr>
              <a:buSzPts val="850"/>
              <a:buFont typeface="Syne"/>
              <a:buChar char="•"/>
            </a:pPr>
            <a:r>
              <a:rPr b="1" i="0" lang="en-US" sz="850" u="none" cap="none" strike="noStrike">
                <a:solidFill>
                  <a:schemeClr val="lt1"/>
                </a:solidFill>
                <a:latin typeface="Syne"/>
                <a:ea typeface="Syne"/>
                <a:cs typeface="Syne"/>
                <a:sym typeface="Syne"/>
              </a:rPr>
              <a:t>Disjointed records make long-term tracking, compliance, and reporting unreliable</a:t>
            </a:r>
            <a:endParaRPr b="1" i="0" sz="850" u="none" cap="none" strike="noStrike">
              <a:solidFill>
                <a:schemeClr val="lt1"/>
              </a:solidFill>
              <a:latin typeface="Syne"/>
              <a:ea typeface="Syne"/>
              <a:cs typeface="Syne"/>
              <a:sym typeface="Syne"/>
            </a:endParaRPr>
          </a:p>
        </p:txBody>
      </p:sp>
      <p:sp>
        <p:nvSpPr>
          <p:cNvPr id="93" name="Google Shape;93;p7"/>
          <p:cNvSpPr/>
          <p:nvPr/>
        </p:nvSpPr>
        <p:spPr>
          <a:xfrm>
            <a:off x="4883646" y="981298"/>
            <a:ext cx="3768900" cy="17730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1100"/>
              <a:buFont typeface="Arial"/>
              <a:buNone/>
            </a:pPr>
            <a:r>
              <a:rPr b="1" i="0" lang="en-US" sz="1100" u="none" cap="none" strike="noStrike">
                <a:solidFill>
                  <a:schemeClr val="lt1"/>
                </a:solidFill>
                <a:latin typeface="Syne"/>
                <a:ea typeface="Syne"/>
                <a:cs typeface="Syne"/>
                <a:sym typeface="Syne"/>
              </a:rPr>
              <a:t>MANUAL WORKFLOW FRICTION POINTS</a:t>
            </a:r>
            <a:endParaRPr b="1" i="0" sz="1100" u="none" cap="none" strike="noStrike">
              <a:solidFill>
                <a:schemeClr val="lt1"/>
              </a:solidFill>
              <a:latin typeface="Syne"/>
              <a:ea typeface="Syne"/>
              <a:cs typeface="Syne"/>
              <a:sym typeface="Syne"/>
            </a:endParaRPr>
          </a:p>
        </p:txBody>
      </p:sp>
      <p:sp>
        <p:nvSpPr>
          <p:cNvPr id="94" name="Google Shape;94;p7"/>
          <p:cNvSpPr/>
          <p:nvPr/>
        </p:nvSpPr>
        <p:spPr>
          <a:xfrm>
            <a:off x="4883650" y="1388200"/>
            <a:ext cx="1984200" cy="1182600"/>
          </a:xfrm>
          <a:prstGeom prst="rect">
            <a:avLst/>
          </a:prstGeom>
          <a:noFill/>
          <a:ln cap="flat" cmpd="sng" w="9525">
            <a:solidFill>
              <a:srgbClr val="547808"/>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100"/>
              <a:buFont typeface="Arial"/>
              <a:buNone/>
            </a:pPr>
            <a:r>
              <a:rPr b="1" i="0" lang="en-US" sz="1100" u="none" cap="none" strike="noStrike">
                <a:solidFill>
                  <a:schemeClr val="lt1"/>
                </a:solidFill>
                <a:latin typeface="Syne"/>
                <a:ea typeface="Syne"/>
                <a:cs typeface="Syne"/>
                <a:sym typeface="Syne"/>
              </a:rPr>
              <a:t>Scattered, paper-based incident logs</a:t>
            </a:r>
            <a:endParaRPr b="1" i="0" sz="1100" u="none" cap="none" strike="noStrike">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a:p>
            <a:pPr indent="0" lvl="0" marL="0" rtl="0" algn="l">
              <a:lnSpc>
                <a:spcPct val="120000"/>
              </a:lnSpc>
              <a:spcBef>
                <a:spcPts val="0"/>
              </a:spcBef>
              <a:spcAft>
                <a:spcPts val="0"/>
              </a:spcAft>
              <a:buClr>
                <a:srgbClr val="4B4A4A"/>
              </a:buClr>
              <a:buSzPts val="850"/>
              <a:buFont typeface="Geist"/>
              <a:buNone/>
            </a:pPr>
            <a:r>
              <a:rPr b="1" lang="en-US" sz="850">
                <a:solidFill>
                  <a:schemeClr val="lt1"/>
                </a:solidFill>
                <a:latin typeface="Syne"/>
                <a:ea typeface="Syne"/>
                <a:cs typeface="Syne"/>
                <a:sym typeface="Syne"/>
              </a:rPr>
              <a:t>Reports are captured inconsistently across notebooks, forms, and spreadsheets.</a:t>
            </a:r>
            <a:endParaRPr b="1" sz="850">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p:txBody>
      </p:sp>
      <p:sp>
        <p:nvSpPr>
          <p:cNvPr id="95" name="Google Shape;95;p7"/>
          <p:cNvSpPr/>
          <p:nvPr/>
        </p:nvSpPr>
        <p:spPr>
          <a:xfrm>
            <a:off x="6998275" y="1388225"/>
            <a:ext cx="1734900" cy="1182600"/>
          </a:xfrm>
          <a:prstGeom prst="rect">
            <a:avLst/>
          </a:prstGeom>
          <a:noFill/>
          <a:ln cap="flat" cmpd="sng" w="9525">
            <a:solidFill>
              <a:srgbClr val="547808"/>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100"/>
              <a:buFont typeface="Arial"/>
              <a:buNone/>
            </a:pPr>
            <a:r>
              <a:rPr b="1" i="0" lang="en-US" sz="1100" u="none" cap="none" strike="noStrike">
                <a:solidFill>
                  <a:schemeClr val="lt1"/>
                </a:solidFill>
                <a:latin typeface="Syne"/>
                <a:ea typeface="Syne"/>
                <a:cs typeface="Syne"/>
                <a:sym typeface="Syne"/>
              </a:rPr>
              <a:t>Difficult disease hotspot tracking</a:t>
            </a:r>
            <a:endParaRPr b="1" i="0" sz="1100" u="none" cap="none" strike="noStrike">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a:p>
            <a:pPr indent="0" lvl="0" marL="0" rtl="0" algn="l">
              <a:lnSpc>
                <a:spcPct val="120000"/>
              </a:lnSpc>
              <a:spcBef>
                <a:spcPts val="0"/>
              </a:spcBef>
              <a:spcAft>
                <a:spcPts val="0"/>
              </a:spcAft>
              <a:buClr>
                <a:srgbClr val="4B4A4A"/>
              </a:buClr>
              <a:buSzPts val="850"/>
              <a:buFont typeface="Geist"/>
              <a:buNone/>
            </a:pPr>
            <a:r>
              <a:rPr b="1" lang="en-US" sz="850">
                <a:solidFill>
                  <a:schemeClr val="lt1"/>
                </a:solidFill>
                <a:latin typeface="Syne"/>
                <a:ea typeface="Syne"/>
                <a:cs typeface="Syne"/>
                <a:sym typeface="Syne"/>
              </a:rPr>
              <a:t>Teams struggle to see where outbreaks are spreading and which farms need attention first.</a:t>
            </a:r>
            <a:endParaRPr b="1" sz="850">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p:txBody>
      </p:sp>
      <p:sp>
        <p:nvSpPr>
          <p:cNvPr id="96" name="Google Shape;96;p7"/>
          <p:cNvSpPr/>
          <p:nvPr/>
        </p:nvSpPr>
        <p:spPr>
          <a:xfrm>
            <a:off x="4839200" y="2800400"/>
            <a:ext cx="1922100" cy="1217100"/>
          </a:xfrm>
          <a:prstGeom prst="rect">
            <a:avLst/>
          </a:prstGeom>
          <a:noFill/>
          <a:ln cap="flat" cmpd="sng" w="9525">
            <a:solidFill>
              <a:srgbClr val="547808"/>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100"/>
              <a:buFont typeface="Arial"/>
              <a:buNone/>
            </a:pPr>
            <a:r>
              <a:rPr b="1" i="0" lang="en-US" sz="1100" u="none" cap="none" strike="noStrike">
                <a:solidFill>
                  <a:schemeClr val="lt1"/>
                </a:solidFill>
                <a:latin typeface="Syne"/>
                <a:ea typeface="Syne"/>
                <a:cs typeface="Syne"/>
                <a:sym typeface="Syne"/>
              </a:rPr>
              <a:t>Time-consuming manual process</a:t>
            </a:r>
            <a:endParaRPr b="1" i="0" sz="1100" u="none" cap="none" strike="noStrike">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a:p>
            <a:pPr indent="0" lvl="0" marL="0" rtl="0" algn="l">
              <a:lnSpc>
                <a:spcPct val="120000"/>
              </a:lnSpc>
              <a:spcBef>
                <a:spcPts val="0"/>
              </a:spcBef>
              <a:spcAft>
                <a:spcPts val="0"/>
              </a:spcAft>
              <a:buClr>
                <a:srgbClr val="4B4A4A"/>
              </a:buClr>
              <a:buSzPts val="850"/>
              <a:buFont typeface="Geist"/>
              <a:buNone/>
            </a:pPr>
            <a:r>
              <a:rPr b="1" lang="en-US" sz="850">
                <a:solidFill>
                  <a:schemeClr val="lt1"/>
                </a:solidFill>
                <a:latin typeface="Syne"/>
                <a:ea typeface="Syne"/>
                <a:cs typeface="Syne"/>
                <a:sym typeface="Syne"/>
              </a:rPr>
              <a:t>Every step from reporting to follow-up depends on repeated human checks and handoffs.</a:t>
            </a:r>
            <a:endParaRPr b="1" sz="850">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p:txBody>
      </p:sp>
      <p:sp>
        <p:nvSpPr>
          <p:cNvPr id="97" name="Google Shape;97;p7"/>
          <p:cNvSpPr/>
          <p:nvPr/>
        </p:nvSpPr>
        <p:spPr>
          <a:xfrm>
            <a:off x="6998275" y="2800450"/>
            <a:ext cx="1734900" cy="1217100"/>
          </a:xfrm>
          <a:prstGeom prst="rect">
            <a:avLst/>
          </a:prstGeom>
          <a:noFill/>
          <a:ln cap="flat" cmpd="sng" w="9525">
            <a:solidFill>
              <a:srgbClr val="547808"/>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100"/>
              <a:buFont typeface="Arial"/>
              <a:buNone/>
            </a:pPr>
            <a:r>
              <a:rPr b="1" i="0" lang="en-US" sz="1100" u="none" cap="none" strike="noStrike">
                <a:solidFill>
                  <a:schemeClr val="lt1"/>
                </a:solidFill>
                <a:latin typeface="Syne"/>
                <a:ea typeface="Syne"/>
                <a:cs typeface="Syne"/>
                <a:sym typeface="Syne"/>
              </a:rPr>
              <a:t>Delayed treatment response</a:t>
            </a:r>
            <a:endParaRPr b="1" i="0" sz="1100" u="none" cap="none" strike="noStrike">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a:p>
            <a:pPr indent="0" lvl="0" marL="0" rtl="0" algn="l">
              <a:lnSpc>
                <a:spcPct val="120000"/>
              </a:lnSpc>
              <a:spcBef>
                <a:spcPts val="0"/>
              </a:spcBef>
              <a:spcAft>
                <a:spcPts val="0"/>
              </a:spcAft>
              <a:buClr>
                <a:srgbClr val="4B4A4A"/>
              </a:buClr>
              <a:buSzPts val="850"/>
              <a:buFont typeface="Geist"/>
              <a:buNone/>
            </a:pPr>
            <a:r>
              <a:rPr b="1" lang="en-US" sz="850">
                <a:solidFill>
                  <a:schemeClr val="lt1"/>
                </a:solidFill>
                <a:latin typeface="Syne"/>
                <a:ea typeface="Syne"/>
                <a:cs typeface="Syne"/>
                <a:sym typeface="Syne"/>
              </a:rPr>
              <a:t>Slow coordination can reduce the effectiveness of treatment and worsen crop damage.</a:t>
            </a:r>
            <a:endParaRPr b="1" sz="850">
              <a:solidFill>
                <a:schemeClr val="lt1"/>
              </a:solidFill>
              <a:latin typeface="Syne"/>
              <a:ea typeface="Syne"/>
              <a:cs typeface="Syne"/>
              <a:sym typeface="Syne"/>
            </a:endParaRPr>
          </a:p>
          <a:p>
            <a:pPr indent="0" lvl="0" marL="0" marR="0" rtl="0" algn="l">
              <a:lnSpc>
                <a:spcPct val="104000"/>
              </a:lnSpc>
              <a:spcBef>
                <a:spcPts val="0"/>
              </a:spcBef>
              <a:spcAft>
                <a:spcPts val="0"/>
              </a:spcAft>
              <a:buClr>
                <a:srgbClr val="4B4A4A"/>
              </a:buClr>
              <a:buSzPts val="1100"/>
              <a:buFont typeface="Arial"/>
              <a:buNone/>
            </a:pPr>
            <a:r>
              <a:t/>
            </a:r>
            <a:endParaRPr b="1" sz="1100">
              <a:solidFill>
                <a:schemeClr val="lt1"/>
              </a:solidFill>
              <a:latin typeface="Syne"/>
              <a:ea typeface="Syne"/>
              <a:cs typeface="Syne"/>
              <a:sym typeface="Syn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E24"/>
        </a:solidFill>
      </p:bgPr>
    </p:bg>
    <p:spTree>
      <p:nvGrpSpPr>
        <p:cNvPr id="102" name="Shape 102"/>
        <p:cNvGrpSpPr/>
        <p:nvPr/>
      </p:nvGrpSpPr>
      <p:grpSpPr>
        <a:xfrm>
          <a:off x="0" y="0"/>
          <a:ext cx="0" cy="0"/>
          <a:chOff x="0" y="0"/>
          <a:chExt cx="0" cy="0"/>
        </a:xfrm>
      </p:grpSpPr>
      <p:sp>
        <p:nvSpPr>
          <p:cNvPr id="103" name="Google Shape;103;p8"/>
          <p:cNvSpPr/>
          <p:nvPr/>
        </p:nvSpPr>
        <p:spPr>
          <a:xfrm>
            <a:off x="3925119" y="425723"/>
            <a:ext cx="4722900" cy="35430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200"/>
              <a:buFont typeface="Arial"/>
              <a:buNone/>
            </a:pPr>
            <a:r>
              <a:rPr b="1" i="0" lang="en-US" sz="2200" u="none" cap="none" strike="noStrike">
                <a:solidFill>
                  <a:schemeClr val="lt1"/>
                </a:solidFill>
                <a:latin typeface="Arial"/>
                <a:ea typeface="Arial"/>
                <a:cs typeface="Arial"/>
                <a:sym typeface="Arial"/>
              </a:rPr>
              <a:t>Proposed Solution</a:t>
            </a:r>
            <a:endParaRPr b="0" i="0" sz="2200" u="none" cap="none" strike="noStrike">
              <a:solidFill>
                <a:schemeClr val="lt1"/>
              </a:solidFill>
              <a:latin typeface="Calibri"/>
              <a:ea typeface="Calibri"/>
              <a:cs typeface="Calibri"/>
              <a:sym typeface="Calibri"/>
            </a:endParaRPr>
          </a:p>
        </p:txBody>
      </p:sp>
      <p:sp>
        <p:nvSpPr>
          <p:cNvPr id="104" name="Google Shape;104;p8"/>
          <p:cNvSpPr/>
          <p:nvPr/>
        </p:nvSpPr>
        <p:spPr>
          <a:xfrm>
            <a:off x="3925119" y="916112"/>
            <a:ext cx="4722900" cy="489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i="0" lang="en-US" sz="850" u="none" cap="none" strike="noStrike">
                <a:solidFill>
                  <a:schemeClr val="lt1"/>
                </a:solidFill>
                <a:latin typeface="Syne SemiBold"/>
                <a:ea typeface="Syne SemiBold"/>
                <a:cs typeface="Syne SemiBold"/>
                <a:sym typeface="Syne SemiBold"/>
              </a:rPr>
              <a:t>This platform is designed as a centralized web application that connects farmers, agricultural officers, and administrators within a single digital platform, transforming disease reporting and treatment coordination into a structured, trackable digital process.</a:t>
            </a:r>
            <a:endParaRPr i="0" sz="850" u="none" cap="none" strike="noStrike">
              <a:solidFill>
                <a:schemeClr val="lt1"/>
              </a:solidFill>
              <a:latin typeface="Syne SemiBold"/>
              <a:ea typeface="Syne SemiBold"/>
              <a:cs typeface="Syne SemiBold"/>
              <a:sym typeface="Syne SemiBold"/>
            </a:endParaRPr>
          </a:p>
        </p:txBody>
      </p:sp>
      <p:pic>
        <p:nvPicPr>
          <p:cNvPr descr="preencoded.png" id="105" name="Google Shape;105;p8"/>
          <p:cNvPicPr preferRelativeResize="0"/>
          <p:nvPr/>
        </p:nvPicPr>
        <p:blipFill rotWithShape="1">
          <a:blip r:embed="rId3">
            <a:alphaModFix/>
          </a:blip>
          <a:srcRect b="0" l="0" r="0" t="0"/>
          <a:stretch/>
        </p:blipFill>
        <p:spPr>
          <a:xfrm>
            <a:off x="3925194" y="1783077"/>
            <a:ext cx="2315989" cy="1131019"/>
          </a:xfrm>
          <a:prstGeom prst="rect">
            <a:avLst/>
          </a:prstGeom>
          <a:noFill/>
          <a:ln>
            <a:noFill/>
          </a:ln>
        </p:spPr>
      </p:pic>
      <p:pic>
        <p:nvPicPr>
          <p:cNvPr descr="preencoded.png" id="106" name="Google Shape;106;p8"/>
          <p:cNvPicPr preferRelativeResize="0"/>
          <p:nvPr/>
        </p:nvPicPr>
        <p:blipFill rotWithShape="1">
          <a:blip r:embed="rId4">
            <a:alphaModFix/>
          </a:blip>
          <a:srcRect b="0" l="0" r="0" t="0"/>
          <a:stretch/>
        </p:blipFill>
        <p:spPr>
          <a:xfrm>
            <a:off x="4998096" y="1879964"/>
            <a:ext cx="170111" cy="170111"/>
          </a:xfrm>
          <a:prstGeom prst="rect">
            <a:avLst/>
          </a:prstGeom>
          <a:noFill/>
          <a:ln>
            <a:noFill/>
          </a:ln>
        </p:spPr>
      </p:pic>
      <p:sp>
        <p:nvSpPr>
          <p:cNvPr id="107" name="Google Shape;107;p8"/>
          <p:cNvSpPr/>
          <p:nvPr/>
        </p:nvSpPr>
        <p:spPr>
          <a:xfrm>
            <a:off x="4052888" y="2228296"/>
            <a:ext cx="20607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b="1" i="0" lang="en-US" sz="1100" u="none" cap="none" strike="noStrike">
                <a:solidFill>
                  <a:srgbClr val="4B4A4A"/>
                </a:solidFill>
                <a:latin typeface="Arial"/>
                <a:ea typeface="Arial"/>
                <a:cs typeface="Arial"/>
                <a:sym typeface="Arial"/>
              </a:rPr>
              <a:t>Centralized platform</a:t>
            </a:r>
            <a:endParaRPr b="0" i="0" sz="1100" u="none" cap="none" strike="noStrike">
              <a:solidFill>
                <a:srgbClr val="000000"/>
              </a:solidFill>
              <a:latin typeface="Calibri"/>
              <a:ea typeface="Calibri"/>
              <a:cs typeface="Calibri"/>
              <a:sym typeface="Calibri"/>
            </a:endParaRPr>
          </a:p>
        </p:txBody>
      </p:sp>
      <p:sp>
        <p:nvSpPr>
          <p:cNvPr id="108" name="Google Shape;108;p8"/>
          <p:cNvSpPr/>
          <p:nvPr/>
        </p:nvSpPr>
        <p:spPr>
          <a:xfrm>
            <a:off x="4052888" y="2459872"/>
            <a:ext cx="2060700" cy="326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b="0" i="0" lang="en-US" sz="850" u="none" cap="none" strike="noStrike">
                <a:solidFill>
                  <a:srgbClr val="4B4A4A"/>
                </a:solidFill>
                <a:latin typeface="Geist"/>
                <a:ea typeface="Geist"/>
                <a:cs typeface="Geist"/>
                <a:sym typeface="Geist"/>
              </a:rPr>
              <a:t>One system for farmers, officers, and administrators to manage every report.</a:t>
            </a:r>
            <a:endParaRPr b="0" i="0" sz="850" u="none" cap="none" strike="noStrike">
              <a:solidFill>
                <a:srgbClr val="000000"/>
              </a:solidFill>
              <a:latin typeface="Calibri"/>
              <a:ea typeface="Calibri"/>
              <a:cs typeface="Calibri"/>
              <a:sym typeface="Calibri"/>
            </a:endParaRPr>
          </a:p>
        </p:txBody>
      </p:sp>
      <p:pic>
        <p:nvPicPr>
          <p:cNvPr descr="preencoded.png" id="109" name="Google Shape;109;p8"/>
          <p:cNvPicPr preferRelativeResize="0"/>
          <p:nvPr/>
        </p:nvPicPr>
        <p:blipFill rotWithShape="1">
          <a:blip r:embed="rId3">
            <a:alphaModFix/>
          </a:blip>
          <a:srcRect b="0" l="0" r="0" t="0"/>
          <a:stretch/>
        </p:blipFill>
        <p:spPr>
          <a:xfrm>
            <a:off x="6331893" y="1783077"/>
            <a:ext cx="2316063" cy="1131019"/>
          </a:xfrm>
          <a:prstGeom prst="rect">
            <a:avLst/>
          </a:prstGeom>
          <a:noFill/>
          <a:ln>
            <a:noFill/>
          </a:ln>
        </p:spPr>
      </p:pic>
      <p:pic>
        <p:nvPicPr>
          <p:cNvPr descr="preencoded.png" id="110" name="Google Shape;110;p8"/>
          <p:cNvPicPr preferRelativeResize="0"/>
          <p:nvPr/>
        </p:nvPicPr>
        <p:blipFill rotWithShape="1">
          <a:blip r:embed="rId5">
            <a:alphaModFix/>
          </a:blip>
          <a:srcRect b="0" l="0" r="0" t="0"/>
          <a:stretch/>
        </p:blipFill>
        <p:spPr>
          <a:xfrm>
            <a:off x="7404870" y="1879964"/>
            <a:ext cx="170111" cy="170111"/>
          </a:xfrm>
          <a:prstGeom prst="rect">
            <a:avLst/>
          </a:prstGeom>
          <a:noFill/>
          <a:ln>
            <a:noFill/>
          </a:ln>
        </p:spPr>
      </p:pic>
      <p:sp>
        <p:nvSpPr>
          <p:cNvPr id="111" name="Google Shape;111;p8"/>
          <p:cNvSpPr/>
          <p:nvPr/>
        </p:nvSpPr>
        <p:spPr>
          <a:xfrm>
            <a:off x="6459588" y="2228296"/>
            <a:ext cx="20607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b="1" i="0" lang="en-US" sz="1100" u="none" cap="none" strike="noStrike">
                <a:solidFill>
                  <a:srgbClr val="4B4A4A"/>
                </a:solidFill>
                <a:latin typeface="Arial"/>
                <a:ea typeface="Arial"/>
                <a:cs typeface="Arial"/>
                <a:sym typeface="Arial"/>
              </a:rPr>
              <a:t>AI diagnosis</a:t>
            </a:r>
            <a:endParaRPr b="0" i="0" sz="1100" u="none" cap="none" strike="noStrike">
              <a:solidFill>
                <a:srgbClr val="000000"/>
              </a:solidFill>
              <a:latin typeface="Calibri"/>
              <a:ea typeface="Calibri"/>
              <a:cs typeface="Calibri"/>
              <a:sym typeface="Calibri"/>
            </a:endParaRPr>
          </a:p>
        </p:txBody>
      </p:sp>
      <p:sp>
        <p:nvSpPr>
          <p:cNvPr id="112" name="Google Shape;112;p8"/>
          <p:cNvSpPr/>
          <p:nvPr/>
        </p:nvSpPr>
        <p:spPr>
          <a:xfrm>
            <a:off x="6459588" y="2459872"/>
            <a:ext cx="2060700" cy="326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b="0" i="0" lang="en-US" sz="850" u="none" cap="none" strike="noStrike">
                <a:solidFill>
                  <a:srgbClr val="4B4A4A"/>
                </a:solidFill>
                <a:latin typeface="Geist"/>
                <a:ea typeface="Geist"/>
                <a:cs typeface="Geist"/>
                <a:sym typeface="Geist"/>
              </a:rPr>
              <a:t>Intelligent analysis helps identify likely disease patterns and status updates.</a:t>
            </a:r>
            <a:endParaRPr b="0" i="0" sz="850" u="none" cap="none" strike="noStrike">
              <a:solidFill>
                <a:srgbClr val="000000"/>
              </a:solidFill>
              <a:latin typeface="Calibri"/>
              <a:ea typeface="Calibri"/>
              <a:cs typeface="Calibri"/>
              <a:sym typeface="Calibri"/>
            </a:endParaRPr>
          </a:p>
        </p:txBody>
      </p:sp>
      <p:pic>
        <p:nvPicPr>
          <p:cNvPr descr="preencoded.png" id="113" name="Google Shape;113;p8"/>
          <p:cNvPicPr preferRelativeResize="0"/>
          <p:nvPr/>
        </p:nvPicPr>
        <p:blipFill>
          <a:blip r:embed="rId6">
            <a:alphaModFix/>
          </a:blip>
          <a:stretch>
            <a:fillRect/>
          </a:stretch>
        </p:blipFill>
        <p:spPr>
          <a:xfrm>
            <a:off x="3925194" y="3005069"/>
            <a:ext cx="2315989" cy="1293759"/>
          </a:xfrm>
          <a:prstGeom prst="rect">
            <a:avLst/>
          </a:prstGeom>
          <a:noFill/>
          <a:ln>
            <a:noFill/>
          </a:ln>
        </p:spPr>
      </p:pic>
      <p:pic>
        <p:nvPicPr>
          <p:cNvPr descr="preencoded.png" id="114" name="Google Shape;114;p8"/>
          <p:cNvPicPr preferRelativeResize="0"/>
          <p:nvPr/>
        </p:nvPicPr>
        <p:blipFill rotWithShape="1">
          <a:blip r:embed="rId7">
            <a:alphaModFix/>
          </a:blip>
          <a:srcRect b="0" l="0" r="0" t="0"/>
          <a:stretch/>
        </p:blipFill>
        <p:spPr>
          <a:xfrm>
            <a:off x="4998096" y="3101694"/>
            <a:ext cx="170111" cy="170111"/>
          </a:xfrm>
          <a:prstGeom prst="rect">
            <a:avLst/>
          </a:prstGeom>
          <a:noFill/>
          <a:ln>
            <a:noFill/>
          </a:ln>
        </p:spPr>
      </p:pic>
      <p:sp>
        <p:nvSpPr>
          <p:cNvPr id="115" name="Google Shape;115;p8"/>
          <p:cNvSpPr/>
          <p:nvPr/>
        </p:nvSpPr>
        <p:spPr>
          <a:xfrm>
            <a:off x="4052888" y="3450026"/>
            <a:ext cx="20607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b="1" i="0" lang="en-US" sz="1100" u="none" cap="none" strike="noStrike">
                <a:solidFill>
                  <a:srgbClr val="4B4A4A"/>
                </a:solidFill>
                <a:latin typeface="Arial"/>
                <a:ea typeface="Arial"/>
                <a:cs typeface="Arial"/>
                <a:sym typeface="Arial"/>
              </a:rPr>
              <a:t>Real-time tracking</a:t>
            </a:r>
            <a:endParaRPr b="0" i="0" sz="1100" u="none" cap="none" strike="noStrike">
              <a:solidFill>
                <a:srgbClr val="000000"/>
              </a:solidFill>
              <a:latin typeface="Calibri"/>
              <a:ea typeface="Calibri"/>
              <a:cs typeface="Calibri"/>
              <a:sym typeface="Calibri"/>
            </a:endParaRPr>
          </a:p>
        </p:txBody>
      </p:sp>
      <p:sp>
        <p:nvSpPr>
          <p:cNvPr id="116" name="Google Shape;116;p8"/>
          <p:cNvSpPr/>
          <p:nvPr/>
        </p:nvSpPr>
        <p:spPr>
          <a:xfrm>
            <a:off x="4052888" y="3681603"/>
            <a:ext cx="2060700" cy="4899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b="0" i="0" lang="en-US" sz="850" u="none" cap="none" strike="noStrike">
                <a:solidFill>
                  <a:srgbClr val="4B4A4A"/>
                </a:solidFill>
                <a:latin typeface="Geist"/>
                <a:ea typeface="Geist"/>
                <a:cs typeface="Geist"/>
                <a:sym typeface="Geist"/>
              </a:rPr>
              <a:t>Monitor incidents, hotspots, and progress as reports move through the system.</a:t>
            </a:r>
            <a:endParaRPr b="0" i="0" sz="850" u="none" cap="none" strike="noStrike">
              <a:solidFill>
                <a:srgbClr val="000000"/>
              </a:solidFill>
              <a:latin typeface="Calibri"/>
              <a:ea typeface="Calibri"/>
              <a:cs typeface="Calibri"/>
              <a:sym typeface="Calibri"/>
            </a:endParaRPr>
          </a:p>
        </p:txBody>
      </p:sp>
      <p:pic>
        <p:nvPicPr>
          <p:cNvPr descr="preencoded.png" id="117" name="Google Shape;117;p8"/>
          <p:cNvPicPr preferRelativeResize="0"/>
          <p:nvPr/>
        </p:nvPicPr>
        <p:blipFill rotWithShape="1">
          <a:blip r:embed="rId6">
            <a:alphaModFix/>
          </a:blip>
          <a:srcRect b="0" l="0" r="0" t="0"/>
          <a:stretch/>
        </p:blipFill>
        <p:spPr>
          <a:xfrm>
            <a:off x="6331893" y="3004807"/>
            <a:ext cx="2316063" cy="1294284"/>
          </a:xfrm>
          <a:prstGeom prst="rect">
            <a:avLst/>
          </a:prstGeom>
          <a:noFill/>
          <a:ln>
            <a:noFill/>
          </a:ln>
        </p:spPr>
      </p:pic>
      <p:pic>
        <p:nvPicPr>
          <p:cNvPr descr="preencoded.png" id="118" name="Google Shape;118;p8"/>
          <p:cNvPicPr preferRelativeResize="0"/>
          <p:nvPr/>
        </p:nvPicPr>
        <p:blipFill rotWithShape="1">
          <a:blip r:embed="rId8">
            <a:alphaModFix/>
          </a:blip>
          <a:srcRect b="0" l="0" r="0" t="0"/>
          <a:stretch/>
        </p:blipFill>
        <p:spPr>
          <a:xfrm>
            <a:off x="7404870" y="3101694"/>
            <a:ext cx="170111" cy="170111"/>
          </a:xfrm>
          <a:prstGeom prst="rect">
            <a:avLst/>
          </a:prstGeom>
          <a:noFill/>
          <a:ln>
            <a:noFill/>
          </a:ln>
        </p:spPr>
      </p:pic>
      <p:sp>
        <p:nvSpPr>
          <p:cNvPr id="119" name="Google Shape;119;p8"/>
          <p:cNvSpPr/>
          <p:nvPr/>
        </p:nvSpPr>
        <p:spPr>
          <a:xfrm>
            <a:off x="6459588" y="3450026"/>
            <a:ext cx="2060700" cy="177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00"/>
              <a:buFont typeface="Arial"/>
              <a:buNone/>
            </a:pPr>
            <a:r>
              <a:rPr b="1" i="0" lang="en-US" sz="1100" u="none" cap="none" strike="noStrike">
                <a:solidFill>
                  <a:srgbClr val="4B4A4A"/>
                </a:solidFill>
                <a:latin typeface="Arial"/>
                <a:ea typeface="Arial"/>
                <a:cs typeface="Arial"/>
                <a:sym typeface="Arial"/>
              </a:rPr>
              <a:t>Treatment coordination</a:t>
            </a:r>
            <a:endParaRPr b="0" i="0" sz="1100" u="none" cap="none" strike="noStrike">
              <a:solidFill>
                <a:srgbClr val="000000"/>
              </a:solidFill>
              <a:latin typeface="Calibri"/>
              <a:ea typeface="Calibri"/>
              <a:cs typeface="Calibri"/>
              <a:sym typeface="Calibri"/>
            </a:endParaRPr>
          </a:p>
        </p:txBody>
      </p:sp>
      <p:sp>
        <p:nvSpPr>
          <p:cNvPr id="120" name="Google Shape;120;p8"/>
          <p:cNvSpPr/>
          <p:nvPr/>
        </p:nvSpPr>
        <p:spPr>
          <a:xfrm>
            <a:off x="6459588" y="3681603"/>
            <a:ext cx="2060700" cy="326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4B4A4A"/>
              </a:buClr>
              <a:buSzPts val="850"/>
              <a:buFont typeface="Geist"/>
              <a:buNone/>
            </a:pPr>
            <a:r>
              <a:rPr b="0" i="0" lang="en-US" sz="850" u="none" cap="none" strike="noStrike">
                <a:solidFill>
                  <a:srgbClr val="4B4A4A"/>
                </a:solidFill>
                <a:latin typeface="Geist"/>
                <a:ea typeface="Geist"/>
                <a:cs typeface="Geist"/>
                <a:sym typeface="Geist"/>
              </a:rPr>
              <a:t>Assign tasks, coordinate field action, and track treatment completion.</a:t>
            </a:r>
            <a:endParaRPr b="0" i="0" sz="850" u="none" cap="none" strike="noStrike">
              <a:solidFill>
                <a:srgbClr val="000000"/>
              </a:solidFill>
              <a:latin typeface="Calibri"/>
              <a:ea typeface="Calibri"/>
              <a:cs typeface="Calibri"/>
              <a:sym typeface="Calibri"/>
            </a:endParaRPr>
          </a:p>
        </p:txBody>
      </p:sp>
      <p:pic>
        <p:nvPicPr>
          <p:cNvPr id="121" name="Google Shape;121;p8"/>
          <p:cNvPicPr preferRelativeResize="0"/>
          <p:nvPr/>
        </p:nvPicPr>
        <p:blipFill rotWithShape="1">
          <a:blip r:embed="rId9">
            <a:alphaModFix/>
          </a:blip>
          <a:srcRect b="0" l="0" r="0" t="0"/>
          <a:stretch/>
        </p:blipFill>
        <p:spPr>
          <a:xfrm>
            <a:off x="0" y="0"/>
            <a:ext cx="3600500" cy="5143500"/>
          </a:xfrm>
          <a:custGeom>
            <a:rect b="b" l="l" r="r" t="t"/>
            <a:pathLst>
              <a:path extrusionOk="0" h="100000" w="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descr="preencoded.png" id="127" name="Google Shape;127;p9"/>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128" name="Google Shape;128;p9"/>
          <p:cNvSpPr/>
          <p:nvPr/>
        </p:nvSpPr>
        <p:spPr>
          <a:xfrm>
            <a:off x="3980269" y="351149"/>
            <a:ext cx="4722900" cy="27900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1750"/>
              <a:buFont typeface="Arial"/>
              <a:buNone/>
            </a:pPr>
            <a:r>
              <a:rPr b="1" i="0" lang="en-US" sz="1750" u="none" cap="none" strike="noStrike">
                <a:solidFill>
                  <a:schemeClr val="lt1"/>
                </a:solidFill>
                <a:latin typeface="Syne"/>
                <a:ea typeface="Syne"/>
                <a:cs typeface="Syne"/>
                <a:sym typeface="Syne"/>
              </a:rPr>
              <a:t>Project Objectives</a:t>
            </a:r>
            <a:endParaRPr b="1" i="0" sz="1750" u="none" cap="none" strike="noStrike">
              <a:solidFill>
                <a:schemeClr val="lt1"/>
              </a:solidFill>
              <a:latin typeface="Syne"/>
              <a:ea typeface="Syne"/>
              <a:cs typeface="Syne"/>
              <a:sym typeface="Syne"/>
            </a:endParaRPr>
          </a:p>
        </p:txBody>
      </p:sp>
      <p:sp>
        <p:nvSpPr>
          <p:cNvPr id="129" name="Google Shape;129;p9"/>
          <p:cNvSpPr/>
          <p:nvPr/>
        </p:nvSpPr>
        <p:spPr>
          <a:xfrm>
            <a:off x="3980269" y="714364"/>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30" name="Google Shape;130;p9"/>
          <p:cNvSpPr/>
          <p:nvPr/>
        </p:nvSpPr>
        <p:spPr>
          <a:xfrm>
            <a:off x="4013718" y="731070"/>
            <a:ext cx="133800" cy="167400"/>
          </a:xfrm>
          <a:prstGeom prst="rect">
            <a:avLst/>
          </a:prstGeom>
          <a:no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31" name="Google Shape;131;p9"/>
          <p:cNvSpPr/>
          <p:nvPr/>
        </p:nvSpPr>
        <p:spPr>
          <a:xfrm>
            <a:off x="4237295" y="745023"/>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01</a:t>
            </a:r>
            <a:endParaRPr b="1" i="0" sz="850" u="none" cap="none" strike="noStrike">
              <a:solidFill>
                <a:schemeClr val="lt1"/>
              </a:solidFill>
              <a:latin typeface="Syne"/>
              <a:ea typeface="Syne"/>
              <a:cs typeface="Syne"/>
              <a:sym typeface="Syne"/>
            </a:endParaRPr>
          </a:p>
        </p:txBody>
      </p:sp>
      <p:sp>
        <p:nvSpPr>
          <p:cNvPr id="132" name="Google Shape;132;p9"/>
          <p:cNvSpPr/>
          <p:nvPr/>
        </p:nvSpPr>
        <p:spPr>
          <a:xfrm>
            <a:off x="4237295" y="918259"/>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Digitalize the crop disease reporting process.</a:t>
            </a:r>
            <a:endParaRPr b="1" i="0" sz="700" u="none" cap="none" strike="noStrike">
              <a:solidFill>
                <a:schemeClr val="lt1"/>
              </a:solidFill>
              <a:latin typeface="Syne"/>
              <a:ea typeface="Syne"/>
              <a:cs typeface="Syne"/>
              <a:sym typeface="Syne"/>
            </a:endParaRPr>
          </a:p>
        </p:txBody>
      </p:sp>
      <p:sp>
        <p:nvSpPr>
          <p:cNvPr id="133" name="Google Shape;133;p9"/>
          <p:cNvSpPr/>
          <p:nvPr/>
        </p:nvSpPr>
        <p:spPr>
          <a:xfrm>
            <a:off x="3980269" y="1147008"/>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34" name="Google Shape;134;p9"/>
          <p:cNvSpPr/>
          <p:nvPr/>
        </p:nvSpPr>
        <p:spPr>
          <a:xfrm>
            <a:off x="4013718" y="1163714"/>
            <a:ext cx="133800" cy="167400"/>
          </a:xfrm>
          <a:prstGeom prst="rect">
            <a:avLst/>
          </a:prstGeom>
          <a:no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35" name="Google Shape;135;p9"/>
          <p:cNvSpPr/>
          <p:nvPr/>
        </p:nvSpPr>
        <p:spPr>
          <a:xfrm>
            <a:off x="4237295" y="1177666"/>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02</a:t>
            </a:r>
            <a:endParaRPr b="1" i="0" sz="850" u="none" cap="none" strike="noStrike">
              <a:solidFill>
                <a:schemeClr val="lt1"/>
              </a:solidFill>
              <a:latin typeface="Syne"/>
              <a:ea typeface="Syne"/>
              <a:cs typeface="Syne"/>
              <a:sym typeface="Syne"/>
            </a:endParaRPr>
          </a:p>
        </p:txBody>
      </p:sp>
      <p:sp>
        <p:nvSpPr>
          <p:cNvPr id="136" name="Google Shape;136;p9"/>
          <p:cNvSpPr/>
          <p:nvPr/>
        </p:nvSpPr>
        <p:spPr>
          <a:xfrm>
            <a:off x="4237295" y="1350902"/>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Generate unique identification numbers for every report.</a:t>
            </a:r>
            <a:endParaRPr b="1" i="0" sz="700" u="none" cap="none" strike="noStrike">
              <a:solidFill>
                <a:schemeClr val="lt1"/>
              </a:solidFill>
              <a:latin typeface="Syne"/>
              <a:ea typeface="Syne"/>
              <a:cs typeface="Syne"/>
              <a:sym typeface="Syne"/>
            </a:endParaRPr>
          </a:p>
        </p:txBody>
      </p:sp>
      <p:sp>
        <p:nvSpPr>
          <p:cNvPr id="137" name="Google Shape;137;p9"/>
          <p:cNvSpPr/>
          <p:nvPr/>
        </p:nvSpPr>
        <p:spPr>
          <a:xfrm>
            <a:off x="3980269" y="1579651"/>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38" name="Google Shape;138;p9"/>
          <p:cNvSpPr/>
          <p:nvPr/>
        </p:nvSpPr>
        <p:spPr>
          <a:xfrm>
            <a:off x="4013718" y="1596357"/>
            <a:ext cx="133800" cy="167400"/>
          </a:xfrm>
          <a:prstGeom prst="rect">
            <a:avLst/>
          </a:prstGeom>
          <a:no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39" name="Google Shape;139;p9"/>
          <p:cNvSpPr/>
          <p:nvPr/>
        </p:nvSpPr>
        <p:spPr>
          <a:xfrm>
            <a:off x="4237295" y="1610310"/>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03</a:t>
            </a:r>
            <a:endParaRPr b="1" i="0" sz="850" u="none" cap="none" strike="noStrike">
              <a:solidFill>
                <a:schemeClr val="lt1"/>
              </a:solidFill>
              <a:latin typeface="Syne"/>
              <a:ea typeface="Syne"/>
              <a:cs typeface="Syne"/>
              <a:sym typeface="Syne"/>
            </a:endParaRPr>
          </a:p>
        </p:txBody>
      </p:sp>
      <p:sp>
        <p:nvSpPr>
          <p:cNvPr id="140" name="Google Shape;140;p9"/>
          <p:cNvSpPr/>
          <p:nvPr/>
        </p:nvSpPr>
        <p:spPr>
          <a:xfrm>
            <a:off x="4237295" y="1783546"/>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Provide role-based access for Farmers, Officers &amp; Admins.</a:t>
            </a:r>
            <a:endParaRPr b="1" i="0" sz="700" u="none" cap="none" strike="noStrike">
              <a:solidFill>
                <a:schemeClr val="lt1"/>
              </a:solidFill>
              <a:latin typeface="Syne"/>
              <a:ea typeface="Syne"/>
              <a:cs typeface="Syne"/>
              <a:sym typeface="Syne"/>
            </a:endParaRPr>
          </a:p>
        </p:txBody>
      </p:sp>
      <p:sp>
        <p:nvSpPr>
          <p:cNvPr id="141" name="Google Shape;141;p9"/>
          <p:cNvSpPr/>
          <p:nvPr/>
        </p:nvSpPr>
        <p:spPr>
          <a:xfrm>
            <a:off x="3980269" y="2012295"/>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42" name="Google Shape;142;p9"/>
          <p:cNvSpPr/>
          <p:nvPr/>
        </p:nvSpPr>
        <p:spPr>
          <a:xfrm>
            <a:off x="4013718" y="2029000"/>
            <a:ext cx="133800" cy="167400"/>
          </a:xfrm>
          <a:prstGeom prst="rect">
            <a:avLst/>
          </a:prstGeom>
          <a:solidFill>
            <a:srgbClr val="547808"/>
          </a:solid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43" name="Google Shape;143;p9"/>
          <p:cNvSpPr/>
          <p:nvPr/>
        </p:nvSpPr>
        <p:spPr>
          <a:xfrm>
            <a:off x="4237295" y="2042953"/>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04</a:t>
            </a:r>
            <a:endParaRPr b="1" i="0" sz="850" u="none" cap="none" strike="noStrike">
              <a:solidFill>
                <a:schemeClr val="lt1"/>
              </a:solidFill>
              <a:latin typeface="Syne"/>
              <a:ea typeface="Syne"/>
              <a:cs typeface="Syne"/>
              <a:sym typeface="Syne"/>
            </a:endParaRPr>
          </a:p>
        </p:txBody>
      </p:sp>
      <p:sp>
        <p:nvSpPr>
          <p:cNvPr id="144" name="Google Shape;144;p9"/>
          <p:cNvSpPr/>
          <p:nvPr/>
        </p:nvSpPr>
        <p:spPr>
          <a:xfrm>
            <a:off x="4237295" y="2216189"/>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Enable farmers to record treatment and crop health data digitally.</a:t>
            </a:r>
            <a:endParaRPr b="1" i="0" sz="700" u="none" cap="none" strike="noStrike">
              <a:solidFill>
                <a:schemeClr val="lt1"/>
              </a:solidFill>
              <a:latin typeface="Syne"/>
              <a:ea typeface="Syne"/>
              <a:cs typeface="Syne"/>
              <a:sym typeface="Syne"/>
            </a:endParaRPr>
          </a:p>
        </p:txBody>
      </p:sp>
      <p:sp>
        <p:nvSpPr>
          <p:cNvPr id="145" name="Google Shape;145;p9"/>
          <p:cNvSpPr/>
          <p:nvPr/>
        </p:nvSpPr>
        <p:spPr>
          <a:xfrm>
            <a:off x="3980269" y="2444938"/>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46" name="Google Shape;146;p9"/>
          <p:cNvSpPr/>
          <p:nvPr/>
        </p:nvSpPr>
        <p:spPr>
          <a:xfrm>
            <a:off x="4013718" y="2461644"/>
            <a:ext cx="133800" cy="167400"/>
          </a:xfrm>
          <a:prstGeom prst="rect">
            <a:avLst/>
          </a:prstGeom>
          <a:no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47" name="Google Shape;147;p9"/>
          <p:cNvSpPr/>
          <p:nvPr/>
        </p:nvSpPr>
        <p:spPr>
          <a:xfrm>
            <a:off x="4237295" y="2475596"/>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05</a:t>
            </a:r>
            <a:endParaRPr b="1" i="0" sz="850" u="none" cap="none" strike="noStrike">
              <a:solidFill>
                <a:schemeClr val="lt1"/>
              </a:solidFill>
              <a:latin typeface="Syne"/>
              <a:ea typeface="Syne"/>
              <a:cs typeface="Syne"/>
              <a:sym typeface="Syne"/>
            </a:endParaRPr>
          </a:p>
        </p:txBody>
      </p:sp>
      <p:sp>
        <p:nvSpPr>
          <p:cNvPr id="148" name="Google Shape;148;p9"/>
          <p:cNvSpPr/>
          <p:nvPr/>
        </p:nvSpPr>
        <p:spPr>
          <a:xfrm>
            <a:off x="4237295" y="2648832"/>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Auto-compare CNN image classifications with predefined safe thresholds.</a:t>
            </a:r>
            <a:endParaRPr b="1" i="0" sz="700" u="none" cap="none" strike="noStrike">
              <a:solidFill>
                <a:schemeClr val="lt1"/>
              </a:solidFill>
              <a:latin typeface="Syne"/>
              <a:ea typeface="Syne"/>
              <a:cs typeface="Syne"/>
              <a:sym typeface="Syne"/>
            </a:endParaRPr>
          </a:p>
        </p:txBody>
      </p:sp>
      <p:sp>
        <p:nvSpPr>
          <p:cNvPr id="149" name="Google Shape;149;p9"/>
          <p:cNvSpPr/>
          <p:nvPr/>
        </p:nvSpPr>
        <p:spPr>
          <a:xfrm>
            <a:off x="3980269" y="2877581"/>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50" name="Google Shape;150;p9"/>
          <p:cNvSpPr/>
          <p:nvPr/>
        </p:nvSpPr>
        <p:spPr>
          <a:xfrm>
            <a:off x="4013718" y="2894287"/>
            <a:ext cx="133800" cy="167400"/>
          </a:xfrm>
          <a:prstGeom prst="rect">
            <a:avLst/>
          </a:prstGeom>
          <a:solidFill>
            <a:srgbClr val="547808"/>
          </a:solid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51" name="Google Shape;151;p9"/>
          <p:cNvSpPr/>
          <p:nvPr/>
        </p:nvSpPr>
        <p:spPr>
          <a:xfrm>
            <a:off x="4237295" y="2908240"/>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06</a:t>
            </a:r>
            <a:endParaRPr b="1" i="0" sz="850" u="none" cap="none" strike="noStrike">
              <a:solidFill>
                <a:schemeClr val="lt1"/>
              </a:solidFill>
              <a:latin typeface="Syne"/>
              <a:ea typeface="Syne"/>
              <a:cs typeface="Syne"/>
              <a:sym typeface="Syne"/>
            </a:endParaRPr>
          </a:p>
        </p:txBody>
      </p:sp>
      <p:sp>
        <p:nvSpPr>
          <p:cNvPr id="152" name="Google Shape;152;p9"/>
          <p:cNvSpPr/>
          <p:nvPr/>
        </p:nvSpPr>
        <p:spPr>
          <a:xfrm>
            <a:off x="4237295" y="3081476"/>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Identify compliant and non-compliant/hazardous plant states.</a:t>
            </a:r>
            <a:endParaRPr b="1" i="0" sz="700" u="none" cap="none" strike="noStrike">
              <a:solidFill>
                <a:schemeClr val="lt1"/>
              </a:solidFill>
              <a:latin typeface="Syne"/>
              <a:ea typeface="Syne"/>
              <a:cs typeface="Syne"/>
              <a:sym typeface="Syne"/>
            </a:endParaRPr>
          </a:p>
        </p:txBody>
      </p:sp>
      <p:sp>
        <p:nvSpPr>
          <p:cNvPr id="153" name="Google Shape;153;p9"/>
          <p:cNvSpPr/>
          <p:nvPr/>
        </p:nvSpPr>
        <p:spPr>
          <a:xfrm>
            <a:off x="3980269" y="3310225"/>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54" name="Google Shape;154;p9"/>
          <p:cNvSpPr/>
          <p:nvPr/>
        </p:nvSpPr>
        <p:spPr>
          <a:xfrm>
            <a:off x="4013718" y="3326931"/>
            <a:ext cx="133800" cy="167400"/>
          </a:xfrm>
          <a:prstGeom prst="rect">
            <a:avLst/>
          </a:prstGeom>
          <a:solidFill>
            <a:srgbClr val="547808"/>
          </a:solid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55" name="Google Shape;155;p9"/>
          <p:cNvSpPr/>
          <p:nvPr/>
        </p:nvSpPr>
        <p:spPr>
          <a:xfrm>
            <a:off x="4237295" y="3340883"/>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07</a:t>
            </a:r>
            <a:endParaRPr b="1" i="0" sz="850" u="none" cap="none" strike="noStrike">
              <a:solidFill>
                <a:schemeClr val="lt1"/>
              </a:solidFill>
              <a:latin typeface="Syne"/>
              <a:ea typeface="Syne"/>
              <a:cs typeface="Syne"/>
              <a:sym typeface="Syne"/>
            </a:endParaRPr>
          </a:p>
        </p:txBody>
      </p:sp>
      <p:sp>
        <p:nvSpPr>
          <p:cNvPr id="156" name="Google Shape;156;p9"/>
          <p:cNvSpPr/>
          <p:nvPr/>
        </p:nvSpPr>
        <p:spPr>
          <a:xfrm>
            <a:off x="4237295" y="3514119"/>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Improve disease incident tracking throughout its lifecycle.</a:t>
            </a:r>
            <a:endParaRPr b="1" i="0" sz="700" u="none" cap="none" strike="noStrike">
              <a:solidFill>
                <a:schemeClr val="lt1"/>
              </a:solidFill>
              <a:latin typeface="Syne"/>
              <a:ea typeface="Syne"/>
              <a:cs typeface="Syne"/>
              <a:sym typeface="Syne"/>
            </a:endParaRPr>
          </a:p>
        </p:txBody>
      </p:sp>
      <p:sp>
        <p:nvSpPr>
          <p:cNvPr id="157" name="Google Shape;157;p9"/>
          <p:cNvSpPr/>
          <p:nvPr/>
        </p:nvSpPr>
        <p:spPr>
          <a:xfrm>
            <a:off x="3980269" y="3742868"/>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58" name="Google Shape;158;p9"/>
          <p:cNvSpPr/>
          <p:nvPr/>
        </p:nvSpPr>
        <p:spPr>
          <a:xfrm>
            <a:off x="4013718" y="3759574"/>
            <a:ext cx="133800" cy="167400"/>
          </a:xfrm>
          <a:prstGeom prst="rect">
            <a:avLst/>
          </a:prstGeom>
          <a:solidFill>
            <a:srgbClr val="547808"/>
          </a:solid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59" name="Google Shape;159;p9"/>
          <p:cNvSpPr/>
          <p:nvPr/>
        </p:nvSpPr>
        <p:spPr>
          <a:xfrm>
            <a:off x="4237295" y="3773527"/>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08</a:t>
            </a:r>
            <a:endParaRPr b="1" i="0" sz="850" u="none" cap="none" strike="noStrike">
              <a:solidFill>
                <a:schemeClr val="lt1"/>
              </a:solidFill>
              <a:latin typeface="Syne"/>
              <a:ea typeface="Syne"/>
              <a:cs typeface="Syne"/>
              <a:sym typeface="Syne"/>
            </a:endParaRPr>
          </a:p>
        </p:txBody>
      </p:sp>
      <p:sp>
        <p:nvSpPr>
          <p:cNvPr id="160" name="Google Shape;160;p9"/>
          <p:cNvSpPr/>
          <p:nvPr/>
        </p:nvSpPr>
        <p:spPr>
          <a:xfrm>
            <a:off x="4237295" y="3946763"/>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Generate agricultural compliance reports after verification.</a:t>
            </a:r>
            <a:endParaRPr b="1" i="0" sz="700" u="none" cap="none" strike="noStrike">
              <a:solidFill>
                <a:schemeClr val="lt1"/>
              </a:solidFill>
              <a:latin typeface="Syne"/>
              <a:ea typeface="Syne"/>
              <a:cs typeface="Syne"/>
              <a:sym typeface="Syne"/>
            </a:endParaRPr>
          </a:p>
        </p:txBody>
      </p:sp>
      <p:sp>
        <p:nvSpPr>
          <p:cNvPr id="161" name="Google Shape;161;p9"/>
          <p:cNvSpPr/>
          <p:nvPr/>
        </p:nvSpPr>
        <p:spPr>
          <a:xfrm>
            <a:off x="3980269" y="4175511"/>
            <a:ext cx="200700" cy="200700"/>
          </a:xfrm>
          <a:prstGeom prst="roundRect">
            <a:avLst>
              <a:gd fmla="val 40002" name="adj"/>
            </a:avLst>
          </a:prstGeom>
          <a:solidFill>
            <a:srgbClr val="547808"/>
          </a:solidFill>
          <a:ln cap="flat" cmpd="sng" w="9525">
            <a:solidFill>
              <a:srgbClr val="54780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solidFill>
                <a:schemeClr val="lt1"/>
              </a:solidFill>
              <a:latin typeface="Syne"/>
              <a:ea typeface="Syne"/>
              <a:cs typeface="Syne"/>
              <a:sym typeface="Syne"/>
            </a:endParaRPr>
          </a:p>
        </p:txBody>
      </p:sp>
      <p:sp>
        <p:nvSpPr>
          <p:cNvPr id="162" name="Google Shape;162;p9"/>
          <p:cNvSpPr/>
          <p:nvPr/>
        </p:nvSpPr>
        <p:spPr>
          <a:xfrm>
            <a:off x="4013718" y="4192217"/>
            <a:ext cx="133800" cy="167400"/>
          </a:xfrm>
          <a:prstGeom prst="rect">
            <a:avLst/>
          </a:prstGeom>
          <a:noFill/>
          <a:ln>
            <a:noFill/>
          </a:ln>
        </p:spPr>
        <p:txBody>
          <a:bodyPr anchorCtr="0" anchor="ctr" bIns="0" lIns="0" spcFirstLastPara="1" rIns="0" wrap="square" tIns="0">
            <a:noAutofit/>
          </a:bodyPr>
          <a:lstStyle/>
          <a:p>
            <a:pPr indent="0" lvl="0" marL="0" rtl="0" algn="l">
              <a:lnSpc>
                <a:spcPct val="104000"/>
              </a:lnSpc>
              <a:spcBef>
                <a:spcPts val="0"/>
              </a:spcBef>
              <a:spcAft>
                <a:spcPts val="0"/>
              </a:spcAft>
              <a:buClr>
                <a:schemeClr val="dk1"/>
              </a:buClr>
              <a:buSzPts val="1100"/>
              <a:buFont typeface="Arial"/>
              <a:buNone/>
            </a:pPr>
            <a:r>
              <a:rPr lang="en-US" sz="1100">
                <a:solidFill>
                  <a:schemeClr val="dk1"/>
                </a:solidFill>
              </a:rPr>
              <a:t>🌿</a:t>
            </a:r>
            <a:endParaRPr b="1" i="0" sz="1050" u="none" cap="none" strike="noStrike">
              <a:solidFill>
                <a:schemeClr val="lt1"/>
              </a:solidFill>
              <a:latin typeface="Syne"/>
              <a:ea typeface="Syne"/>
              <a:cs typeface="Syne"/>
              <a:sym typeface="Syne"/>
            </a:endParaRPr>
          </a:p>
        </p:txBody>
      </p:sp>
      <p:sp>
        <p:nvSpPr>
          <p:cNvPr id="163" name="Google Shape;163;p9"/>
          <p:cNvSpPr/>
          <p:nvPr/>
        </p:nvSpPr>
        <p:spPr>
          <a:xfrm>
            <a:off x="4237295" y="4206170"/>
            <a:ext cx="4465800" cy="1395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850"/>
              <a:buFont typeface="Arial"/>
              <a:buNone/>
            </a:pPr>
            <a:r>
              <a:rPr b="1" i="0" lang="en-US" sz="850" u="none" cap="none" strike="noStrike">
                <a:solidFill>
                  <a:schemeClr val="lt1"/>
                </a:solidFill>
                <a:latin typeface="Syne"/>
                <a:ea typeface="Syne"/>
                <a:cs typeface="Syne"/>
                <a:sym typeface="Syne"/>
              </a:rPr>
              <a:t>09</a:t>
            </a:r>
            <a:endParaRPr b="1" i="0" sz="850" u="none" cap="none" strike="noStrike">
              <a:solidFill>
                <a:schemeClr val="lt1"/>
              </a:solidFill>
              <a:latin typeface="Syne"/>
              <a:ea typeface="Syne"/>
              <a:cs typeface="Syne"/>
              <a:sym typeface="Syne"/>
            </a:endParaRPr>
          </a:p>
        </p:txBody>
      </p:sp>
      <p:sp>
        <p:nvSpPr>
          <p:cNvPr id="164" name="Google Shape;164;p9"/>
          <p:cNvSpPr/>
          <p:nvPr/>
        </p:nvSpPr>
        <p:spPr>
          <a:xfrm>
            <a:off x="4237295" y="4379406"/>
            <a:ext cx="4465800" cy="116400"/>
          </a:xfrm>
          <a:prstGeom prst="rect">
            <a:avLst/>
          </a:prstGeom>
          <a:noFill/>
          <a:ln>
            <a:noFill/>
          </a:ln>
        </p:spPr>
        <p:txBody>
          <a:bodyPr anchorCtr="0" anchor="t" bIns="0" lIns="0" spcFirstLastPara="1" rIns="0" wrap="square" tIns="0">
            <a:noAutofit/>
          </a:bodyPr>
          <a:lstStyle/>
          <a:p>
            <a:pPr indent="0" lvl="0" marL="0" marR="0" rtl="0" algn="l">
              <a:lnSpc>
                <a:spcPct val="109000"/>
              </a:lnSpc>
              <a:spcBef>
                <a:spcPts val="0"/>
              </a:spcBef>
              <a:spcAft>
                <a:spcPts val="0"/>
              </a:spcAft>
              <a:buClr>
                <a:srgbClr val="4B4A4A"/>
              </a:buClr>
              <a:buSzPts val="700"/>
              <a:buFont typeface="Geist"/>
              <a:buNone/>
            </a:pPr>
            <a:r>
              <a:rPr b="1" i="0" lang="en-US" sz="700" u="none" cap="none" strike="noStrike">
                <a:solidFill>
                  <a:schemeClr val="lt1"/>
                </a:solidFill>
                <a:latin typeface="Syne"/>
                <a:ea typeface="Syne"/>
                <a:cs typeface="Syne"/>
                <a:sym typeface="Syne"/>
              </a:rPr>
              <a:t>Reduce manual work and minimise diagnostic response delays.</a:t>
            </a:r>
            <a:endParaRPr b="1" i="0" sz="700" u="none" cap="none" strike="noStrike">
              <a:solidFill>
                <a:schemeClr val="lt1"/>
              </a:solidFill>
              <a:latin typeface="Syne"/>
              <a:ea typeface="Syne"/>
              <a:cs typeface="Syne"/>
              <a:sym typeface="Syn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0"/>
          <p:cNvSpPr/>
          <p:nvPr/>
        </p:nvSpPr>
        <p:spPr>
          <a:xfrm>
            <a:off x="496119" y="554682"/>
            <a:ext cx="8151900" cy="44310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750"/>
              <a:buFont typeface="Arial"/>
              <a:buNone/>
            </a:pPr>
            <a:r>
              <a:rPr b="1" i="0" lang="en-US" sz="2750" u="none" cap="none" strike="noStrike">
                <a:solidFill>
                  <a:schemeClr val="lt1"/>
                </a:solidFill>
                <a:latin typeface="Syne"/>
                <a:ea typeface="Syne"/>
                <a:cs typeface="Syne"/>
                <a:sym typeface="Syne"/>
              </a:rPr>
              <a:t>Main System Modules</a:t>
            </a:r>
            <a:endParaRPr b="1" i="0" sz="2750" u="none" cap="none" strike="noStrike">
              <a:solidFill>
                <a:schemeClr val="lt1"/>
              </a:solidFill>
              <a:latin typeface="Syne"/>
              <a:ea typeface="Syne"/>
              <a:cs typeface="Syne"/>
              <a:sym typeface="Syne"/>
            </a:endParaRPr>
          </a:p>
        </p:txBody>
      </p:sp>
      <p:pic>
        <p:nvPicPr>
          <p:cNvPr descr="preencoded.png" id="171" name="Google Shape;171;p10"/>
          <p:cNvPicPr preferRelativeResize="0"/>
          <p:nvPr/>
        </p:nvPicPr>
        <p:blipFill rotWithShape="1">
          <a:blip r:embed="rId3">
            <a:alphaModFix/>
          </a:blip>
          <a:srcRect b="0" l="0" r="0" t="0"/>
          <a:stretch/>
        </p:blipFill>
        <p:spPr>
          <a:xfrm>
            <a:off x="496119" y="1369740"/>
            <a:ext cx="1880592" cy="2673326"/>
          </a:xfrm>
          <a:prstGeom prst="rect">
            <a:avLst/>
          </a:prstGeom>
          <a:noFill/>
          <a:ln>
            <a:noFill/>
          </a:ln>
        </p:spPr>
      </p:pic>
      <p:pic>
        <p:nvPicPr>
          <p:cNvPr descr="preencoded.png" id="172" name="Google Shape;172;p10"/>
          <p:cNvPicPr preferRelativeResize="0"/>
          <p:nvPr/>
        </p:nvPicPr>
        <p:blipFill rotWithShape="1">
          <a:blip r:embed="rId4">
            <a:alphaModFix/>
          </a:blip>
          <a:srcRect b="0" l="0" r="0" t="0"/>
          <a:stretch/>
        </p:blipFill>
        <p:spPr>
          <a:xfrm>
            <a:off x="1351322" y="1497285"/>
            <a:ext cx="170111" cy="170111"/>
          </a:xfrm>
          <a:prstGeom prst="rect">
            <a:avLst/>
          </a:prstGeom>
          <a:noFill/>
          <a:ln>
            <a:noFill/>
          </a:ln>
        </p:spPr>
      </p:pic>
      <p:sp>
        <p:nvSpPr>
          <p:cNvPr id="173" name="Google Shape;173;p10"/>
          <p:cNvSpPr/>
          <p:nvPr/>
        </p:nvSpPr>
        <p:spPr>
          <a:xfrm>
            <a:off x="656927" y="1936700"/>
            <a:ext cx="1559100" cy="442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350"/>
              <a:buFont typeface="Arial"/>
              <a:buNone/>
            </a:pPr>
            <a:r>
              <a:rPr b="1" i="0" lang="en-US" sz="1350" u="none" cap="none" strike="noStrike">
                <a:solidFill>
                  <a:srgbClr val="4B4A4A"/>
                </a:solidFill>
                <a:latin typeface="Arial"/>
                <a:ea typeface="Arial"/>
                <a:cs typeface="Arial"/>
                <a:sym typeface="Arial"/>
              </a:rPr>
              <a:t>Farmer / Reporter Module</a:t>
            </a:r>
            <a:endParaRPr b="0" i="0" sz="1350" u="none" cap="none" strike="noStrike">
              <a:solidFill>
                <a:srgbClr val="000000"/>
              </a:solidFill>
              <a:latin typeface="Calibri"/>
              <a:ea typeface="Calibri"/>
              <a:cs typeface="Calibri"/>
              <a:sym typeface="Calibri"/>
            </a:endParaRPr>
          </a:p>
        </p:txBody>
      </p:sp>
      <p:sp>
        <p:nvSpPr>
          <p:cNvPr id="174" name="Google Shape;174;p10"/>
          <p:cNvSpPr/>
          <p:nvPr/>
        </p:nvSpPr>
        <p:spPr>
          <a:xfrm>
            <a:off x="656927" y="2521372"/>
            <a:ext cx="1559100" cy="136080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Clr>
                <a:srgbClr val="4B4A4A"/>
              </a:buClr>
              <a:buSzPts val="1100"/>
              <a:buFont typeface="Geist"/>
              <a:buNone/>
            </a:pPr>
            <a:r>
              <a:rPr b="0" i="0" lang="en-US" sz="1100" u="none" cap="none" strike="noStrike">
                <a:solidFill>
                  <a:srgbClr val="4B4A4A"/>
                </a:solidFill>
                <a:latin typeface="Geist"/>
                <a:ea typeface="Geist"/>
                <a:cs typeface="Geist"/>
                <a:sym typeface="Geist"/>
              </a:rPr>
              <a:t>Submit disease reports with location and image, monitor report status, and view resolution updates and environmental reports.</a:t>
            </a:r>
            <a:endParaRPr b="0" i="0" sz="1100" u="none" cap="none" strike="noStrike">
              <a:solidFill>
                <a:srgbClr val="000000"/>
              </a:solidFill>
              <a:latin typeface="Calibri"/>
              <a:ea typeface="Calibri"/>
              <a:cs typeface="Calibri"/>
              <a:sym typeface="Calibri"/>
            </a:endParaRPr>
          </a:p>
        </p:txBody>
      </p:sp>
      <p:pic>
        <p:nvPicPr>
          <p:cNvPr descr="preencoded.png" id="175" name="Google Shape;175;p10"/>
          <p:cNvPicPr preferRelativeResize="0"/>
          <p:nvPr/>
        </p:nvPicPr>
        <p:blipFill rotWithShape="1">
          <a:blip r:embed="rId3">
            <a:alphaModFix/>
          </a:blip>
          <a:srcRect b="0" l="0" r="0" t="0"/>
          <a:stretch/>
        </p:blipFill>
        <p:spPr>
          <a:xfrm>
            <a:off x="2518470" y="1369740"/>
            <a:ext cx="1880592" cy="2673326"/>
          </a:xfrm>
          <a:prstGeom prst="rect">
            <a:avLst/>
          </a:prstGeom>
          <a:noFill/>
          <a:ln>
            <a:noFill/>
          </a:ln>
        </p:spPr>
      </p:pic>
      <p:pic>
        <p:nvPicPr>
          <p:cNvPr descr="preencoded.png" id="176" name="Google Shape;176;p10"/>
          <p:cNvPicPr preferRelativeResize="0"/>
          <p:nvPr/>
        </p:nvPicPr>
        <p:blipFill rotWithShape="1">
          <a:blip r:embed="rId5">
            <a:alphaModFix/>
          </a:blip>
          <a:srcRect b="0" l="0" r="0" t="0"/>
          <a:stretch/>
        </p:blipFill>
        <p:spPr>
          <a:xfrm>
            <a:off x="3373673" y="1497285"/>
            <a:ext cx="170111" cy="170111"/>
          </a:xfrm>
          <a:prstGeom prst="rect">
            <a:avLst/>
          </a:prstGeom>
          <a:noFill/>
          <a:ln>
            <a:noFill/>
          </a:ln>
        </p:spPr>
      </p:pic>
      <p:sp>
        <p:nvSpPr>
          <p:cNvPr id="177" name="Google Shape;177;p10"/>
          <p:cNvSpPr/>
          <p:nvPr/>
        </p:nvSpPr>
        <p:spPr>
          <a:xfrm>
            <a:off x="2679278" y="1936700"/>
            <a:ext cx="1559100" cy="442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350"/>
              <a:buFont typeface="Arial"/>
              <a:buNone/>
            </a:pPr>
            <a:r>
              <a:rPr b="1" i="0" lang="en-US" sz="1350" u="none" cap="none" strike="noStrike">
                <a:solidFill>
                  <a:srgbClr val="4B4A4A"/>
                </a:solidFill>
                <a:latin typeface="Arial"/>
                <a:ea typeface="Arial"/>
                <a:cs typeface="Arial"/>
                <a:sym typeface="Arial"/>
              </a:rPr>
              <a:t>Agricultural Officer Module</a:t>
            </a:r>
            <a:endParaRPr b="0" i="0" sz="1350" u="none" cap="none" strike="noStrike">
              <a:solidFill>
                <a:srgbClr val="000000"/>
              </a:solidFill>
              <a:latin typeface="Calibri"/>
              <a:ea typeface="Calibri"/>
              <a:cs typeface="Calibri"/>
              <a:sym typeface="Calibri"/>
            </a:endParaRPr>
          </a:p>
        </p:txBody>
      </p:sp>
      <p:sp>
        <p:nvSpPr>
          <p:cNvPr id="178" name="Google Shape;178;p10"/>
          <p:cNvSpPr/>
          <p:nvPr/>
        </p:nvSpPr>
        <p:spPr>
          <a:xfrm>
            <a:off x="2679278" y="2521372"/>
            <a:ext cx="1559100" cy="113400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Clr>
                <a:srgbClr val="4B4A4A"/>
              </a:buClr>
              <a:buSzPts val="1100"/>
              <a:buFont typeface="Geist"/>
              <a:buNone/>
            </a:pPr>
            <a:r>
              <a:rPr b="0" i="0" lang="en-US" sz="1100" u="none" cap="none" strike="noStrike">
                <a:solidFill>
                  <a:srgbClr val="4B4A4A"/>
                </a:solidFill>
                <a:latin typeface="Geist"/>
                <a:ea typeface="Geist"/>
                <a:cs typeface="Geist"/>
                <a:sym typeface="Geist"/>
              </a:rPr>
              <a:t>View assigned disease reports, record health readings and treatment actions, and update investigation status.</a:t>
            </a:r>
            <a:endParaRPr b="0" i="0" sz="1100" u="none" cap="none" strike="noStrike">
              <a:solidFill>
                <a:srgbClr val="000000"/>
              </a:solidFill>
              <a:latin typeface="Calibri"/>
              <a:ea typeface="Calibri"/>
              <a:cs typeface="Calibri"/>
              <a:sym typeface="Calibri"/>
            </a:endParaRPr>
          </a:p>
        </p:txBody>
      </p:sp>
      <p:pic>
        <p:nvPicPr>
          <p:cNvPr descr="preencoded.png" id="179" name="Google Shape;179;p10"/>
          <p:cNvPicPr preferRelativeResize="0"/>
          <p:nvPr/>
        </p:nvPicPr>
        <p:blipFill rotWithShape="1">
          <a:blip r:embed="rId3">
            <a:alphaModFix/>
          </a:blip>
          <a:srcRect b="0" l="0" r="0" t="0"/>
          <a:stretch/>
        </p:blipFill>
        <p:spPr>
          <a:xfrm>
            <a:off x="4749701" y="1369740"/>
            <a:ext cx="1880592" cy="2673326"/>
          </a:xfrm>
          <a:prstGeom prst="rect">
            <a:avLst/>
          </a:prstGeom>
          <a:noFill/>
          <a:ln>
            <a:noFill/>
          </a:ln>
        </p:spPr>
      </p:pic>
      <p:pic>
        <p:nvPicPr>
          <p:cNvPr descr="preencoded.png" id="180" name="Google Shape;180;p10"/>
          <p:cNvPicPr preferRelativeResize="0"/>
          <p:nvPr/>
        </p:nvPicPr>
        <p:blipFill rotWithShape="1">
          <a:blip r:embed="rId6">
            <a:alphaModFix/>
          </a:blip>
          <a:srcRect b="0" l="0" r="0" t="0"/>
          <a:stretch/>
        </p:blipFill>
        <p:spPr>
          <a:xfrm>
            <a:off x="5604904" y="1497285"/>
            <a:ext cx="170111" cy="170111"/>
          </a:xfrm>
          <a:prstGeom prst="rect">
            <a:avLst/>
          </a:prstGeom>
          <a:noFill/>
          <a:ln>
            <a:noFill/>
          </a:ln>
        </p:spPr>
      </p:pic>
      <p:sp>
        <p:nvSpPr>
          <p:cNvPr id="181" name="Google Shape;181;p10"/>
          <p:cNvSpPr/>
          <p:nvPr/>
        </p:nvSpPr>
        <p:spPr>
          <a:xfrm>
            <a:off x="4910510" y="1936700"/>
            <a:ext cx="1559100" cy="221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350"/>
              <a:buFont typeface="Arial"/>
              <a:buNone/>
            </a:pPr>
            <a:r>
              <a:rPr b="1" i="0" lang="en-US" sz="1350" u="none" cap="none" strike="noStrike">
                <a:solidFill>
                  <a:srgbClr val="4B4A4A"/>
                </a:solidFill>
                <a:latin typeface="Arial"/>
                <a:ea typeface="Arial"/>
                <a:cs typeface="Arial"/>
                <a:sym typeface="Arial"/>
              </a:rPr>
              <a:t>Admin Module</a:t>
            </a:r>
            <a:endParaRPr b="0" i="0" sz="1350" u="none" cap="none" strike="noStrike">
              <a:solidFill>
                <a:srgbClr val="000000"/>
              </a:solidFill>
              <a:latin typeface="Calibri"/>
              <a:ea typeface="Calibri"/>
              <a:cs typeface="Calibri"/>
              <a:sym typeface="Calibri"/>
            </a:endParaRPr>
          </a:p>
        </p:txBody>
      </p:sp>
      <p:sp>
        <p:nvSpPr>
          <p:cNvPr id="182" name="Google Shape;182;p10"/>
          <p:cNvSpPr/>
          <p:nvPr/>
        </p:nvSpPr>
        <p:spPr>
          <a:xfrm>
            <a:off x="4910510" y="2299915"/>
            <a:ext cx="1559100" cy="136080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Clr>
                <a:srgbClr val="4B4A4A"/>
              </a:buClr>
              <a:buSzPts val="1100"/>
              <a:buFont typeface="Geist"/>
              <a:buNone/>
            </a:pPr>
            <a:r>
              <a:rPr b="0" i="0" lang="en-US" sz="1100" u="none" cap="none" strike="noStrike">
                <a:solidFill>
                  <a:srgbClr val="4B4A4A"/>
                </a:solidFill>
                <a:latin typeface="Geist"/>
                <a:ea typeface="Geist"/>
                <a:cs typeface="Geist"/>
                <a:sym typeface="Geist"/>
              </a:rPr>
              <a:t>Manage users, verify incoming reports, assign field officers, approve agricultural reports &amp; monitor farm compliance.</a:t>
            </a:r>
            <a:endParaRPr b="0" i="0" sz="1100" u="none" cap="none" strike="noStrike">
              <a:solidFill>
                <a:srgbClr val="000000"/>
              </a:solidFill>
              <a:latin typeface="Calibri"/>
              <a:ea typeface="Calibri"/>
              <a:cs typeface="Calibri"/>
              <a:sym typeface="Calibri"/>
            </a:endParaRPr>
          </a:p>
        </p:txBody>
      </p:sp>
      <p:pic>
        <p:nvPicPr>
          <p:cNvPr descr="preencoded.png" id="183" name="Google Shape;183;p10"/>
          <p:cNvPicPr preferRelativeResize="0"/>
          <p:nvPr/>
        </p:nvPicPr>
        <p:blipFill rotWithShape="1">
          <a:blip r:embed="rId3">
            <a:alphaModFix/>
          </a:blip>
          <a:srcRect b="0" l="0" r="0" t="0"/>
          <a:stretch/>
        </p:blipFill>
        <p:spPr>
          <a:xfrm>
            <a:off x="6772052" y="1369740"/>
            <a:ext cx="1880592" cy="2673326"/>
          </a:xfrm>
          <a:prstGeom prst="rect">
            <a:avLst/>
          </a:prstGeom>
          <a:noFill/>
          <a:ln>
            <a:noFill/>
          </a:ln>
        </p:spPr>
      </p:pic>
      <p:pic>
        <p:nvPicPr>
          <p:cNvPr descr="preencoded.png" id="184" name="Google Shape;184;p10"/>
          <p:cNvPicPr preferRelativeResize="0"/>
          <p:nvPr/>
        </p:nvPicPr>
        <p:blipFill rotWithShape="1">
          <a:blip r:embed="rId7">
            <a:alphaModFix/>
          </a:blip>
          <a:srcRect b="0" l="0" r="0" t="0"/>
          <a:stretch/>
        </p:blipFill>
        <p:spPr>
          <a:xfrm>
            <a:off x="7627255" y="1497285"/>
            <a:ext cx="170111" cy="170111"/>
          </a:xfrm>
          <a:prstGeom prst="rect">
            <a:avLst/>
          </a:prstGeom>
          <a:noFill/>
          <a:ln>
            <a:noFill/>
          </a:ln>
        </p:spPr>
      </p:pic>
      <p:sp>
        <p:nvSpPr>
          <p:cNvPr id="185" name="Google Shape;185;p10"/>
          <p:cNvSpPr/>
          <p:nvPr/>
        </p:nvSpPr>
        <p:spPr>
          <a:xfrm>
            <a:off x="6932861" y="1936700"/>
            <a:ext cx="1559100" cy="4428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350"/>
              <a:buFont typeface="Arial"/>
              <a:buNone/>
            </a:pPr>
            <a:r>
              <a:rPr b="1" i="0" lang="en-US" sz="1350" u="none" cap="none" strike="noStrike">
                <a:solidFill>
                  <a:srgbClr val="4B4A4A"/>
                </a:solidFill>
                <a:latin typeface="Arial"/>
                <a:ea typeface="Arial"/>
                <a:cs typeface="Arial"/>
                <a:sym typeface="Arial"/>
              </a:rPr>
              <a:t>AI Engine Module</a:t>
            </a:r>
            <a:endParaRPr b="0" i="0" sz="1350" u="none" cap="none" strike="noStrike">
              <a:solidFill>
                <a:srgbClr val="000000"/>
              </a:solidFill>
              <a:latin typeface="Calibri"/>
              <a:ea typeface="Calibri"/>
              <a:cs typeface="Calibri"/>
              <a:sym typeface="Calibri"/>
            </a:endParaRPr>
          </a:p>
        </p:txBody>
      </p:sp>
      <p:sp>
        <p:nvSpPr>
          <p:cNvPr id="186" name="Google Shape;186;p10"/>
          <p:cNvSpPr/>
          <p:nvPr/>
        </p:nvSpPr>
        <p:spPr>
          <a:xfrm>
            <a:off x="6932774" y="2379497"/>
            <a:ext cx="1559100" cy="1360800"/>
          </a:xfrm>
          <a:prstGeom prst="rect">
            <a:avLst/>
          </a:prstGeom>
          <a:noFill/>
          <a:ln>
            <a:noFill/>
          </a:ln>
        </p:spPr>
        <p:txBody>
          <a:bodyPr anchorCtr="0" anchor="t" bIns="0" lIns="0" spcFirstLastPara="1" rIns="0" wrap="square" tIns="0">
            <a:noAutofit/>
          </a:bodyPr>
          <a:lstStyle/>
          <a:p>
            <a:pPr indent="0" lvl="0" marL="0" marR="0" rtl="0" algn="just">
              <a:lnSpc>
                <a:spcPct val="133000"/>
              </a:lnSpc>
              <a:spcBef>
                <a:spcPts val="0"/>
              </a:spcBef>
              <a:spcAft>
                <a:spcPts val="0"/>
              </a:spcAft>
              <a:buClr>
                <a:srgbClr val="4B4A4A"/>
              </a:buClr>
              <a:buSzPts val="1100"/>
              <a:buFont typeface="Geist"/>
              <a:buNone/>
            </a:pPr>
            <a:r>
              <a:rPr b="0" i="0" lang="en-US" sz="1100" u="none" cap="none" strike="noStrike">
                <a:solidFill>
                  <a:srgbClr val="4B4A4A"/>
                </a:solidFill>
                <a:latin typeface="Geist"/>
                <a:ea typeface="Geist"/>
                <a:cs typeface="Geist"/>
                <a:sym typeface="Geist"/>
              </a:rPr>
              <a:t>Automatically evaluates uploaded leaf imagery against trained deep learning thresholds to determine disease hazard status.</a:t>
            </a:r>
            <a:endParaRPr b="0" i="0" sz="1100" u="none" cap="none" strike="noStrik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3C47D"/>
        </a:solidFill>
      </p:bgPr>
    </p:bg>
    <p:spTree>
      <p:nvGrpSpPr>
        <p:cNvPr id="191" name="Shape 191"/>
        <p:cNvGrpSpPr/>
        <p:nvPr/>
      </p:nvGrpSpPr>
      <p:grpSpPr>
        <a:xfrm>
          <a:off x="0" y="0"/>
          <a:ext cx="0" cy="0"/>
          <a:chOff x="0" y="0"/>
          <a:chExt cx="0" cy="0"/>
        </a:xfrm>
      </p:grpSpPr>
      <p:sp>
        <p:nvSpPr>
          <p:cNvPr id="192" name="Google Shape;192;p11"/>
          <p:cNvSpPr/>
          <p:nvPr/>
        </p:nvSpPr>
        <p:spPr>
          <a:xfrm>
            <a:off x="496119" y="472976"/>
            <a:ext cx="8151900" cy="420900"/>
          </a:xfrm>
          <a:prstGeom prst="rect">
            <a:avLst/>
          </a:prstGeom>
          <a:solidFill>
            <a:srgbClr val="547808"/>
          </a:solid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006747"/>
              </a:buClr>
              <a:buSzPts val="2650"/>
              <a:buFont typeface="Arial"/>
              <a:buNone/>
            </a:pPr>
            <a:r>
              <a:rPr b="1" i="0" lang="en-US" sz="2650" u="none" cap="none" strike="noStrike">
                <a:solidFill>
                  <a:schemeClr val="lt1"/>
                </a:solidFill>
                <a:latin typeface="Arial"/>
                <a:ea typeface="Arial"/>
                <a:cs typeface="Arial"/>
                <a:sym typeface="Arial"/>
              </a:rPr>
              <a:t>System Workflow</a:t>
            </a:r>
            <a:endParaRPr b="0" i="0" sz="2650" u="none" cap="none" strike="noStrike">
              <a:solidFill>
                <a:schemeClr val="lt1"/>
              </a:solidFill>
              <a:latin typeface="Calibri"/>
              <a:ea typeface="Calibri"/>
              <a:cs typeface="Calibri"/>
              <a:sym typeface="Calibri"/>
            </a:endParaRPr>
          </a:p>
        </p:txBody>
      </p:sp>
      <p:pic>
        <p:nvPicPr>
          <p:cNvPr descr="preencoded.png" id="193" name="Google Shape;193;p11"/>
          <p:cNvPicPr preferRelativeResize="0"/>
          <p:nvPr/>
        </p:nvPicPr>
        <p:blipFill rotWithShape="1">
          <a:blip r:embed="rId3">
            <a:alphaModFix/>
          </a:blip>
          <a:srcRect b="0" l="0" r="0" t="0"/>
          <a:stretch/>
        </p:blipFill>
        <p:spPr>
          <a:xfrm>
            <a:off x="823913" y="1149697"/>
            <a:ext cx="7496101" cy="2812852"/>
          </a:xfrm>
          <a:prstGeom prst="rect">
            <a:avLst/>
          </a:prstGeom>
          <a:noFill/>
          <a:ln>
            <a:noFill/>
          </a:ln>
        </p:spPr>
      </p:pic>
      <p:sp>
        <p:nvSpPr>
          <p:cNvPr id="194" name="Google Shape;194;p11"/>
          <p:cNvSpPr/>
          <p:nvPr/>
        </p:nvSpPr>
        <p:spPr>
          <a:xfrm>
            <a:off x="6880666" y="3170803"/>
            <a:ext cx="1130700" cy="4356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350"/>
              <a:buFont typeface="Arial"/>
              <a:buNone/>
            </a:pPr>
            <a:r>
              <a:rPr b="1" i="0" lang="en-US" sz="1350" u="none" cap="none" strike="noStrike">
                <a:solidFill>
                  <a:schemeClr val="lt1"/>
                </a:solidFill>
                <a:latin typeface="Syne"/>
                <a:ea typeface="Syne"/>
                <a:cs typeface="Syne"/>
                <a:sym typeface="Syne"/>
              </a:rPr>
              <a:t>Health Tracking</a:t>
            </a:r>
            <a:endParaRPr b="1" i="0" sz="1350" u="none" cap="none" strike="noStrike">
              <a:solidFill>
                <a:schemeClr val="lt1"/>
              </a:solidFill>
              <a:latin typeface="Syne"/>
              <a:ea typeface="Syne"/>
              <a:cs typeface="Syne"/>
              <a:sym typeface="Syne"/>
            </a:endParaRPr>
          </a:p>
        </p:txBody>
      </p:sp>
      <p:sp>
        <p:nvSpPr>
          <p:cNvPr id="195" name="Google Shape;195;p11"/>
          <p:cNvSpPr/>
          <p:nvPr/>
        </p:nvSpPr>
        <p:spPr>
          <a:xfrm>
            <a:off x="5455770" y="3170803"/>
            <a:ext cx="1130700" cy="4356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350"/>
              <a:buFont typeface="Arial"/>
              <a:buNone/>
            </a:pPr>
            <a:r>
              <a:rPr b="1" i="0" lang="en-US" sz="1350" u="none" cap="none" strike="noStrike">
                <a:solidFill>
                  <a:schemeClr val="lt1"/>
                </a:solidFill>
                <a:latin typeface="Syne"/>
                <a:ea typeface="Syne"/>
                <a:cs typeface="Syne"/>
                <a:sym typeface="Syne"/>
              </a:rPr>
              <a:t>Treatment Assignment</a:t>
            </a:r>
            <a:endParaRPr b="1" i="0" sz="1350" u="none" cap="none" strike="noStrike">
              <a:solidFill>
                <a:schemeClr val="lt1"/>
              </a:solidFill>
              <a:latin typeface="Syne"/>
              <a:ea typeface="Syne"/>
              <a:cs typeface="Syne"/>
              <a:sym typeface="Syne"/>
            </a:endParaRPr>
          </a:p>
        </p:txBody>
      </p:sp>
      <p:sp>
        <p:nvSpPr>
          <p:cNvPr id="196" name="Google Shape;196;p11"/>
          <p:cNvSpPr/>
          <p:nvPr/>
        </p:nvSpPr>
        <p:spPr>
          <a:xfrm>
            <a:off x="4038618" y="3279703"/>
            <a:ext cx="1130700" cy="217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350"/>
              <a:buFont typeface="Arial"/>
              <a:buNone/>
            </a:pPr>
            <a:r>
              <a:rPr b="1" i="0" lang="en-US" sz="1350" u="none" cap="none" strike="noStrike">
                <a:solidFill>
                  <a:schemeClr val="lt1"/>
                </a:solidFill>
                <a:latin typeface="Syne"/>
                <a:ea typeface="Syne"/>
                <a:cs typeface="Syne"/>
                <a:sym typeface="Syne"/>
              </a:rPr>
              <a:t>Verification</a:t>
            </a:r>
            <a:endParaRPr b="1" i="0" sz="1350" u="none" cap="none" strike="noStrike">
              <a:solidFill>
                <a:schemeClr val="lt1"/>
              </a:solidFill>
              <a:latin typeface="Syne"/>
              <a:ea typeface="Syne"/>
              <a:cs typeface="Syne"/>
              <a:sym typeface="Syne"/>
            </a:endParaRPr>
          </a:p>
        </p:txBody>
      </p:sp>
      <p:sp>
        <p:nvSpPr>
          <p:cNvPr id="197" name="Google Shape;197;p11"/>
          <p:cNvSpPr/>
          <p:nvPr/>
        </p:nvSpPr>
        <p:spPr>
          <a:xfrm>
            <a:off x="2621466" y="3279703"/>
            <a:ext cx="1130700" cy="2178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350"/>
              <a:buFont typeface="Arial"/>
              <a:buNone/>
            </a:pPr>
            <a:r>
              <a:rPr b="1" i="0" lang="en-US" sz="1350" u="none" cap="none" strike="noStrike">
                <a:solidFill>
                  <a:schemeClr val="lt1"/>
                </a:solidFill>
                <a:latin typeface="Syne"/>
                <a:ea typeface="Syne"/>
                <a:cs typeface="Syne"/>
                <a:sym typeface="Syne"/>
              </a:rPr>
              <a:t>AI Analysis</a:t>
            </a:r>
            <a:endParaRPr b="1" i="0" sz="1350" u="none" cap="none" strike="noStrike">
              <a:solidFill>
                <a:schemeClr val="lt1"/>
              </a:solidFill>
              <a:latin typeface="Syne"/>
              <a:ea typeface="Syne"/>
              <a:cs typeface="Syne"/>
              <a:sym typeface="Syne"/>
            </a:endParaRPr>
          </a:p>
        </p:txBody>
      </p:sp>
      <p:sp>
        <p:nvSpPr>
          <p:cNvPr id="198" name="Google Shape;198;p11"/>
          <p:cNvSpPr/>
          <p:nvPr/>
        </p:nvSpPr>
        <p:spPr>
          <a:xfrm>
            <a:off x="1173338" y="3170803"/>
            <a:ext cx="1130700" cy="43560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4B4A4A"/>
              </a:buClr>
              <a:buSzPts val="1350"/>
              <a:buFont typeface="Arial"/>
              <a:buNone/>
            </a:pPr>
            <a:r>
              <a:rPr b="1" i="0" lang="en-US" sz="1350" u="none" cap="none" strike="noStrike">
                <a:solidFill>
                  <a:schemeClr val="lt1"/>
                </a:solidFill>
                <a:latin typeface="Syne"/>
                <a:ea typeface="Syne"/>
                <a:cs typeface="Syne"/>
                <a:sym typeface="Syne"/>
              </a:rPr>
              <a:t>Submit Report</a:t>
            </a:r>
            <a:endParaRPr b="1" i="0" sz="1350" u="none" cap="none" strike="noStrike">
              <a:solidFill>
                <a:schemeClr val="lt1"/>
              </a:solidFill>
              <a:latin typeface="Syne"/>
              <a:ea typeface="Syne"/>
              <a:cs typeface="Syne"/>
              <a:sym typeface="Syne"/>
            </a:endParaRPr>
          </a:p>
        </p:txBody>
      </p:sp>
      <p:sp>
        <p:nvSpPr>
          <p:cNvPr id="199" name="Google Shape;199;p11"/>
          <p:cNvSpPr/>
          <p:nvPr/>
        </p:nvSpPr>
        <p:spPr>
          <a:xfrm>
            <a:off x="496125" y="4106470"/>
            <a:ext cx="8151900" cy="266400"/>
          </a:xfrm>
          <a:prstGeom prst="rect">
            <a:avLst/>
          </a:prstGeom>
          <a:solidFill>
            <a:srgbClr val="547808"/>
          </a:solid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4B4A4A"/>
              </a:buClr>
              <a:buSzPts val="1050"/>
              <a:buFont typeface="Geist"/>
              <a:buNone/>
            </a:pPr>
            <a:r>
              <a:rPr b="1" i="0" lang="en-US" sz="1050" u="none" cap="none" strike="noStrike">
                <a:solidFill>
                  <a:schemeClr val="lt1"/>
                </a:solidFill>
                <a:latin typeface="Syne"/>
                <a:ea typeface="Syne"/>
                <a:cs typeface="Syne"/>
                <a:sym typeface="Syne"/>
              </a:rPr>
              <a:t>Complete Report-to-Treatment Lifecycle — Fully Digital, Fully Tracked.</a:t>
            </a:r>
            <a:endParaRPr b="1" i="0" sz="1050" u="none" cap="none" strike="noStrike">
              <a:solidFill>
                <a:schemeClr val="lt1"/>
              </a:solidFill>
              <a:latin typeface="Syne"/>
              <a:ea typeface="Syne"/>
              <a:cs typeface="Syne"/>
              <a:sym typeface="Syne"/>
            </a:endParaRPr>
          </a:p>
          <a:p>
            <a:pPr indent="0" lvl="0" marL="0" marR="0" rtl="0" algn="l">
              <a:lnSpc>
                <a:spcPct val="130000"/>
              </a:lnSpc>
              <a:spcBef>
                <a:spcPts val="1100"/>
              </a:spcBef>
              <a:spcAft>
                <a:spcPts val="0"/>
              </a:spcAft>
              <a:buClr>
                <a:srgbClr val="4B4A4A"/>
              </a:buClr>
              <a:buSzPts val="1050"/>
              <a:buFont typeface="Geist"/>
              <a:buNone/>
            </a:pPr>
            <a:r>
              <a:t/>
            </a:r>
            <a:endParaRPr b="0" i="0" sz="105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4" name="Shape 204"/>
        <p:cNvGrpSpPr/>
        <p:nvPr/>
      </p:nvGrpSpPr>
      <p:grpSpPr>
        <a:xfrm>
          <a:off x="0" y="0"/>
          <a:ext cx="0" cy="0"/>
          <a:chOff x="0" y="0"/>
          <a:chExt cx="0" cy="0"/>
        </a:xfrm>
      </p:grpSpPr>
      <p:sp>
        <p:nvSpPr>
          <p:cNvPr id="205" name="Google Shape;205;p12"/>
          <p:cNvSpPr/>
          <p:nvPr/>
        </p:nvSpPr>
        <p:spPr>
          <a:xfrm>
            <a:off x="496119" y="443061"/>
            <a:ext cx="8151900" cy="37650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2350"/>
              <a:buFont typeface="Arial"/>
              <a:buNone/>
            </a:pPr>
            <a:r>
              <a:rPr b="1" i="0" lang="en-US" sz="2350" u="none" cap="none" strike="noStrike">
                <a:solidFill>
                  <a:schemeClr val="lt1"/>
                </a:solidFill>
                <a:latin typeface="Syne"/>
                <a:ea typeface="Syne"/>
                <a:cs typeface="Syne"/>
                <a:sym typeface="Syne"/>
              </a:rPr>
              <a:t>Technology Stack &amp; System Architecture</a:t>
            </a:r>
            <a:endParaRPr b="1" i="0" sz="2350" u="none" cap="none" strike="noStrike">
              <a:solidFill>
                <a:schemeClr val="lt1"/>
              </a:solidFill>
              <a:latin typeface="Syne"/>
              <a:ea typeface="Syne"/>
              <a:cs typeface="Syne"/>
              <a:sym typeface="Syne"/>
            </a:endParaRPr>
          </a:p>
        </p:txBody>
      </p:sp>
      <p:pic>
        <p:nvPicPr>
          <p:cNvPr descr="preencoded.png" id="206" name="Google Shape;206;p12"/>
          <p:cNvPicPr preferRelativeResize="0"/>
          <p:nvPr/>
        </p:nvPicPr>
        <p:blipFill rotWithShape="1">
          <a:blip r:embed="rId3">
            <a:alphaModFix/>
          </a:blip>
          <a:srcRect b="0" l="0" r="0" t="0"/>
          <a:stretch/>
        </p:blipFill>
        <p:spPr>
          <a:xfrm>
            <a:off x="496119" y="1088380"/>
            <a:ext cx="301228" cy="301228"/>
          </a:xfrm>
          <a:prstGeom prst="rect">
            <a:avLst/>
          </a:prstGeom>
          <a:noFill/>
          <a:ln>
            <a:noFill/>
          </a:ln>
        </p:spPr>
      </p:pic>
      <p:sp>
        <p:nvSpPr>
          <p:cNvPr id="207" name="Google Shape;207;p12"/>
          <p:cNvSpPr/>
          <p:nvPr/>
        </p:nvSpPr>
        <p:spPr>
          <a:xfrm>
            <a:off x="925339" y="1088380"/>
            <a:ext cx="2655000" cy="188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50"/>
              <a:buFont typeface="Arial"/>
              <a:buNone/>
            </a:pPr>
            <a:r>
              <a:rPr b="1" i="0" lang="en-US" sz="1150" u="none" cap="none" strike="noStrike">
                <a:solidFill>
                  <a:schemeClr val="lt1"/>
                </a:solidFill>
                <a:latin typeface="Syne"/>
                <a:ea typeface="Syne"/>
                <a:cs typeface="Syne"/>
                <a:sym typeface="Syne"/>
              </a:rPr>
              <a:t>React.js — Frontend</a:t>
            </a:r>
            <a:endParaRPr b="1" i="0" sz="1150" u="none" cap="none" strike="noStrike">
              <a:solidFill>
                <a:schemeClr val="lt1"/>
              </a:solidFill>
              <a:latin typeface="Syne"/>
              <a:ea typeface="Syne"/>
              <a:cs typeface="Syne"/>
              <a:sym typeface="Syne"/>
            </a:endParaRPr>
          </a:p>
        </p:txBody>
      </p:sp>
      <p:sp>
        <p:nvSpPr>
          <p:cNvPr id="208" name="Google Shape;208;p12"/>
          <p:cNvSpPr/>
          <p:nvPr/>
        </p:nvSpPr>
        <p:spPr>
          <a:xfrm>
            <a:off x="925339" y="1379041"/>
            <a:ext cx="2655000" cy="3567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900"/>
              <a:buFont typeface="Geist"/>
              <a:buNone/>
            </a:pPr>
            <a:r>
              <a:rPr b="1" i="0" lang="en-US" sz="900" u="none" cap="none" strike="noStrike">
                <a:solidFill>
                  <a:schemeClr val="lt1"/>
                </a:solidFill>
                <a:latin typeface="Syne"/>
                <a:ea typeface="Syne"/>
                <a:cs typeface="Syne"/>
                <a:sym typeface="Syne"/>
              </a:rPr>
              <a:t>Responsive UIs, dashboards, incident forms and disease hotspot tracking pages.</a:t>
            </a:r>
            <a:endParaRPr b="1" i="0" sz="900" u="none" cap="none" strike="noStrike">
              <a:solidFill>
                <a:schemeClr val="lt1"/>
              </a:solidFill>
              <a:latin typeface="Syne"/>
              <a:ea typeface="Syne"/>
              <a:cs typeface="Syne"/>
              <a:sym typeface="Syne"/>
            </a:endParaRPr>
          </a:p>
        </p:txBody>
      </p:sp>
      <p:pic>
        <p:nvPicPr>
          <p:cNvPr descr="preencoded.png" id="209" name="Google Shape;209;p12"/>
          <p:cNvPicPr preferRelativeResize="0"/>
          <p:nvPr/>
        </p:nvPicPr>
        <p:blipFill rotWithShape="1">
          <a:blip r:embed="rId4">
            <a:alphaModFix/>
          </a:blip>
          <a:srcRect b="0" l="0" r="0" t="0"/>
          <a:stretch/>
        </p:blipFill>
        <p:spPr>
          <a:xfrm>
            <a:off x="496119" y="1940421"/>
            <a:ext cx="301228" cy="301228"/>
          </a:xfrm>
          <a:prstGeom prst="rect">
            <a:avLst/>
          </a:prstGeom>
          <a:noFill/>
          <a:ln>
            <a:noFill/>
          </a:ln>
        </p:spPr>
      </p:pic>
      <p:sp>
        <p:nvSpPr>
          <p:cNvPr id="210" name="Google Shape;210;p12"/>
          <p:cNvSpPr/>
          <p:nvPr/>
        </p:nvSpPr>
        <p:spPr>
          <a:xfrm>
            <a:off x="925339" y="1940421"/>
            <a:ext cx="2655000" cy="188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50"/>
              <a:buFont typeface="Arial"/>
              <a:buNone/>
            </a:pPr>
            <a:r>
              <a:rPr b="1" i="0" lang="en-US" sz="1150" u="none" cap="none" strike="noStrike">
                <a:solidFill>
                  <a:schemeClr val="lt1"/>
                </a:solidFill>
                <a:latin typeface="Syne"/>
                <a:ea typeface="Syne"/>
                <a:cs typeface="Syne"/>
                <a:sym typeface="Syne"/>
              </a:rPr>
              <a:t>Node.js + Express.js — Backend</a:t>
            </a:r>
            <a:endParaRPr b="1" i="0" sz="1150" u="none" cap="none" strike="noStrike">
              <a:solidFill>
                <a:schemeClr val="lt1"/>
              </a:solidFill>
              <a:latin typeface="Syne"/>
              <a:ea typeface="Syne"/>
              <a:cs typeface="Syne"/>
              <a:sym typeface="Syne"/>
            </a:endParaRPr>
          </a:p>
        </p:txBody>
      </p:sp>
      <p:sp>
        <p:nvSpPr>
          <p:cNvPr id="211" name="Google Shape;211;p12"/>
          <p:cNvSpPr/>
          <p:nvPr/>
        </p:nvSpPr>
        <p:spPr>
          <a:xfrm>
            <a:off x="925339" y="2231082"/>
            <a:ext cx="2655000" cy="3567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900"/>
              <a:buFont typeface="Geist"/>
              <a:buNone/>
            </a:pPr>
            <a:r>
              <a:rPr b="1" i="0" lang="en-US" sz="900" u="none" cap="none" strike="noStrike">
                <a:solidFill>
                  <a:schemeClr val="lt1"/>
                </a:solidFill>
                <a:latin typeface="Syne"/>
                <a:ea typeface="Syne"/>
                <a:cs typeface="Syne"/>
                <a:sym typeface="Syne"/>
              </a:rPr>
              <a:t>REST APIs, authentication, business logic, threshold calculations, report management.</a:t>
            </a:r>
            <a:endParaRPr b="1" i="0" sz="900" u="none" cap="none" strike="noStrike">
              <a:solidFill>
                <a:schemeClr val="lt1"/>
              </a:solidFill>
              <a:latin typeface="Syne"/>
              <a:ea typeface="Syne"/>
              <a:cs typeface="Syne"/>
              <a:sym typeface="Syne"/>
            </a:endParaRPr>
          </a:p>
        </p:txBody>
      </p:sp>
      <p:sp>
        <p:nvSpPr>
          <p:cNvPr id="212" name="Google Shape;212;p12"/>
          <p:cNvSpPr/>
          <p:nvPr/>
        </p:nvSpPr>
        <p:spPr>
          <a:xfrm>
            <a:off x="925339" y="2792462"/>
            <a:ext cx="2655000" cy="188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50"/>
              <a:buFont typeface="Arial"/>
              <a:buNone/>
            </a:pPr>
            <a:r>
              <a:rPr b="1" i="0" lang="en-US" sz="1150" u="none" cap="none" strike="noStrike">
                <a:solidFill>
                  <a:schemeClr val="lt1"/>
                </a:solidFill>
                <a:latin typeface="Syne"/>
                <a:ea typeface="Syne"/>
                <a:cs typeface="Syne"/>
                <a:sym typeface="Syne"/>
              </a:rPr>
              <a:t>MongoDB — Database</a:t>
            </a:r>
            <a:endParaRPr b="1" i="0" sz="1150" u="none" cap="none" strike="noStrike">
              <a:solidFill>
                <a:schemeClr val="lt1"/>
              </a:solidFill>
              <a:latin typeface="Syne"/>
              <a:ea typeface="Syne"/>
              <a:cs typeface="Syne"/>
              <a:sym typeface="Syne"/>
            </a:endParaRPr>
          </a:p>
        </p:txBody>
      </p:sp>
      <p:sp>
        <p:nvSpPr>
          <p:cNvPr id="213" name="Google Shape;213;p12"/>
          <p:cNvSpPr/>
          <p:nvPr/>
        </p:nvSpPr>
        <p:spPr>
          <a:xfrm>
            <a:off x="925339" y="3083123"/>
            <a:ext cx="2655000" cy="3567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900"/>
              <a:buFont typeface="Geist"/>
              <a:buNone/>
            </a:pPr>
            <a:r>
              <a:rPr b="1" i="0" lang="en-US" sz="900" u="none" cap="none" strike="noStrike">
                <a:solidFill>
                  <a:schemeClr val="lt1"/>
                </a:solidFill>
                <a:latin typeface="Syne"/>
                <a:ea typeface="Syne"/>
                <a:cs typeface="Syne"/>
                <a:sym typeface="Syne"/>
              </a:rPr>
              <a:t>Stores users, reports, CNN readings, treatment records and compliance data.</a:t>
            </a:r>
            <a:endParaRPr b="1" i="0" sz="900" u="none" cap="none" strike="noStrike">
              <a:solidFill>
                <a:schemeClr val="lt1"/>
              </a:solidFill>
              <a:latin typeface="Syne"/>
              <a:ea typeface="Syne"/>
              <a:cs typeface="Syne"/>
              <a:sym typeface="Syne"/>
            </a:endParaRPr>
          </a:p>
        </p:txBody>
      </p:sp>
      <p:pic>
        <p:nvPicPr>
          <p:cNvPr descr="preencoded.png" id="214" name="Google Shape;214;p12"/>
          <p:cNvPicPr preferRelativeResize="0"/>
          <p:nvPr/>
        </p:nvPicPr>
        <p:blipFill rotWithShape="1">
          <a:blip r:embed="rId5">
            <a:alphaModFix/>
          </a:blip>
          <a:srcRect b="0" l="0" r="0" t="0"/>
          <a:stretch/>
        </p:blipFill>
        <p:spPr>
          <a:xfrm>
            <a:off x="496119" y="3644503"/>
            <a:ext cx="301228" cy="301228"/>
          </a:xfrm>
          <a:prstGeom prst="rect">
            <a:avLst/>
          </a:prstGeom>
          <a:noFill/>
          <a:ln>
            <a:noFill/>
          </a:ln>
        </p:spPr>
      </p:pic>
      <p:sp>
        <p:nvSpPr>
          <p:cNvPr id="215" name="Google Shape;215;p12"/>
          <p:cNvSpPr/>
          <p:nvPr/>
        </p:nvSpPr>
        <p:spPr>
          <a:xfrm>
            <a:off x="925339" y="3644503"/>
            <a:ext cx="2655000" cy="1884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4B4A4A"/>
              </a:buClr>
              <a:buSzPts val="1150"/>
              <a:buFont typeface="Arial"/>
              <a:buNone/>
            </a:pPr>
            <a:r>
              <a:rPr b="1" i="0" lang="en-US" sz="1150" u="none" cap="none" strike="noStrike">
                <a:solidFill>
                  <a:schemeClr val="lt1"/>
                </a:solidFill>
                <a:latin typeface="Syne"/>
                <a:ea typeface="Syne"/>
                <a:cs typeface="Syne"/>
                <a:sym typeface="Syne"/>
              </a:rPr>
              <a:t>Python / TensorFlow — AI Service</a:t>
            </a:r>
            <a:endParaRPr b="1" i="0" sz="1150" u="none" cap="none" strike="noStrike">
              <a:solidFill>
                <a:schemeClr val="lt1"/>
              </a:solidFill>
              <a:latin typeface="Syne"/>
              <a:ea typeface="Syne"/>
              <a:cs typeface="Syne"/>
              <a:sym typeface="Syne"/>
            </a:endParaRPr>
          </a:p>
        </p:txBody>
      </p:sp>
      <p:sp>
        <p:nvSpPr>
          <p:cNvPr id="216" name="Google Shape;216;p12"/>
          <p:cNvSpPr/>
          <p:nvPr/>
        </p:nvSpPr>
        <p:spPr>
          <a:xfrm>
            <a:off x="925339" y="3935164"/>
            <a:ext cx="2655000" cy="356700"/>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4B4A4A"/>
              </a:buClr>
              <a:buSzPts val="900"/>
              <a:buFont typeface="Geist"/>
              <a:buNone/>
            </a:pPr>
            <a:r>
              <a:rPr b="1" i="0" lang="en-US" sz="900" u="none" cap="none" strike="noStrike">
                <a:solidFill>
                  <a:schemeClr val="lt1"/>
                </a:solidFill>
                <a:latin typeface="Syne"/>
                <a:ea typeface="Syne"/>
                <a:cs typeface="Syne"/>
                <a:sym typeface="Syne"/>
              </a:rPr>
              <a:t>Handles image processing, model inference, and CNN tensor calculations.</a:t>
            </a:r>
            <a:endParaRPr b="1" i="0" sz="900" u="none" cap="none" strike="noStrike">
              <a:solidFill>
                <a:schemeClr val="lt1"/>
              </a:solidFill>
              <a:latin typeface="Syne"/>
              <a:ea typeface="Syne"/>
              <a:cs typeface="Syne"/>
              <a:sym typeface="Syne"/>
            </a:endParaRPr>
          </a:p>
        </p:txBody>
      </p:sp>
      <p:pic>
        <p:nvPicPr>
          <p:cNvPr descr="preencoded.png" id="217" name="Google Shape;217;p12"/>
          <p:cNvPicPr preferRelativeResize="0"/>
          <p:nvPr/>
        </p:nvPicPr>
        <p:blipFill rotWithShape="1">
          <a:blip r:embed="rId6">
            <a:alphaModFix/>
          </a:blip>
          <a:srcRect b="0" l="0" r="0" t="0"/>
          <a:stretch/>
        </p:blipFill>
        <p:spPr>
          <a:xfrm>
            <a:off x="4237137" y="1659434"/>
            <a:ext cx="4057351" cy="1612552"/>
          </a:xfrm>
          <a:prstGeom prst="rect">
            <a:avLst/>
          </a:prstGeom>
          <a:noFill/>
          <a:ln>
            <a:noFill/>
          </a:ln>
        </p:spPr>
      </p:pic>
      <p:sp>
        <p:nvSpPr>
          <p:cNvPr id="218" name="Google Shape;218;p12"/>
          <p:cNvSpPr/>
          <p:nvPr/>
        </p:nvSpPr>
        <p:spPr>
          <a:xfrm>
            <a:off x="4534805" y="2796455"/>
            <a:ext cx="890100" cy="111300"/>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006747"/>
              </a:buClr>
              <a:buSzPts val="700"/>
              <a:buFont typeface="Arial"/>
              <a:buNone/>
            </a:pPr>
            <a:r>
              <a:rPr i="0" lang="en-US" sz="700" u="none" cap="none" strike="noStrike">
                <a:solidFill>
                  <a:schemeClr val="lt1"/>
                </a:solidFill>
                <a:latin typeface="Syne ExtraBold"/>
                <a:ea typeface="Syne ExtraBold"/>
                <a:cs typeface="Syne ExtraBold"/>
                <a:sym typeface="Syne ExtraBold"/>
              </a:rPr>
              <a:t>Frontend</a:t>
            </a:r>
            <a:endParaRPr i="0" sz="700" u="none" cap="none" strike="noStrike">
              <a:solidFill>
                <a:schemeClr val="lt1"/>
              </a:solidFill>
              <a:latin typeface="Syne ExtraBold"/>
              <a:ea typeface="Syne ExtraBold"/>
              <a:cs typeface="Syne ExtraBold"/>
              <a:sym typeface="Syne ExtraBold"/>
            </a:endParaRPr>
          </a:p>
        </p:txBody>
      </p:sp>
      <p:sp>
        <p:nvSpPr>
          <p:cNvPr id="219" name="Google Shape;219;p12"/>
          <p:cNvSpPr/>
          <p:nvPr/>
        </p:nvSpPr>
        <p:spPr>
          <a:xfrm>
            <a:off x="4333018" y="2939388"/>
            <a:ext cx="1092000" cy="82200"/>
          </a:xfrm>
          <a:prstGeom prst="rect">
            <a:avLst/>
          </a:prstGeom>
          <a:noFill/>
          <a:ln>
            <a:noFill/>
          </a:ln>
        </p:spPr>
        <p:txBody>
          <a:bodyPr anchorCtr="0" anchor="t" bIns="0" lIns="0" spcFirstLastPara="1" rIns="0" wrap="square" tIns="0">
            <a:noAutofit/>
          </a:bodyPr>
          <a:lstStyle/>
          <a:p>
            <a:pPr indent="0" lvl="0" marL="0" marR="0" rtl="0" algn="r">
              <a:lnSpc>
                <a:spcPct val="96000"/>
              </a:lnSpc>
              <a:spcBef>
                <a:spcPts val="0"/>
              </a:spcBef>
              <a:spcAft>
                <a:spcPts val="0"/>
              </a:spcAft>
              <a:buClr>
                <a:srgbClr val="4B4A4A"/>
              </a:buClr>
              <a:buSzPts val="550"/>
              <a:buFont typeface="Geist"/>
              <a:buNone/>
            </a:pPr>
            <a:r>
              <a:rPr b="1" i="0" lang="en-US" sz="550" u="none" cap="none" strike="noStrike">
                <a:solidFill>
                  <a:schemeClr val="lt1"/>
                </a:solidFill>
                <a:latin typeface="Syne"/>
                <a:ea typeface="Syne"/>
                <a:cs typeface="Syne"/>
                <a:sym typeface="Syne"/>
              </a:rPr>
              <a:t>React UI &amp; dashboards</a:t>
            </a:r>
            <a:endParaRPr b="1" i="0" sz="550" u="none" cap="none" strike="noStrike">
              <a:solidFill>
                <a:schemeClr val="lt1"/>
              </a:solidFill>
              <a:latin typeface="Syne"/>
              <a:ea typeface="Syne"/>
              <a:cs typeface="Syne"/>
              <a:sym typeface="Syne"/>
            </a:endParaRPr>
          </a:p>
        </p:txBody>
      </p:sp>
      <p:sp>
        <p:nvSpPr>
          <p:cNvPr id="220" name="Google Shape;220;p12"/>
          <p:cNvSpPr/>
          <p:nvPr/>
        </p:nvSpPr>
        <p:spPr>
          <a:xfrm>
            <a:off x="7134240" y="2485861"/>
            <a:ext cx="890100" cy="111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700"/>
              <a:buFont typeface="Arial"/>
              <a:buNone/>
            </a:pPr>
            <a:r>
              <a:rPr i="0" lang="en-US" sz="700" u="none" cap="none" strike="noStrike">
                <a:solidFill>
                  <a:schemeClr val="lt1"/>
                </a:solidFill>
                <a:latin typeface="Syne ExtraBold"/>
                <a:ea typeface="Syne ExtraBold"/>
                <a:cs typeface="Syne ExtraBold"/>
                <a:sym typeface="Syne ExtraBold"/>
              </a:rPr>
              <a:t>Backend</a:t>
            </a:r>
            <a:endParaRPr i="0" sz="700" u="none" cap="none" strike="noStrike">
              <a:solidFill>
                <a:schemeClr val="lt1"/>
              </a:solidFill>
              <a:latin typeface="Syne ExtraBold"/>
              <a:ea typeface="Syne ExtraBold"/>
              <a:cs typeface="Syne ExtraBold"/>
              <a:sym typeface="Syne ExtraBold"/>
            </a:endParaRPr>
          </a:p>
        </p:txBody>
      </p:sp>
      <p:sp>
        <p:nvSpPr>
          <p:cNvPr id="221" name="Google Shape;221;p12"/>
          <p:cNvSpPr/>
          <p:nvPr/>
        </p:nvSpPr>
        <p:spPr>
          <a:xfrm>
            <a:off x="7134240" y="2628794"/>
            <a:ext cx="1064400" cy="822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4B4A4A"/>
              </a:buClr>
              <a:buSzPts val="550"/>
              <a:buFont typeface="Geist"/>
              <a:buNone/>
            </a:pPr>
            <a:r>
              <a:rPr b="1" i="0" lang="en-US" sz="550" u="none" cap="none" strike="noStrike">
                <a:solidFill>
                  <a:schemeClr val="lt1"/>
                </a:solidFill>
                <a:latin typeface="Syne"/>
                <a:ea typeface="Syne"/>
                <a:cs typeface="Syne"/>
                <a:sym typeface="Syne"/>
              </a:rPr>
              <a:t>Node.js / Express APIs</a:t>
            </a:r>
            <a:endParaRPr b="1" i="0" sz="550" u="none" cap="none" strike="noStrike">
              <a:solidFill>
                <a:schemeClr val="lt1"/>
              </a:solidFill>
              <a:latin typeface="Syne"/>
              <a:ea typeface="Syne"/>
              <a:cs typeface="Syne"/>
              <a:sym typeface="Syne"/>
            </a:endParaRPr>
          </a:p>
        </p:txBody>
      </p:sp>
      <p:sp>
        <p:nvSpPr>
          <p:cNvPr id="222" name="Google Shape;222;p12"/>
          <p:cNvSpPr/>
          <p:nvPr/>
        </p:nvSpPr>
        <p:spPr>
          <a:xfrm>
            <a:off x="4534744" y="2202963"/>
            <a:ext cx="890100" cy="111300"/>
          </a:xfrm>
          <a:prstGeom prst="rect">
            <a:avLst/>
          </a:prstGeom>
          <a:noFill/>
          <a:ln>
            <a:noFill/>
          </a:ln>
        </p:spPr>
        <p:txBody>
          <a:bodyPr anchorCtr="0" anchor="t" bIns="0" lIns="0" spcFirstLastPara="1" rIns="0" wrap="square" tIns="0">
            <a:noAutofit/>
          </a:bodyPr>
          <a:lstStyle/>
          <a:p>
            <a:pPr indent="0" lvl="0" marL="0" marR="0" rtl="0" algn="r">
              <a:lnSpc>
                <a:spcPct val="104000"/>
              </a:lnSpc>
              <a:spcBef>
                <a:spcPts val="0"/>
              </a:spcBef>
              <a:spcAft>
                <a:spcPts val="0"/>
              </a:spcAft>
              <a:buClr>
                <a:srgbClr val="006747"/>
              </a:buClr>
              <a:buSzPts val="700"/>
              <a:buFont typeface="Arial"/>
              <a:buNone/>
            </a:pPr>
            <a:r>
              <a:rPr i="0" lang="en-US" sz="700" u="none" cap="none" strike="noStrike">
                <a:solidFill>
                  <a:schemeClr val="lt1"/>
                </a:solidFill>
                <a:latin typeface="Syne ExtraBold"/>
                <a:ea typeface="Syne ExtraBold"/>
                <a:cs typeface="Syne ExtraBold"/>
                <a:sym typeface="Syne ExtraBold"/>
              </a:rPr>
              <a:t>Database</a:t>
            </a:r>
            <a:endParaRPr i="0" sz="700" u="none" cap="none" strike="noStrike">
              <a:solidFill>
                <a:schemeClr val="lt1"/>
              </a:solidFill>
              <a:latin typeface="Syne ExtraBold"/>
              <a:ea typeface="Syne ExtraBold"/>
              <a:cs typeface="Syne ExtraBold"/>
              <a:sym typeface="Syne ExtraBold"/>
            </a:endParaRPr>
          </a:p>
        </p:txBody>
      </p:sp>
      <p:sp>
        <p:nvSpPr>
          <p:cNvPr id="223" name="Google Shape;223;p12"/>
          <p:cNvSpPr/>
          <p:nvPr/>
        </p:nvSpPr>
        <p:spPr>
          <a:xfrm>
            <a:off x="4332956" y="2345896"/>
            <a:ext cx="1092000" cy="82200"/>
          </a:xfrm>
          <a:prstGeom prst="rect">
            <a:avLst/>
          </a:prstGeom>
          <a:noFill/>
          <a:ln>
            <a:noFill/>
          </a:ln>
        </p:spPr>
        <p:txBody>
          <a:bodyPr anchorCtr="0" anchor="t" bIns="0" lIns="0" spcFirstLastPara="1" rIns="0" wrap="square" tIns="0">
            <a:noAutofit/>
          </a:bodyPr>
          <a:lstStyle/>
          <a:p>
            <a:pPr indent="0" lvl="0" marL="0" marR="0" rtl="0" algn="r">
              <a:lnSpc>
                <a:spcPct val="96000"/>
              </a:lnSpc>
              <a:spcBef>
                <a:spcPts val="0"/>
              </a:spcBef>
              <a:spcAft>
                <a:spcPts val="0"/>
              </a:spcAft>
              <a:buClr>
                <a:srgbClr val="4B4A4A"/>
              </a:buClr>
              <a:buSzPts val="550"/>
              <a:buFont typeface="Geist"/>
              <a:buNone/>
            </a:pPr>
            <a:r>
              <a:rPr b="1" i="0" lang="en-US" sz="550" u="none" cap="none" strike="noStrike">
                <a:solidFill>
                  <a:schemeClr val="lt1"/>
                </a:solidFill>
                <a:latin typeface="Syne"/>
                <a:ea typeface="Syne"/>
                <a:cs typeface="Syne"/>
                <a:sym typeface="Syne"/>
              </a:rPr>
              <a:t>MongoDB storage layer</a:t>
            </a:r>
            <a:endParaRPr b="1" i="0" sz="550" u="none" cap="none" strike="noStrike">
              <a:solidFill>
                <a:schemeClr val="lt1"/>
              </a:solidFill>
              <a:latin typeface="Syne"/>
              <a:ea typeface="Syne"/>
              <a:cs typeface="Syne"/>
              <a:sym typeface="Syne"/>
            </a:endParaRPr>
          </a:p>
        </p:txBody>
      </p:sp>
      <p:sp>
        <p:nvSpPr>
          <p:cNvPr id="224" name="Google Shape;224;p12"/>
          <p:cNvSpPr/>
          <p:nvPr/>
        </p:nvSpPr>
        <p:spPr>
          <a:xfrm>
            <a:off x="7134240" y="1868629"/>
            <a:ext cx="890100" cy="1113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6747"/>
              </a:buClr>
              <a:buSzPts val="700"/>
              <a:buFont typeface="Arial"/>
              <a:buNone/>
            </a:pPr>
            <a:r>
              <a:rPr i="0" lang="en-US" sz="700" u="none" cap="none" strike="noStrike">
                <a:solidFill>
                  <a:schemeClr val="lt1"/>
                </a:solidFill>
                <a:latin typeface="Syne ExtraBold"/>
                <a:ea typeface="Syne ExtraBold"/>
                <a:cs typeface="Syne ExtraBold"/>
                <a:sym typeface="Syne ExtraBold"/>
              </a:rPr>
              <a:t>AI Service</a:t>
            </a:r>
            <a:endParaRPr i="0" sz="700" u="none" cap="none" strike="noStrike">
              <a:solidFill>
                <a:schemeClr val="lt1"/>
              </a:solidFill>
              <a:latin typeface="Syne ExtraBold"/>
              <a:ea typeface="Syne ExtraBold"/>
              <a:cs typeface="Syne ExtraBold"/>
              <a:sym typeface="Syne ExtraBold"/>
            </a:endParaRPr>
          </a:p>
        </p:txBody>
      </p:sp>
      <p:sp>
        <p:nvSpPr>
          <p:cNvPr id="225" name="Google Shape;225;p12"/>
          <p:cNvSpPr/>
          <p:nvPr/>
        </p:nvSpPr>
        <p:spPr>
          <a:xfrm>
            <a:off x="7134240" y="2011562"/>
            <a:ext cx="1064400" cy="8220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4B4A4A"/>
              </a:buClr>
              <a:buSzPts val="550"/>
              <a:buFont typeface="Geist"/>
              <a:buNone/>
            </a:pPr>
            <a:r>
              <a:rPr b="1" i="0" lang="en-US" sz="550" u="none" cap="none" strike="noStrike">
                <a:solidFill>
                  <a:schemeClr val="lt1"/>
                </a:solidFill>
                <a:latin typeface="Syne"/>
                <a:ea typeface="Syne"/>
                <a:cs typeface="Syne"/>
                <a:sym typeface="Syne"/>
              </a:rPr>
              <a:t>Python / TensorFlow inference</a:t>
            </a:r>
            <a:endParaRPr b="1" i="0" sz="550" u="none" cap="none" strike="noStrike">
              <a:solidFill>
                <a:schemeClr val="lt1"/>
              </a:solidFill>
              <a:latin typeface="Syne"/>
              <a:ea typeface="Syne"/>
              <a:cs typeface="Syne"/>
              <a:sym typeface="Syne"/>
            </a:endParaRPr>
          </a:p>
        </p:txBody>
      </p:sp>
      <p:pic>
        <p:nvPicPr>
          <p:cNvPr descr="Fil:Antu mongodb.svg – Wikipedia" id="226" name="Google Shape;226;p12"/>
          <p:cNvPicPr preferRelativeResize="0"/>
          <p:nvPr/>
        </p:nvPicPr>
        <p:blipFill>
          <a:blip r:embed="rId7">
            <a:alphaModFix/>
          </a:blip>
          <a:stretch>
            <a:fillRect/>
          </a:stretch>
        </p:blipFill>
        <p:spPr>
          <a:xfrm flipH="1">
            <a:off x="496124" y="2792463"/>
            <a:ext cx="301226" cy="3012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E24"/>
        </a:solidFill>
      </p:bgPr>
    </p:bg>
    <p:spTree>
      <p:nvGrpSpPr>
        <p:cNvPr id="231" name="Shape 231"/>
        <p:cNvGrpSpPr/>
        <p:nvPr/>
      </p:nvGrpSpPr>
      <p:grpSpPr>
        <a:xfrm>
          <a:off x="0" y="0"/>
          <a:ext cx="0" cy="0"/>
          <a:chOff x="0" y="0"/>
          <a:chExt cx="0" cy="0"/>
        </a:xfrm>
      </p:grpSpPr>
      <p:sp>
        <p:nvSpPr>
          <p:cNvPr id="232" name="Google Shape;232;p13"/>
          <p:cNvSpPr/>
          <p:nvPr/>
        </p:nvSpPr>
        <p:spPr>
          <a:xfrm>
            <a:off x="496119" y="488156"/>
            <a:ext cx="8151763" cy="708720"/>
          </a:xfrm>
          <a:prstGeom prst="rect">
            <a:avLst/>
          </a:prstGeom>
          <a:solidFill>
            <a:srgbClr val="547808"/>
          </a:solid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0F4F1"/>
              </a:buClr>
              <a:buSzPts val="2200"/>
              <a:buFont typeface="Syne ExtraBold"/>
              <a:buNone/>
            </a:pPr>
            <a:r>
              <a:rPr b="0" i="0" lang="en-US" sz="2200" u="none" cap="none" strike="noStrike">
                <a:solidFill>
                  <a:srgbClr val="F0F4F1"/>
                </a:solidFill>
                <a:latin typeface="Syne ExtraBold"/>
                <a:ea typeface="Syne ExtraBold"/>
                <a:cs typeface="Syne ExtraBold"/>
                <a:sym typeface="Syne ExtraBold"/>
              </a:rPr>
              <a:t>AgriVision makes advanced AI actionable</a:t>
            </a:r>
            <a:endParaRPr b="0" i="0" sz="2200" u="none" cap="none" strike="noStrike">
              <a:solidFill>
                <a:schemeClr val="dk1"/>
              </a:solidFill>
              <a:latin typeface="Calibri"/>
              <a:ea typeface="Calibri"/>
              <a:cs typeface="Calibri"/>
              <a:sym typeface="Calibri"/>
            </a:endParaRPr>
          </a:p>
        </p:txBody>
      </p:sp>
      <p:sp>
        <p:nvSpPr>
          <p:cNvPr id="233" name="Google Shape;233;p13"/>
          <p:cNvSpPr/>
          <p:nvPr/>
        </p:nvSpPr>
        <p:spPr>
          <a:xfrm>
            <a:off x="414486" y="1332905"/>
            <a:ext cx="4100810" cy="2828106"/>
          </a:xfrm>
          <a:prstGeom prst="roundRect">
            <a:avLst>
              <a:gd fmla="val 2887" name="adj"/>
            </a:avLst>
          </a:prstGeom>
          <a:solidFill>
            <a:srgbClr val="111A23">
              <a:alpha val="9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
          <p:cNvSpPr/>
          <p:nvPr/>
        </p:nvSpPr>
        <p:spPr>
          <a:xfrm>
            <a:off x="527893" y="1423615"/>
            <a:ext cx="3873996" cy="1771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0F4F1"/>
              </a:buClr>
              <a:buSzPts val="1100"/>
              <a:buFont typeface="Syne ExtraBold"/>
              <a:buNone/>
            </a:pPr>
            <a:r>
              <a:rPr b="0" i="0" lang="en-US" sz="1100" u="none" cap="none" strike="noStrike">
                <a:solidFill>
                  <a:srgbClr val="F0F4F1"/>
                </a:solidFill>
                <a:latin typeface="Syne ExtraBold"/>
                <a:ea typeface="Syne ExtraBold"/>
                <a:cs typeface="Syne ExtraBold"/>
                <a:sym typeface="Syne ExtraBold"/>
              </a:rPr>
              <a:t>What We Buil</a:t>
            </a:r>
            <a:r>
              <a:rPr lang="en-US" sz="1100">
                <a:solidFill>
                  <a:srgbClr val="F0F4F1"/>
                </a:solidFill>
                <a:latin typeface="Syne ExtraBold"/>
                <a:ea typeface="Syne ExtraBold"/>
                <a:cs typeface="Syne ExtraBold"/>
                <a:sym typeface="Syne ExtraBold"/>
              </a:rPr>
              <a:t>d</a:t>
            </a:r>
            <a:endParaRPr b="0" i="0" sz="1100" u="none" cap="none" strike="noStrike">
              <a:solidFill>
                <a:schemeClr val="dk1"/>
              </a:solidFill>
              <a:latin typeface="Calibri"/>
              <a:ea typeface="Calibri"/>
              <a:cs typeface="Calibri"/>
              <a:sym typeface="Calibri"/>
            </a:endParaRPr>
          </a:p>
        </p:txBody>
      </p:sp>
      <p:sp>
        <p:nvSpPr>
          <p:cNvPr id="235" name="Google Shape;235;p13"/>
          <p:cNvSpPr/>
          <p:nvPr/>
        </p:nvSpPr>
        <p:spPr>
          <a:xfrm>
            <a:off x="527893" y="1691506"/>
            <a:ext cx="3873996" cy="489793"/>
          </a:xfrm>
          <a:prstGeom prst="rect">
            <a:avLst/>
          </a:prstGeom>
          <a:noFill/>
          <a:ln>
            <a:noFill/>
          </a:ln>
        </p:spPr>
        <p:txBody>
          <a:bodyPr anchorCtr="0" anchor="t" bIns="0" lIns="0" spcFirstLastPara="1" rIns="0" wrap="square" tIns="0">
            <a:noAutofit/>
          </a:bodyPr>
          <a:lstStyle/>
          <a:p>
            <a:pPr indent="0" lvl="0" marL="0" marR="0" rtl="0" algn="just">
              <a:lnSpc>
                <a:spcPct val="120000"/>
              </a:lnSpc>
              <a:spcBef>
                <a:spcPts val="0"/>
              </a:spcBef>
              <a:spcAft>
                <a:spcPts val="0"/>
              </a:spcAft>
              <a:buClr>
                <a:srgbClr val="D7E5D8"/>
              </a:buClr>
              <a:buSzPts val="850"/>
              <a:buFont typeface="Syne"/>
              <a:buNone/>
            </a:pPr>
            <a:r>
              <a:rPr b="0" i="0" lang="en-US" sz="850" u="none" cap="none" strike="noStrike">
                <a:solidFill>
                  <a:srgbClr val="D7E5D8"/>
                </a:solidFill>
                <a:latin typeface="Syne"/>
                <a:ea typeface="Syne"/>
                <a:cs typeface="Syne"/>
                <a:sym typeface="Syne"/>
              </a:rPr>
              <a:t>A MERN-based web platform concept that connects </a:t>
            </a:r>
            <a:r>
              <a:rPr b="1" i="0" lang="en-US" sz="850" u="none" cap="none" strike="noStrike">
                <a:solidFill>
                  <a:srgbClr val="D7E5D8"/>
                </a:solidFill>
                <a:latin typeface="Syne"/>
                <a:ea typeface="Syne"/>
                <a:cs typeface="Syne"/>
                <a:sym typeface="Syne"/>
              </a:rPr>
              <a:t>authenticated users, image submission, CNN inference, prediction history, and treatment-oriented results</a:t>
            </a:r>
            <a:r>
              <a:rPr b="0" i="0" lang="en-US" sz="850" u="none" cap="none" strike="noStrike">
                <a:solidFill>
                  <a:srgbClr val="D7E5D8"/>
                </a:solidFill>
                <a:latin typeface="Syne"/>
                <a:ea typeface="Syne"/>
                <a:cs typeface="Syne"/>
                <a:sym typeface="Syne"/>
              </a:rPr>
              <a:t> through an AI microservice.</a:t>
            </a:r>
            <a:endParaRPr b="0" i="0" sz="850" u="none" cap="none" strike="noStrike">
              <a:solidFill>
                <a:schemeClr val="dk1"/>
              </a:solidFill>
              <a:latin typeface="Calibri"/>
              <a:ea typeface="Calibri"/>
              <a:cs typeface="Calibri"/>
              <a:sym typeface="Calibri"/>
            </a:endParaRPr>
          </a:p>
        </p:txBody>
      </p:sp>
      <p:sp>
        <p:nvSpPr>
          <p:cNvPr id="236" name="Google Shape;236;p13"/>
          <p:cNvSpPr/>
          <p:nvPr/>
        </p:nvSpPr>
        <p:spPr>
          <a:xfrm>
            <a:off x="527893" y="2283321"/>
            <a:ext cx="1891605" cy="1012701"/>
          </a:xfrm>
          <a:prstGeom prst="roundRect">
            <a:avLst>
              <a:gd fmla="val 4704" name="adj"/>
            </a:avLst>
          </a:prstGeom>
          <a:solidFill>
            <a:srgbClr val="547808"/>
          </a:solidFill>
          <a:ln cap="flat" cmpd="sng" w="9525">
            <a:solidFill>
              <a:srgbClr val="6D9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3"/>
          <p:cNvSpPr/>
          <p:nvPr/>
        </p:nvSpPr>
        <p:spPr>
          <a:xfrm>
            <a:off x="646063" y="2401491"/>
            <a:ext cx="1655266" cy="18194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t>
            </a:r>
            <a:r>
              <a:rPr b="0" i="0" lang="en-US" sz="1100" u="none" cap="none" strike="noStrike">
                <a:solidFill>
                  <a:srgbClr val="FFFFFF"/>
                </a:solidFill>
                <a:latin typeface="Syne ExtraBold"/>
                <a:ea typeface="Syne ExtraBold"/>
                <a:cs typeface="Syne ExtraBold"/>
                <a:sym typeface="Syne ExtraBold"/>
              </a:rPr>
              <a:t> Leaf Anchor</a:t>
            </a:r>
            <a:endParaRPr b="0" i="0" sz="1100" u="none" cap="none" strike="noStrike">
              <a:solidFill>
                <a:schemeClr val="dk1"/>
              </a:solidFill>
              <a:latin typeface="Calibri"/>
              <a:ea typeface="Calibri"/>
              <a:cs typeface="Calibri"/>
              <a:sym typeface="Calibri"/>
            </a:endParaRPr>
          </a:p>
        </p:txBody>
      </p:sp>
      <p:sp>
        <p:nvSpPr>
          <p:cNvPr id="238" name="Google Shape;238;p13"/>
          <p:cNvSpPr/>
          <p:nvPr/>
        </p:nvSpPr>
        <p:spPr>
          <a:xfrm>
            <a:off x="646063" y="2674144"/>
            <a:ext cx="1655266" cy="32652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850"/>
              <a:buFont typeface="Syne"/>
              <a:buNone/>
            </a:pPr>
            <a:r>
              <a:rPr b="0" i="0" lang="en-US" sz="850" u="none" cap="none" strike="noStrike">
                <a:solidFill>
                  <a:srgbClr val="FFFFFF"/>
                </a:solidFill>
                <a:latin typeface="Syne"/>
                <a:ea typeface="Syne"/>
                <a:cs typeface="Syne"/>
                <a:sym typeface="Syne"/>
              </a:rPr>
              <a:t>Persistent visual identity across the entire system</a:t>
            </a:r>
            <a:endParaRPr b="0" i="0" sz="850" u="none" cap="none" strike="noStrike">
              <a:solidFill>
                <a:schemeClr val="dk1"/>
              </a:solidFill>
              <a:latin typeface="Calibri"/>
              <a:ea typeface="Calibri"/>
              <a:cs typeface="Calibri"/>
              <a:sym typeface="Calibri"/>
            </a:endParaRPr>
          </a:p>
        </p:txBody>
      </p:sp>
      <p:sp>
        <p:nvSpPr>
          <p:cNvPr id="239" name="Google Shape;239;p13"/>
          <p:cNvSpPr/>
          <p:nvPr/>
        </p:nvSpPr>
        <p:spPr>
          <a:xfrm>
            <a:off x="2510210" y="2283321"/>
            <a:ext cx="1891680" cy="1012701"/>
          </a:xfrm>
          <a:prstGeom prst="roundRect">
            <a:avLst>
              <a:gd fmla="val 4704" name="adj"/>
            </a:avLst>
          </a:prstGeom>
          <a:solidFill>
            <a:srgbClr val="547808"/>
          </a:solidFill>
          <a:ln cap="flat" cmpd="sng" w="9525">
            <a:solidFill>
              <a:srgbClr val="6D9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
          <p:cNvSpPr/>
          <p:nvPr/>
        </p:nvSpPr>
        <p:spPr>
          <a:xfrm>
            <a:off x="2628379" y="2401491"/>
            <a:ext cx="1655341" cy="35912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t>
            </a:r>
            <a:r>
              <a:rPr b="0" i="0" lang="en-US" sz="1100" u="none" cap="none" strike="noStrike">
                <a:solidFill>
                  <a:srgbClr val="FFFFFF"/>
                </a:solidFill>
                <a:latin typeface="Syne ExtraBold"/>
                <a:ea typeface="Syne ExtraBold"/>
                <a:cs typeface="Syne ExtraBold"/>
                <a:sym typeface="Syne ExtraBold"/>
              </a:rPr>
              <a:t> API Contract</a:t>
            </a:r>
            <a:endParaRPr b="0" i="0" sz="1100" u="none" cap="none" strike="noStrike">
              <a:solidFill>
                <a:schemeClr val="dk1"/>
              </a:solidFill>
              <a:latin typeface="Calibri"/>
              <a:ea typeface="Calibri"/>
              <a:cs typeface="Calibri"/>
              <a:sym typeface="Calibri"/>
            </a:endParaRPr>
          </a:p>
        </p:txBody>
      </p:sp>
      <p:sp>
        <p:nvSpPr>
          <p:cNvPr id="241" name="Google Shape;241;p13"/>
          <p:cNvSpPr/>
          <p:nvPr/>
        </p:nvSpPr>
        <p:spPr>
          <a:xfrm>
            <a:off x="2628379" y="2851324"/>
            <a:ext cx="1655341" cy="32652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850"/>
              <a:buFont typeface="Syne"/>
              <a:buNone/>
            </a:pPr>
            <a:r>
              <a:rPr b="0" i="0" lang="en-US" sz="850" u="none" cap="none" strike="noStrike">
                <a:solidFill>
                  <a:srgbClr val="FFFFFF"/>
                </a:solidFill>
                <a:latin typeface="Syne"/>
                <a:ea typeface="Syne"/>
                <a:cs typeface="Syne"/>
                <a:sym typeface="Syne"/>
              </a:rPr>
              <a:t>Clean boundary between MERN and Python inference</a:t>
            </a:r>
            <a:endParaRPr b="0" i="0" sz="850" u="none" cap="none" strike="noStrike">
              <a:solidFill>
                <a:schemeClr val="dk1"/>
              </a:solidFill>
              <a:latin typeface="Calibri"/>
              <a:ea typeface="Calibri"/>
              <a:cs typeface="Calibri"/>
              <a:sym typeface="Calibri"/>
            </a:endParaRPr>
          </a:p>
        </p:txBody>
      </p:sp>
      <p:sp>
        <p:nvSpPr>
          <p:cNvPr id="242" name="Google Shape;242;p13"/>
          <p:cNvSpPr/>
          <p:nvPr/>
        </p:nvSpPr>
        <p:spPr>
          <a:xfrm>
            <a:off x="527893" y="3386733"/>
            <a:ext cx="3873996" cy="672257"/>
          </a:xfrm>
          <a:prstGeom prst="roundRect">
            <a:avLst>
              <a:gd fmla="val 7086" name="adj"/>
            </a:avLst>
          </a:prstGeom>
          <a:solidFill>
            <a:srgbClr val="547808"/>
          </a:solidFill>
          <a:ln cap="flat" cmpd="sng" w="9525">
            <a:solidFill>
              <a:srgbClr val="6D91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3"/>
          <p:cNvSpPr/>
          <p:nvPr/>
        </p:nvSpPr>
        <p:spPr>
          <a:xfrm>
            <a:off x="646063" y="3504902"/>
            <a:ext cx="3637657" cy="18194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a:t>
            </a:r>
            <a:r>
              <a:rPr b="0" i="0" lang="en-US" sz="1100" u="none" cap="none" strike="noStrike">
                <a:solidFill>
                  <a:srgbClr val="FFFFFF"/>
                </a:solidFill>
                <a:latin typeface="Syne ExtraBold"/>
                <a:ea typeface="Syne ExtraBold"/>
                <a:cs typeface="Syne ExtraBold"/>
                <a:sym typeface="Syne ExtraBold"/>
              </a:rPr>
              <a:t> History</a:t>
            </a:r>
            <a:endParaRPr b="0" i="0" sz="1100" u="none" cap="none" strike="noStrike">
              <a:solidFill>
                <a:schemeClr val="dk1"/>
              </a:solidFill>
              <a:latin typeface="Calibri"/>
              <a:ea typeface="Calibri"/>
              <a:cs typeface="Calibri"/>
              <a:sym typeface="Calibri"/>
            </a:endParaRPr>
          </a:p>
        </p:txBody>
      </p:sp>
      <p:sp>
        <p:nvSpPr>
          <p:cNvPr id="244" name="Google Shape;244;p13"/>
          <p:cNvSpPr/>
          <p:nvPr/>
        </p:nvSpPr>
        <p:spPr>
          <a:xfrm>
            <a:off x="646063" y="3777555"/>
            <a:ext cx="3637657" cy="1632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FFFFF"/>
              </a:buClr>
              <a:buSzPts val="850"/>
              <a:buFont typeface="Syne"/>
              <a:buNone/>
            </a:pPr>
            <a:r>
              <a:rPr b="0" i="0" lang="en-US" sz="850" u="none" cap="none" strike="noStrike">
                <a:solidFill>
                  <a:srgbClr val="FFFFFF"/>
                </a:solidFill>
                <a:latin typeface="Syne"/>
                <a:ea typeface="Syne"/>
                <a:cs typeface="Syne"/>
                <a:sym typeface="Syne"/>
              </a:rPr>
              <a:t>MongoDB-backed prediction logs for trend review</a:t>
            </a:r>
            <a:endParaRPr b="0" i="0" sz="850" u="none" cap="none" strike="noStrike">
              <a:solidFill>
                <a:schemeClr val="dk1"/>
              </a:solidFill>
              <a:latin typeface="Calibri"/>
              <a:ea typeface="Calibri"/>
              <a:cs typeface="Calibri"/>
              <a:sym typeface="Calibri"/>
            </a:endParaRPr>
          </a:p>
        </p:txBody>
      </p:sp>
      <p:sp>
        <p:nvSpPr>
          <p:cNvPr id="245" name="Google Shape;245;p13"/>
          <p:cNvSpPr/>
          <p:nvPr/>
        </p:nvSpPr>
        <p:spPr>
          <a:xfrm>
            <a:off x="4715098" y="1423615"/>
            <a:ext cx="3937546" cy="1771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0F4F1"/>
              </a:buClr>
              <a:buSzPts val="1100"/>
              <a:buFont typeface="Syne ExtraBold"/>
              <a:buNone/>
            </a:pPr>
            <a:r>
              <a:rPr b="0" i="0" lang="en-US" sz="1100" u="none" cap="none" strike="noStrike">
                <a:solidFill>
                  <a:srgbClr val="F0F4F1"/>
                </a:solidFill>
                <a:latin typeface="Syne ExtraBold"/>
                <a:ea typeface="Syne ExtraBold"/>
                <a:cs typeface="Syne ExtraBold"/>
                <a:sym typeface="Syne ExtraBold"/>
              </a:rPr>
              <a:t>Why It Matters</a:t>
            </a:r>
            <a:endParaRPr b="0" i="0" sz="1100" u="none" cap="none" strike="noStrike">
              <a:solidFill>
                <a:schemeClr val="dk1"/>
              </a:solidFill>
              <a:latin typeface="Calibri"/>
              <a:ea typeface="Calibri"/>
              <a:cs typeface="Calibri"/>
              <a:sym typeface="Calibri"/>
            </a:endParaRPr>
          </a:p>
        </p:txBody>
      </p:sp>
      <p:sp>
        <p:nvSpPr>
          <p:cNvPr id="246" name="Google Shape;246;p13"/>
          <p:cNvSpPr/>
          <p:nvPr/>
        </p:nvSpPr>
        <p:spPr>
          <a:xfrm>
            <a:off x="4715098" y="1691506"/>
            <a:ext cx="3937546" cy="48979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7E5D8"/>
              </a:buClr>
              <a:buSzPts val="850"/>
              <a:buFont typeface="Syne"/>
              <a:buNone/>
            </a:pPr>
            <a:r>
              <a:rPr b="0" i="0" lang="en-US" sz="850" u="none" cap="none" strike="noStrike">
                <a:solidFill>
                  <a:srgbClr val="D7E5D8"/>
                </a:solidFill>
                <a:latin typeface="Syne"/>
                <a:ea typeface="Syne"/>
                <a:cs typeface="Syne"/>
                <a:sym typeface="Syne"/>
              </a:rPr>
              <a:t>Accessible early screening can help farmers </a:t>
            </a:r>
            <a:r>
              <a:rPr b="1" i="0" lang="en-US" sz="850" u="none" cap="none" strike="noStrike">
                <a:solidFill>
                  <a:srgbClr val="D7E5D8"/>
                </a:solidFill>
                <a:latin typeface="Syne"/>
                <a:ea typeface="Syne"/>
                <a:cs typeface="Syne"/>
                <a:sym typeface="Syne"/>
              </a:rPr>
              <a:t>respond sooner</a:t>
            </a:r>
            <a:r>
              <a:rPr b="0" i="0" lang="en-US" sz="850" u="none" cap="none" strike="noStrike">
                <a:solidFill>
                  <a:srgbClr val="D7E5D8"/>
                </a:solidFill>
                <a:latin typeface="Syne"/>
                <a:ea typeface="Syne"/>
                <a:cs typeface="Syne"/>
                <a:sym typeface="Syne"/>
              </a:rPr>
              <a:t>, reduce avoidable yield loss, and support more </a:t>
            </a:r>
            <a:r>
              <a:rPr b="1" i="0" lang="en-US" sz="850" u="none" cap="none" strike="noStrike">
                <a:solidFill>
                  <a:srgbClr val="D7E5D8"/>
                </a:solidFill>
                <a:latin typeface="Syne"/>
                <a:ea typeface="Syne"/>
                <a:cs typeface="Syne"/>
                <a:sym typeface="Syne"/>
              </a:rPr>
              <a:t>sustainable agricultural decisions</a:t>
            </a:r>
            <a:r>
              <a:rPr b="0" i="0" lang="en-US" sz="850" u="none" cap="none" strike="noStrike">
                <a:solidFill>
                  <a:srgbClr val="D7E5D8"/>
                </a:solidFill>
                <a:latin typeface="Syne"/>
                <a:ea typeface="Syne"/>
                <a:cs typeface="Syne"/>
                <a:sym typeface="Syne"/>
              </a:rPr>
              <a:t>.</a:t>
            </a:r>
            <a:endParaRPr b="0" i="0" sz="850" u="none" cap="none" strike="noStrike">
              <a:solidFill>
                <a:schemeClr val="dk1"/>
              </a:solidFill>
              <a:latin typeface="Calibri"/>
              <a:ea typeface="Calibri"/>
              <a:cs typeface="Calibri"/>
              <a:sym typeface="Calibri"/>
            </a:endParaRPr>
          </a:p>
        </p:txBody>
      </p:sp>
      <p:sp>
        <p:nvSpPr>
          <p:cNvPr id="247" name="Google Shape;247;p13"/>
          <p:cNvSpPr/>
          <p:nvPr/>
        </p:nvSpPr>
        <p:spPr>
          <a:xfrm>
            <a:off x="4885209" y="2364953"/>
            <a:ext cx="3767435" cy="32652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7E5D8"/>
              </a:buClr>
              <a:buSzPts val="850"/>
              <a:buFont typeface="Syne"/>
              <a:buNone/>
            </a:pPr>
            <a:r>
              <a:rPr b="0" i="0" lang="en-US" sz="850" u="none" cap="none" strike="noStrike">
                <a:solidFill>
                  <a:srgbClr val="D7E5D8"/>
                </a:solidFill>
                <a:latin typeface="Syne"/>
                <a:ea typeface="Syne"/>
                <a:cs typeface="Syne"/>
                <a:sym typeface="Syne"/>
              </a:rPr>
              <a:t>The differentiator is not the model — it is the complete workflow that puts the model in a farmer's hands.</a:t>
            </a:r>
            <a:endParaRPr b="0" i="0" sz="850" u="none" cap="none" strike="noStrike">
              <a:solidFill>
                <a:schemeClr val="dk1"/>
              </a:solidFill>
              <a:latin typeface="Calibri"/>
              <a:ea typeface="Calibri"/>
              <a:cs typeface="Calibri"/>
              <a:sym typeface="Calibri"/>
            </a:endParaRPr>
          </a:p>
        </p:txBody>
      </p:sp>
      <p:sp>
        <p:nvSpPr>
          <p:cNvPr id="248" name="Google Shape;248;p13"/>
          <p:cNvSpPr/>
          <p:nvPr/>
        </p:nvSpPr>
        <p:spPr>
          <a:xfrm>
            <a:off x="4715098" y="2283321"/>
            <a:ext cx="14288" cy="489793"/>
          </a:xfrm>
          <a:prstGeom prst="roundRect">
            <a:avLst>
              <a:gd fmla="val 49998" name="adj"/>
            </a:avLst>
          </a:prstGeom>
          <a:solidFill>
            <a:srgbClr val="A9F0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3"/>
          <p:cNvSpPr/>
          <p:nvPr/>
        </p:nvSpPr>
        <p:spPr>
          <a:xfrm>
            <a:off x="4715098" y="2903488"/>
            <a:ext cx="3937546" cy="14288"/>
          </a:xfrm>
          <a:prstGeom prst="roundRect">
            <a:avLst>
              <a:gd fmla="val 49998" name="adj"/>
            </a:avLst>
          </a:prstGeom>
          <a:solidFill>
            <a:srgbClr val="D7E5D8">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3"/>
          <p:cNvSpPr/>
          <p:nvPr/>
        </p:nvSpPr>
        <p:spPr>
          <a:xfrm>
            <a:off x="4715098" y="3048149"/>
            <a:ext cx="3937546" cy="17718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0F4F1"/>
              </a:buClr>
              <a:buSzPts val="1100"/>
              <a:buFont typeface="Syne ExtraBold"/>
              <a:buNone/>
            </a:pPr>
            <a:r>
              <a:rPr b="0" i="0" lang="en-US" sz="1100" u="none" cap="none" strike="noStrike">
                <a:solidFill>
                  <a:srgbClr val="F0F4F1"/>
                </a:solidFill>
                <a:latin typeface="Syne ExtraBold"/>
                <a:ea typeface="Syne ExtraBold"/>
                <a:cs typeface="Syne ExtraBold"/>
                <a:sym typeface="Syne ExtraBold"/>
              </a:rPr>
              <a:t>Questions?</a:t>
            </a:r>
            <a:endParaRPr b="0" i="0" sz="1100" u="none" cap="none" strike="noStrike">
              <a:solidFill>
                <a:schemeClr val="dk1"/>
              </a:solidFill>
              <a:latin typeface="Calibri"/>
              <a:ea typeface="Calibri"/>
              <a:cs typeface="Calibri"/>
              <a:sym typeface="Calibri"/>
            </a:endParaRPr>
          </a:p>
        </p:txBody>
      </p:sp>
      <p:sp>
        <p:nvSpPr>
          <p:cNvPr id="251" name="Google Shape;251;p13"/>
          <p:cNvSpPr/>
          <p:nvPr/>
        </p:nvSpPr>
        <p:spPr>
          <a:xfrm>
            <a:off x="4715098" y="3316039"/>
            <a:ext cx="3937546" cy="653058"/>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D7E5D8"/>
              </a:buClr>
              <a:buSzPts val="850"/>
              <a:buFont typeface="Syne"/>
              <a:buNone/>
            </a:pPr>
            <a:r>
              <a:rPr b="0" i="0" lang="en-US" sz="850" u="none" cap="none" strike="noStrike">
                <a:solidFill>
                  <a:srgbClr val="D7E5D8"/>
                </a:solidFill>
                <a:latin typeface="Syne"/>
                <a:ea typeface="Syne"/>
                <a:cs typeface="Syne"/>
                <a:sym typeface="Syne"/>
              </a:rPr>
              <a:t>Presented by: </a:t>
            </a:r>
            <a:r>
              <a:rPr b="1" i="0" lang="en-US" sz="850" u="none" cap="none" strike="noStrike">
                <a:solidFill>
                  <a:srgbClr val="D7E5D8"/>
                </a:solidFill>
                <a:latin typeface="Syne"/>
                <a:ea typeface="Syne"/>
                <a:cs typeface="Syne"/>
                <a:sym typeface="Syne"/>
              </a:rPr>
              <a:t>[Madhan V M]</a:t>
            </a:r>
            <a:endParaRPr b="0" i="0" sz="850" u="none" cap="none" strike="noStrike">
              <a:solidFill>
                <a:schemeClr val="dk1"/>
              </a:solidFill>
              <a:latin typeface="Calibri"/>
              <a:ea typeface="Calibri"/>
              <a:cs typeface="Calibri"/>
              <a:sym typeface="Calibri"/>
            </a:endParaRPr>
          </a:p>
          <a:p>
            <a:pPr indent="0" lvl="0" marL="0" marR="0" rtl="0" algn="l">
              <a:lnSpc>
                <a:spcPct val="120000"/>
              </a:lnSpc>
              <a:spcBef>
                <a:spcPts val="600"/>
              </a:spcBef>
              <a:spcAft>
                <a:spcPts val="0"/>
              </a:spcAft>
              <a:buClr>
                <a:srgbClr val="D7E5D8"/>
              </a:buClr>
              <a:buSzPts val="850"/>
              <a:buFont typeface="Syne"/>
              <a:buNone/>
            </a:pPr>
            <a:r>
              <a:rPr b="0" i="0" lang="en-US" sz="850" u="none" cap="none" strike="noStrike">
                <a:solidFill>
                  <a:srgbClr val="D7E5D8"/>
                </a:solidFill>
                <a:latin typeface="Syne"/>
                <a:ea typeface="Syne"/>
                <a:cs typeface="Syne"/>
                <a:sym typeface="Syne"/>
              </a:rPr>
              <a:t>CLASS: </a:t>
            </a:r>
            <a:r>
              <a:rPr b="1" i="0" lang="en-US" sz="850" u="none" cap="none" strike="noStrike">
                <a:solidFill>
                  <a:srgbClr val="D7E5D8"/>
                </a:solidFill>
                <a:latin typeface="Syne"/>
                <a:ea typeface="Syne"/>
                <a:cs typeface="Syne"/>
                <a:sym typeface="Syne"/>
              </a:rPr>
              <a:t>[CSE III C]</a:t>
            </a:r>
            <a:endParaRPr b="0" i="0" sz="850" u="none" cap="none" strike="noStrike">
              <a:solidFill>
                <a:schemeClr val="dk1"/>
              </a:solidFill>
              <a:latin typeface="Calibri"/>
              <a:ea typeface="Calibri"/>
              <a:cs typeface="Calibri"/>
              <a:sym typeface="Calibri"/>
            </a:endParaRPr>
          </a:p>
          <a:p>
            <a:pPr indent="0" lvl="0" marL="0" marR="0" rtl="0" algn="l">
              <a:lnSpc>
                <a:spcPct val="120000"/>
              </a:lnSpc>
              <a:spcBef>
                <a:spcPts val="600"/>
              </a:spcBef>
              <a:spcAft>
                <a:spcPts val="0"/>
              </a:spcAft>
              <a:buClr>
                <a:srgbClr val="D7E5D8"/>
              </a:buClr>
              <a:buSzPts val="850"/>
              <a:buFont typeface="Syne"/>
              <a:buNone/>
            </a:pPr>
            <a:r>
              <a:rPr b="1" i="0" lang="en-US" sz="850" u="none" cap="none" strike="noStrike">
                <a:solidFill>
                  <a:srgbClr val="D7E5D8"/>
                </a:solidFill>
                <a:latin typeface="Syne"/>
                <a:ea typeface="Syne"/>
                <a:cs typeface="Syne"/>
                <a:sym typeface="Syne"/>
              </a:rPr>
              <a:t>REGISTER NUMBER : [310624104172]</a:t>
            </a:r>
            <a:endParaRPr b="0" i="0" sz="850" u="none" cap="none" strike="noStrike">
              <a:solidFill>
                <a:schemeClr val="dk1"/>
              </a:solidFill>
              <a:latin typeface="Calibri"/>
              <a:ea typeface="Calibri"/>
              <a:cs typeface="Calibri"/>
              <a:sym typeface="Calibri"/>
            </a:endParaRPr>
          </a:p>
        </p:txBody>
      </p:sp>
      <p:sp>
        <p:nvSpPr>
          <p:cNvPr id="252" name="Google Shape;252;p13"/>
          <p:cNvSpPr/>
          <p:nvPr/>
        </p:nvSpPr>
        <p:spPr>
          <a:xfrm>
            <a:off x="496119" y="4263033"/>
            <a:ext cx="8151763" cy="392311"/>
          </a:xfrm>
          <a:prstGeom prst="roundRect">
            <a:avLst>
              <a:gd fmla="val 12142" name="adj"/>
            </a:avLst>
          </a:prstGeom>
          <a:solidFill>
            <a:srgbClr val="5478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3" name="Google Shape;253;p13"/>
          <p:cNvPicPr preferRelativeResize="0"/>
          <p:nvPr/>
        </p:nvPicPr>
        <p:blipFill rotWithShape="1">
          <a:blip r:embed="rId3">
            <a:alphaModFix/>
          </a:blip>
          <a:srcRect b="0" l="0" r="0" t="0"/>
          <a:stretch/>
        </p:blipFill>
        <p:spPr>
          <a:xfrm>
            <a:off x="609526" y="4392364"/>
            <a:ext cx="141759" cy="113407"/>
          </a:xfrm>
          <a:prstGeom prst="rect">
            <a:avLst/>
          </a:prstGeom>
          <a:noFill/>
          <a:ln>
            <a:noFill/>
          </a:ln>
        </p:spPr>
      </p:pic>
      <p:sp>
        <p:nvSpPr>
          <p:cNvPr id="254" name="Google Shape;254;p13"/>
          <p:cNvSpPr/>
          <p:nvPr/>
        </p:nvSpPr>
        <p:spPr>
          <a:xfrm>
            <a:off x="864691" y="4382095"/>
            <a:ext cx="8126983" cy="163264"/>
          </a:xfrm>
          <a:prstGeom prst="rect">
            <a:avLst/>
          </a:prstGeom>
          <a:noFill/>
          <a:ln>
            <a:noFill/>
          </a:ln>
        </p:spPr>
        <p:txBody>
          <a:bodyPr anchorCtr="0" anchor="t" bIns="0" lIns="0" spcFirstLastPara="1" rIns="0" wrap="square" tIns="0">
            <a:noAutofit/>
          </a:bodyPr>
          <a:lstStyle/>
          <a:p>
            <a:pPr indent="0" lvl="0" marL="0" rtl="0" algn="l">
              <a:lnSpc>
                <a:spcPct val="130000"/>
              </a:lnSpc>
              <a:spcBef>
                <a:spcPts val="900"/>
              </a:spcBef>
              <a:spcAft>
                <a:spcPts val="0"/>
              </a:spcAft>
              <a:buClr>
                <a:srgbClr val="4B4A4A"/>
              </a:buClr>
              <a:buSzPts val="1050"/>
              <a:buFont typeface="Geist"/>
              <a:buNone/>
            </a:pPr>
            <a:r>
              <a:rPr b="1" lang="en-US" sz="1050">
                <a:solidFill>
                  <a:schemeClr val="lt1"/>
                </a:solidFill>
                <a:latin typeface="Syne"/>
                <a:ea typeface="Syne"/>
                <a:cs typeface="Syne"/>
                <a:sym typeface="Syne"/>
              </a:rPr>
              <a:t>"From Image Capture to Verified Treatment."</a:t>
            </a:r>
            <a:endParaRPr b="1" sz="1050">
              <a:solidFill>
                <a:schemeClr val="lt1"/>
              </a:solidFill>
              <a:latin typeface="Syne"/>
              <a:ea typeface="Syne"/>
              <a:cs typeface="Syne"/>
              <a:sym typeface="Syne"/>
            </a:endParaRPr>
          </a:p>
          <a:p>
            <a:pPr indent="0" lvl="0" marL="0" marR="0" rtl="0" algn="l">
              <a:lnSpc>
                <a:spcPct val="120000"/>
              </a:lnSpc>
              <a:spcBef>
                <a:spcPts val="0"/>
              </a:spcBef>
              <a:spcAft>
                <a:spcPts val="0"/>
              </a:spcAft>
              <a:buClr>
                <a:srgbClr val="FFFFFF"/>
              </a:buClr>
              <a:buSzPts val="850"/>
              <a:buFont typeface="Syne"/>
              <a:buNone/>
            </a:pPr>
            <a:r>
              <a:t/>
            </a:r>
            <a:endParaRPr b="1" sz="850">
              <a:solidFill>
                <a:schemeClr val="lt1"/>
              </a:solidFill>
              <a:latin typeface="Syne"/>
              <a:ea typeface="Syne"/>
              <a:cs typeface="Syne"/>
              <a:sym typeface="Syne"/>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