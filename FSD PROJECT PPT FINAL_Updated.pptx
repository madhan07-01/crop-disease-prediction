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0"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65" r:id="rId18"/>
  </p:sldIdLst>
  <p:sldSz cx="9144000" cy="5143500" type="screen16x9"/>
  <p:notesSz cx="5143500" cy="9144000"/>
  <p:embeddedFontLst>
    <p:embeddedFont>
      <p:font typeface="Geist" panose="020B0604020202020204" charset="0"/>
      <p:regular r:id="rId20"/>
      <p:bold r:id="rId21"/>
      <p:italic r:id="rId22"/>
      <p:boldItalic r:id="rId23"/>
    </p:embeddedFont>
    <p:embeddedFont>
      <p:font typeface="Syne" panose="020B0604020202020204" charset="0"/>
      <p:regular r:id="rId24"/>
      <p:bold r:id="rId25"/>
    </p:embeddedFont>
    <p:embeddedFont>
      <p:font typeface="Syne ExtraBold" panose="020B0604020202020204" charset="0"/>
      <p:bold r:id="rId26"/>
    </p:embeddedFont>
    <p:embeddedFont>
      <p:font typeface="Syne Medium" panose="020B0604020202020204" charset="0"/>
      <p:regular r:id="rId27"/>
      <p:bold r:id="rId28"/>
    </p:embeddedFont>
    <p:embeddedFont>
      <p:font typeface="Syne SemiBold" panose="020B0604020202020204" charset="0"/>
      <p:regular r:id="rId29"/>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666" y="9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font" Target="fonts/font1.fntdata"/><Relationship Id="rId21" Type="http://schemas.openxmlformats.org/officeDocument/2006/relationships/font" Target="fonts/font2.fntdata"/><Relationship Id="rId22" Type="http://schemas.openxmlformats.org/officeDocument/2006/relationships/font" Target="fonts/font3.fntdata"/><Relationship Id="rId23" Type="http://schemas.openxmlformats.org/officeDocument/2006/relationships/font" Target="fonts/font4.fntdata"/><Relationship Id="rId24" Type="http://schemas.openxmlformats.org/officeDocument/2006/relationships/font" Target="fonts/font5.fntdata"/><Relationship Id="rId25" Type="http://schemas.openxmlformats.org/officeDocument/2006/relationships/font" Target="fonts/font6.fntdata"/><Relationship Id="rId26" Type="http://schemas.openxmlformats.org/officeDocument/2006/relationships/font" Target="fonts/font7.fntdata"/><Relationship Id="rId27" Type="http://schemas.openxmlformats.org/officeDocument/2006/relationships/font" Target="fonts/font8.fntdata"/><Relationship Id="rId28" Type="http://schemas.openxmlformats.org/officeDocument/2006/relationships/font" Target="fonts/font9.fntdata"/><Relationship Id="rId29" Type="http://schemas.openxmlformats.org/officeDocument/2006/relationships/font" Target="fonts/font10.fntdata"/><Relationship Id="rId30" Type="http://schemas.openxmlformats.org/officeDocument/2006/relationships/font" Target="fonts/font11.fntdata"/><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 name="Google Shape;1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 name="Google Shape;1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 name="Google Shape;3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 name="Google Shape;3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master 1">
  <p:cSld name="Slide master 1">
    <p:spTree>
      <p:nvGrpSpPr>
        <p:cNvPr id="1" name="Shape 10"/>
        <p:cNvGrpSpPr/>
        <p:nvPr/>
      </p:nvGrpSpPr>
      <p:grpSpPr>
        <a:xfrm>
          <a:off x="0" y="0"/>
          <a:ext cx="0" cy="0"/>
          <a:chOff x="0" y="0"/>
          <a:chExt cx="0" cy="0"/>
        </a:xfrm>
      </p:grpSpPr>
      <p:pic>
        <p:nvPicPr>
          <p:cNvPr id="11" name="Google Shape;11;p2" descr="preencoded.pn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12" name="Google Shape;12;p2"/>
          <p:cNvSpPr/>
          <p:nvPr/>
        </p:nvSpPr>
        <p:spPr>
          <a:xfrm>
            <a:off x="0" y="0"/>
            <a:ext cx="9144000" cy="5143500"/>
          </a:xfrm>
          <a:prstGeom prst="rect">
            <a:avLst/>
          </a:prstGeom>
          <a:solidFill>
            <a:srgbClr val="152025">
              <a:alpha val="9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2" descr="preencoded.png">
            <a:hlinkClick r:id="rId3"/>
          </p:cNvPr>
          <p:cNvPicPr preferRelativeResize="0"/>
          <p:nvPr/>
        </p:nvPicPr>
        <p:blipFill rotWithShape="1">
          <a:blip r:embed="rId4">
            <a:alphaModFix/>
          </a:blip>
          <a:srcRect/>
          <a:stretch/>
        </p:blipFill>
        <p:spPr>
          <a:xfrm>
            <a:off x="8029180" y="48444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Lst>
  <p:transition spd="med">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3">
            <a:alphaModFix/>
          </a:blip>
          <a:srcRect/>
          <a:stretch/>
        </p:blipFill>
        <p:spPr>
          <a:xfrm>
            <a:off x="0" y="0"/>
            <a:ext cx="3429000" cy="5143500"/>
          </a:xfrm>
          <a:prstGeom prst="rect">
            <a:avLst/>
          </a:prstGeom>
          <a:noFill/>
          <a:ln>
            <a:noFill/>
          </a:ln>
        </p:spPr>
      </p:pic>
      <p:sp>
        <p:nvSpPr>
          <p:cNvPr id="21" name="Google Shape;21;p4"/>
          <p:cNvSpPr/>
          <p:nvPr/>
        </p:nvSpPr>
        <p:spPr>
          <a:xfrm>
            <a:off x="3925119" y="1582564"/>
            <a:ext cx="4722763" cy="442987"/>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0F4F1"/>
              </a:buClr>
              <a:buSzPts val="2750"/>
              <a:buFont typeface="Syne ExtraBold"/>
              <a:buNone/>
            </a:pPr>
            <a:r>
              <a:rPr lang="en-US" sz="2750" b="0" i="0" u="none" strike="noStrike" cap="none">
                <a:solidFill>
                  <a:srgbClr val="F0F4F1"/>
                </a:solidFill>
                <a:latin typeface="Syne ExtraBold"/>
                <a:ea typeface="Syne ExtraBold"/>
                <a:cs typeface="Syne ExtraBold"/>
                <a:sym typeface="Syne ExtraBold"/>
              </a:rPr>
              <a:t>AgriVision</a:t>
            </a:r>
            <a:endParaRPr sz="2750" b="0" i="0" u="none" strike="noStrike" cap="none">
              <a:solidFill>
                <a:schemeClr val="dk1"/>
              </a:solidFill>
              <a:latin typeface="Calibri"/>
              <a:ea typeface="Calibri"/>
              <a:cs typeface="Calibri"/>
              <a:sym typeface="Calibri"/>
            </a:endParaRPr>
          </a:p>
        </p:txBody>
      </p:sp>
      <p:sp>
        <p:nvSpPr>
          <p:cNvPr id="22" name="Google Shape;22;p4"/>
          <p:cNvSpPr/>
          <p:nvPr/>
        </p:nvSpPr>
        <p:spPr>
          <a:xfrm>
            <a:off x="3925119" y="2082254"/>
            <a:ext cx="4722763" cy="66436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0F4F1"/>
              </a:buClr>
              <a:buSzPts val="1350"/>
              <a:buFont typeface="Syne ExtraBold"/>
              <a:buNone/>
            </a:pPr>
            <a:r>
              <a:rPr lang="en-US" sz="1350" b="0" i="0" u="none" strike="noStrike" cap="none">
                <a:solidFill>
                  <a:srgbClr val="F0F4F1"/>
                </a:solidFill>
                <a:latin typeface="Syne ExtraBold"/>
                <a:ea typeface="Syne ExtraBold"/>
                <a:cs typeface="Syne ExtraBold"/>
                <a:sym typeface="Syne ExtraBold"/>
              </a:rPr>
              <a:t>AI-Driven Crop Disease Prediction via MERN Stack &amp; CNN</a:t>
            </a:r>
            <a:endParaRPr sz="1350" b="0" i="0" u="none" strike="noStrike" cap="none">
              <a:solidFill>
                <a:schemeClr val="dk1"/>
              </a:solidFill>
              <a:latin typeface="Calibri"/>
              <a:ea typeface="Calibri"/>
              <a:cs typeface="Calibri"/>
              <a:sym typeface="Calibri"/>
            </a:endParaRPr>
          </a:p>
        </p:txBody>
      </p:sp>
      <p:sp>
        <p:nvSpPr>
          <p:cNvPr id="23" name="Google Shape;23;p4"/>
          <p:cNvSpPr/>
          <p:nvPr/>
        </p:nvSpPr>
        <p:spPr>
          <a:xfrm>
            <a:off x="3925125" y="2803325"/>
            <a:ext cx="4565100" cy="276600"/>
          </a:xfrm>
          <a:prstGeom prst="rect">
            <a:avLst/>
          </a:prstGeom>
          <a:solidFill>
            <a:srgbClr val="000000">
              <a:alpha val="0"/>
            </a:srgbClr>
          </a:solidFill>
          <a:ln w="9525" cap="flat" cmpd="sng">
            <a:solidFill>
              <a:srgbClr val="547808"/>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D7E5D8"/>
              </a:buClr>
              <a:buSzPts val="1100"/>
              <a:buFont typeface="Syne"/>
              <a:buNone/>
            </a:pPr>
            <a:r>
              <a:rPr lang="en-US" sz="1300" b="1">
                <a:solidFill>
                  <a:srgbClr val="D7E5D8"/>
                </a:solidFill>
                <a:latin typeface="Syne"/>
                <a:ea typeface="Syne"/>
                <a:cs typeface="Syne"/>
                <a:sym typeface="Syne"/>
              </a:rPr>
              <a:t>SUBJECT : </a:t>
            </a:r>
            <a:r>
              <a:rPr lang="en-US" sz="1300" b="1" i="0" u="none" strike="noStrike" cap="none">
                <a:solidFill>
                  <a:srgbClr val="D7E5D8"/>
                </a:solidFill>
                <a:latin typeface="Syne"/>
                <a:ea typeface="Syne"/>
                <a:cs typeface="Syne"/>
                <a:sym typeface="Syne"/>
              </a:rPr>
              <a:t>Full Stack Development </a:t>
            </a:r>
            <a:endParaRPr sz="1300" b="1" i="0" u="none" strike="noStrike" cap="none">
              <a:solidFill>
                <a:schemeClr val="dk1"/>
              </a:solidFill>
              <a:latin typeface="Syne"/>
              <a:ea typeface="Syne"/>
              <a:cs typeface="Syne"/>
              <a:sym typeface="Syne"/>
            </a:endParaRPr>
          </a:p>
        </p:txBody>
      </p:sp>
      <p:sp>
        <p:nvSpPr>
          <p:cNvPr id="24" name="Google Shape;24;p4"/>
          <p:cNvSpPr/>
          <p:nvPr/>
        </p:nvSpPr>
        <p:spPr>
          <a:xfrm>
            <a:off x="3925119" y="3345507"/>
            <a:ext cx="1792932" cy="215354"/>
          </a:xfrm>
          <a:prstGeom prst="roundRect">
            <a:avLst>
              <a:gd name="adj" fmla="val 22119"/>
            </a:avLst>
          </a:prstGeom>
          <a:noFill/>
          <a:ln w="9525" cap="flat" cmpd="sng">
            <a:solidFill>
              <a:srgbClr val="A9F00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4"/>
          <p:cNvSpPr/>
          <p:nvPr/>
        </p:nvSpPr>
        <p:spPr>
          <a:xfrm>
            <a:off x="4010174" y="3387998"/>
            <a:ext cx="2080022" cy="130373"/>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A9F00F"/>
              </a:buClr>
              <a:buSzPts val="850"/>
              <a:buFont typeface="Syne"/>
              <a:buNone/>
            </a:pPr>
            <a:r>
              <a:rPr lang="en-US" sz="850" b="0" i="0" u="none" strike="noStrike" cap="none">
                <a:solidFill>
                  <a:srgbClr val="A9F00F"/>
                </a:solidFill>
                <a:latin typeface="Syne"/>
                <a:ea typeface="Syne"/>
                <a:cs typeface="Syne"/>
                <a:sym typeface="Syne"/>
              </a:rPr>
              <a:t>PRESENTED B</a:t>
            </a:r>
            <a:r>
              <a:rPr lang="en-US" sz="850">
                <a:solidFill>
                  <a:srgbClr val="A9F00F"/>
                </a:solidFill>
                <a:latin typeface="Syne"/>
                <a:ea typeface="Syne"/>
                <a:cs typeface="Syne"/>
                <a:sym typeface="Syne"/>
              </a:rPr>
              <a:t>Y : MADHAN V M</a:t>
            </a:r>
            <a:endParaRPr sz="850" b="0" i="0" u="none" strike="noStrike" cap="none">
              <a:solidFill>
                <a:schemeClr val="dk1"/>
              </a:solidFill>
              <a:latin typeface="Calibri"/>
              <a:ea typeface="Calibri"/>
              <a:cs typeface="Calibri"/>
              <a:sym typeface="Calibri"/>
            </a:endParaRPr>
          </a:p>
        </p:txBody>
      </p:sp>
      <p:sp>
        <p:nvSpPr>
          <p:cNvPr id="26" name="Google Shape;26;p4"/>
          <p:cNvSpPr/>
          <p:nvPr/>
        </p:nvSpPr>
        <p:spPr>
          <a:xfrm>
            <a:off x="5788893" y="3345507"/>
            <a:ext cx="1202903" cy="215354"/>
          </a:xfrm>
          <a:prstGeom prst="roundRect">
            <a:avLst>
              <a:gd name="adj" fmla="val 22119"/>
            </a:avLst>
          </a:prstGeom>
          <a:noFill/>
          <a:ln w="9525" cap="flat" cmpd="sng">
            <a:solidFill>
              <a:srgbClr val="A9F00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a:off x="5873948" y="3387998"/>
            <a:ext cx="1489993" cy="130373"/>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A9F00F"/>
              </a:buClr>
              <a:buSzPts val="850"/>
              <a:buFont typeface="Syne"/>
              <a:buNone/>
            </a:pPr>
            <a:r>
              <a:rPr lang="en-US" sz="850">
                <a:solidFill>
                  <a:srgbClr val="A9F00F"/>
                </a:solidFill>
                <a:latin typeface="Syne"/>
                <a:ea typeface="Syne"/>
                <a:cs typeface="Syne"/>
                <a:sym typeface="Syne"/>
              </a:rPr>
              <a:t>310624104172</a:t>
            </a:r>
            <a:endParaRPr sz="850" b="0" i="0" u="none" strike="noStrike" cap="none">
              <a:solidFill>
                <a:schemeClr val="dk1"/>
              </a:solidFill>
              <a:latin typeface="Calibri"/>
              <a:ea typeface="Calibri"/>
              <a:cs typeface="Calibri"/>
              <a:sym typeface="Calibri"/>
            </a:endParaRPr>
          </a:p>
        </p:txBody>
      </p:sp>
      <p:sp>
        <p:nvSpPr>
          <p:cNvPr id="28" name="Google Shape;28;p4"/>
          <p:cNvSpPr/>
          <p:nvPr/>
        </p:nvSpPr>
        <p:spPr>
          <a:xfrm>
            <a:off x="3632200" y="518400"/>
            <a:ext cx="5442000" cy="616200"/>
          </a:xfrm>
          <a:prstGeom prst="rect">
            <a:avLst/>
          </a:prstGeom>
          <a:noFill/>
          <a:ln>
            <a:noFill/>
          </a:ln>
        </p:spPr>
        <p:txBody>
          <a:bodyPr spcFirstLastPara="1" wrap="square" lIns="0" tIns="0" rIns="0" bIns="0" anchor="t" anchorCtr="0">
            <a:noAutofit/>
          </a:bodyPr>
          <a:lstStyle/>
          <a:p>
            <a:pPr marL="0" marR="0" lvl="0" indent="0" algn="ctr" rtl="0">
              <a:lnSpc>
                <a:spcPct val="96000"/>
              </a:lnSpc>
              <a:spcBef>
                <a:spcPts val="0"/>
              </a:spcBef>
              <a:spcAft>
                <a:spcPts val="0"/>
              </a:spcAft>
              <a:buClr>
                <a:srgbClr val="A9F00F"/>
              </a:buClr>
              <a:buSzPts val="850"/>
              <a:buFont typeface="Syne"/>
              <a:buNone/>
            </a:pPr>
            <a:r>
              <a:rPr lang="en-US" sz="1950">
                <a:solidFill>
                  <a:schemeClr val="lt1"/>
                </a:solidFill>
                <a:latin typeface="Syne ExtraBold"/>
                <a:ea typeface="Syne ExtraBold"/>
                <a:cs typeface="Syne ExtraBold"/>
                <a:sym typeface="Syne ExtraBold"/>
              </a:rPr>
              <a:t>EASWARI ENGINEERING COLLEGE</a:t>
            </a:r>
            <a:endParaRPr sz="1950" i="0" u="none" strike="noStrike" cap="none">
              <a:solidFill>
                <a:schemeClr val="lt1"/>
              </a:solidFill>
              <a:latin typeface="Syne ExtraBold"/>
              <a:ea typeface="Syne ExtraBold"/>
              <a:cs typeface="Syne ExtraBold"/>
              <a:sym typeface="Syne ExtraBold"/>
            </a:endParaRPr>
          </a:p>
        </p:txBody>
      </p:sp>
      <p:sp>
        <p:nvSpPr>
          <p:cNvPr id="29" name="Google Shape;29;p4"/>
          <p:cNvSpPr/>
          <p:nvPr/>
        </p:nvSpPr>
        <p:spPr>
          <a:xfrm>
            <a:off x="3925128" y="3769725"/>
            <a:ext cx="2786700" cy="215400"/>
          </a:xfrm>
          <a:prstGeom prst="roundRect">
            <a:avLst>
              <a:gd name="adj" fmla="val 22119"/>
            </a:avLst>
          </a:prstGeom>
          <a:noFill/>
          <a:ln w="9525" cap="flat" cmpd="sng">
            <a:solidFill>
              <a:srgbClr val="A9F00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a:solidFill>
                  <a:schemeClr val="lt1"/>
                </a:solidFill>
                <a:latin typeface="Syne SemiBold"/>
                <a:ea typeface="Syne SemiBold"/>
                <a:cs typeface="Syne SemiBold"/>
                <a:sym typeface="Syne SemiBold"/>
              </a:rPr>
              <a:t>ZERO’TH REVIEW</a:t>
            </a:r>
            <a:endParaRPr>
              <a:solidFill>
                <a:schemeClr val="lt1"/>
              </a:solidFill>
              <a:latin typeface="Syne SemiBold"/>
              <a:ea typeface="Syne SemiBold"/>
              <a:cs typeface="Syne SemiBold"/>
              <a:sym typeface="Syne SemiBo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sp>
        <p:nvSpPr>
          <p:cNvPr id="35" name="Google Shape;35;p5"/>
          <p:cNvSpPr/>
          <p:nvPr/>
        </p:nvSpPr>
        <p:spPr>
          <a:xfrm>
            <a:off x="496119" y="924892"/>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36" name="Google Shape;36;p5"/>
          <p:cNvSpPr/>
          <p:nvPr/>
        </p:nvSpPr>
        <p:spPr>
          <a:xfrm>
            <a:off x="496119" y="1646783"/>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37" name="Google Shape;37;p5"/>
          <p:cNvSpPr/>
          <p:nvPr/>
        </p:nvSpPr>
        <p:spPr>
          <a:xfrm>
            <a:off x="496119" y="2368674"/>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pic>
        <p:nvPicPr>
          <p:cNvPr id="38" name="Google Shape;38;p5" descr="preencoded.png"/>
          <p:cNvPicPr preferRelativeResize="0"/>
          <p:nvPr/>
        </p:nvPicPr>
        <p:blipFill rotWithShape="1">
          <a:blip r:embed="rId3">
            <a:alphaModFix/>
          </a:blip>
          <a:srcRect/>
          <a:stretch/>
        </p:blipFill>
        <p:spPr>
          <a:xfrm>
            <a:off x="5715000" y="0"/>
            <a:ext cx="3429000" cy="5143500"/>
          </a:xfrm>
          <a:prstGeom prst="rect">
            <a:avLst/>
          </a:prstGeom>
          <a:noFill/>
          <a:ln>
            <a:noFill/>
          </a:ln>
        </p:spPr>
      </p:pic>
      <p:sp>
        <p:nvSpPr>
          <p:cNvPr id="39" name="Google Shape;39;p5"/>
          <p:cNvSpPr/>
          <p:nvPr/>
        </p:nvSpPr>
        <p:spPr>
          <a:xfrm>
            <a:off x="496119" y="434504"/>
            <a:ext cx="4722900" cy="354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2200"/>
              <a:buFont typeface="Arial"/>
              <a:buNone/>
            </a:pPr>
            <a:r>
              <a:rPr lang="en-US" sz="2200" b="1" i="0" u="none" strike="noStrike" cap="none">
                <a:solidFill>
                  <a:srgbClr val="D1EFE4"/>
                </a:solidFill>
                <a:latin typeface="Syne"/>
                <a:ea typeface="Syne"/>
                <a:cs typeface="Syne"/>
                <a:sym typeface="Syne"/>
              </a:rPr>
              <a:t>Table of Contents</a:t>
            </a:r>
            <a:endParaRPr sz="2200" b="1" i="0" u="none" strike="noStrike" cap="none">
              <a:solidFill>
                <a:srgbClr val="D1EFE4"/>
              </a:solidFill>
              <a:latin typeface="Syne"/>
              <a:ea typeface="Syne"/>
              <a:cs typeface="Syne"/>
              <a:sym typeface="Syne"/>
            </a:endParaRPr>
          </a:p>
        </p:txBody>
      </p:sp>
      <p:sp>
        <p:nvSpPr>
          <p:cNvPr id="40" name="Google Shape;40;p5"/>
          <p:cNvSpPr/>
          <p:nvPr/>
        </p:nvSpPr>
        <p:spPr>
          <a:xfrm>
            <a:off x="614288" y="1043062"/>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01</a:t>
            </a:r>
            <a:endParaRPr sz="1100" i="0" u="none" strike="noStrike" cap="none">
              <a:solidFill>
                <a:schemeClr val="lt1"/>
              </a:solidFill>
              <a:latin typeface="Syne Medium"/>
              <a:ea typeface="Syne Medium"/>
              <a:cs typeface="Syne Medium"/>
              <a:sym typeface="Syne Medium"/>
            </a:endParaRPr>
          </a:p>
        </p:txBody>
      </p:sp>
      <p:sp>
        <p:nvSpPr>
          <p:cNvPr id="41" name="Google Shape;41;p5"/>
          <p:cNvSpPr/>
          <p:nvPr/>
        </p:nvSpPr>
        <p:spPr>
          <a:xfrm>
            <a:off x="614288" y="1274638"/>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Abstract</a:t>
            </a:r>
            <a:endParaRPr sz="850" i="0" u="none" strike="noStrike" cap="none">
              <a:solidFill>
                <a:schemeClr val="lt1"/>
              </a:solidFill>
              <a:latin typeface="Syne Medium"/>
              <a:ea typeface="Syne Medium"/>
              <a:cs typeface="Syne Medium"/>
              <a:sym typeface="Syne Medium"/>
            </a:endParaRPr>
          </a:p>
        </p:txBody>
      </p:sp>
      <p:sp>
        <p:nvSpPr>
          <p:cNvPr id="42" name="Google Shape;42;p5"/>
          <p:cNvSpPr/>
          <p:nvPr/>
        </p:nvSpPr>
        <p:spPr>
          <a:xfrm>
            <a:off x="2902818" y="924892"/>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43" name="Google Shape;43;p5"/>
          <p:cNvSpPr/>
          <p:nvPr/>
        </p:nvSpPr>
        <p:spPr>
          <a:xfrm>
            <a:off x="3020988" y="1043062"/>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02</a:t>
            </a:r>
            <a:endParaRPr sz="1100" i="0" u="none" strike="noStrike" cap="none">
              <a:solidFill>
                <a:schemeClr val="lt1"/>
              </a:solidFill>
              <a:latin typeface="Syne Medium"/>
              <a:ea typeface="Syne Medium"/>
              <a:cs typeface="Syne Medium"/>
              <a:sym typeface="Syne Medium"/>
            </a:endParaRPr>
          </a:p>
        </p:txBody>
      </p:sp>
      <p:sp>
        <p:nvSpPr>
          <p:cNvPr id="44" name="Google Shape;44;p5"/>
          <p:cNvSpPr/>
          <p:nvPr/>
        </p:nvSpPr>
        <p:spPr>
          <a:xfrm>
            <a:off x="3020988" y="1274638"/>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Problem Statement</a:t>
            </a:r>
            <a:endParaRPr sz="850" i="0" u="none" strike="noStrike" cap="none">
              <a:solidFill>
                <a:schemeClr val="lt1"/>
              </a:solidFill>
              <a:latin typeface="Syne Medium"/>
              <a:ea typeface="Syne Medium"/>
              <a:cs typeface="Syne Medium"/>
              <a:sym typeface="Syne Medium"/>
            </a:endParaRPr>
          </a:p>
        </p:txBody>
      </p:sp>
      <p:sp>
        <p:nvSpPr>
          <p:cNvPr id="45" name="Google Shape;45;p5"/>
          <p:cNvSpPr/>
          <p:nvPr/>
        </p:nvSpPr>
        <p:spPr>
          <a:xfrm>
            <a:off x="614288" y="1764953"/>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03</a:t>
            </a:r>
            <a:endParaRPr sz="1100" i="0" u="none" strike="noStrike" cap="none">
              <a:solidFill>
                <a:schemeClr val="lt1"/>
              </a:solidFill>
              <a:latin typeface="Syne Medium"/>
              <a:ea typeface="Syne Medium"/>
              <a:cs typeface="Syne Medium"/>
              <a:sym typeface="Syne Medium"/>
            </a:endParaRPr>
          </a:p>
        </p:txBody>
      </p:sp>
      <p:sp>
        <p:nvSpPr>
          <p:cNvPr id="46" name="Google Shape;46;p5"/>
          <p:cNvSpPr/>
          <p:nvPr/>
        </p:nvSpPr>
        <p:spPr>
          <a:xfrm>
            <a:off x="614288" y="1996529"/>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Proposed Solution</a:t>
            </a:r>
            <a:endParaRPr sz="850" i="0" u="none" strike="noStrike" cap="none">
              <a:solidFill>
                <a:schemeClr val="lt1"/>
              </a:solidFill>
              <a:latin typeface="Syne Medium"/>
              <a:ea typeface="Syne Medium"/>
              <a:cs typeface="Syne Medium"/>
              <a:sym typeface="Syne Medium"/>
            </a:endParaRPr>
          </a:p>
        </p:txBody>
      </p:sp>
      <p:sp>
        <p:nvSpPr>
          <p:cNvPr id="47" name="Google Shape;47;p5"/>
          <p:cNvSpPr/>
          <p:nvPr/>
        </p:nvSpPr>
        <p:spPr>
          <a:xfrm>
            <a:off x="2902818" y="1646783"/>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48" name="Google Shape;48;p5"/>
          <p:cNvSpPr/>
          <p:nvPr/>
        </p:nvSpPr>
        <p:spPr>
          <a:xfrm>
            <a:off x="3020988" y="1764953"/>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04</a:t>
            </a:r>
            <a:endParaRPr sz="1100" i="0" u="none" strike="noStrike" cap="none">
              <a:solidFill>
                <a:schemeClr val="lt1"/>
              </a:solidFill>
              <a:latin typeface="Syne Medium"/>
              <a:ea typeface="Syne Medium"/>
              <a:cs typeface="Syne Medium"/>
              <a:sym typeface="Syne Medium"/>
            </a:endParaRPr>
          </a:p>
        </p:txBody>
      </p:sp>
      <p:sp>
        <p:nvSpPr>
          <p:cNvPr id="49" name="Google Shape;49;p5"/>
          <p:cNvSpPr/>
          <p:nvPr/>
        </p:nvSpPr>
        <p:spPr>
          <a:xfrm>
            <a:off x="3020988" y="1996529"/>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Objectives</a:t>
            </a:r>
            <a:endParaRPr sz="850" i="0" u="none" strike="noStrike" cap="none">
              <a:solidFill>
                <a:schemeClr val="lt1"/>
              </a:solidFill>
              <a:latin typeface="Syne Medium"/>
              <a:ea typeface="Syne Medium"/>
              <a:cs typeface="Syne Medium"/>
              <a:sym typeface="Syne Medium"/>
            </a:endParaRPr>
          </a:p>
        </p:txBody>
      </p:sp>
      <p:sp>
        <p:nvSpPr>
          <p:cNvPr id="50" name="Google Shape;50;p5"/>
          <p:cNvSpPr/>
          <p:nvPr/>
        </p:nvSpPr>
        <p:spPr>
          <a:xfrm>
            <a:off x="614288" y="2486844"/>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05</a:t>
            </a:r>
            <a:endParaRPr sz="1100" i="0" u="none" strike="noStrike" cap="none">
              <a:solidFill>
                <a:schemeClr val="lt1"/>
              </a:solidFill>
              <a:latin typeface="Syne Medium"/>
              <a:ea typeface="Syne Medium"/>
              <a:cs typeface="Syne Medium"/>
              <a:sym typeface="Syne Medium"/>
            </a:endParaRPr>
          </a:p>
        </p:txBody>
      </p:sp>
      <p:sp>
        <p:nvSpPr>
          <p:cNvPr id="51" name="Google Shape;51;p5"/>
          <p:cNvSpPr/>
          <p:nvPr/>
        </p:nvSpPr>
        <p:spPr>
          <a:xfrm>
            <a:off x="614288" y="2718420"/>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System Modules</a:t>
            </a:r>
            <a:endParaRPr sz="850" i="0" u="none" strike="noStrike" cap="none">
              <a:solidFill>
                <a:schemeClr val="lt1"/>
              </a:solidFill>
              <a:latin typeface="Syne Medium"/>
              <a:ea typeface="Syne Medium"/>
              <a:cs typeface="Syne Medium"/>
              <a:sym typeface="Syne Medium"/>
            </a:endParaRPr>
          </a:p>
        </p:txBody>
      </p:sp>
      <p:sp>
        <p:nvSpPr>
          <p:cNvPr id="52" name="Google Shape;52;p5"/>
          <p:cNvSpPr/>
          <p:nvPr/>
        </p:nvSpPr>
        <p:spPr>
          <a:xfrm>
            <a:off x="2902818" y="2368674"/>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53" name="Google Shape;53;p5"/>
          <p:cNvSpPr/>
          <p:nvPr/>
        </p:nvSpPr>
        <p:spPr>
          <a:xfrm>
            <a:off x="3020988" y="2486844"/>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06</a:t>
            </a:r>
            <a:endParaRPr sz="1100" i="0" u="none" strike="noStrike" cap="none">
              <a:solidFill>
                <a:schemeClr val="lt1"/>
              </a:solidFill>
              <a:latin typeface="Syne Medium"/>
              <a:ea typeface="Syne Medium"/>
              <a:cs typeface="Syne Medium"/>
              <a:sym typeface="Syne Medium"/>
            </a:endParaRPr>
          </a:p>
        </p:txBody>
      </p:sp>
      <p:sp>
        <p:nvSpPr>
          <p:cNvPr id="54" name="Google Shape;54;p5"/>
          <p:cNvSpPr/>
          <p:nvPr/>
        </p:nvSpPr>
        <p:spPr>
          <a:xfrm>
            <a:off x="3020988" y="2718420"/>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System Workflow</a:t>
            </a:r>
            <a:endParaRPr sz="850" i="0" u="none" strike="noStrike" cap="none">
              <a:solidFill>
                <a:schemeClr val="lt1"/>
              </a:solidFill>
              <a:latin typeface="Syne Medium"/>
              <a:ea typeface="Syne Medium"/>
              <a:cs typeface="Syne Medium"/>
              <a:sym typeface="Syne Medium"/>
            </a:endParaRPr>
          </a:p>
        </p:txBody>
      </p:sp>
      <p:sp>
        <p:nvSpPr>
          <p:cNvPr id="55" name="Google Shape;55;p5"/>
          <p:cNvSpPr/>
          <p:nvPr/>
        </p:nvSpPr>
        <p:spPr>
          <a:xfrm>
            <a:off x="496119" y="3090565"/>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56" name="Google Shape;56;p5"/>
          <p:cNvSpPr/>
          <p:nvPr/>
        </p:nvSpPr>
        <p:spPr>
          <a:xfrm>
            <a:off x="614288" y="3208734"/>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07</a:t>
            </a:r>
            <a:endParaRPr sz="1100" i="0" u="none" strike="noStrike" cap="none">
              <a:solidFill>
                <a:schemeClr val="lt1"/>
              </a:solidFill>
              <a:latin typeface="Syne Medium"/>
              <a:ea typeface="Syne Medium"/>
              <a:cs typeface="Syne Medium"/>
              <a:sym typeface="Syne Medium"/>
            </a:endParaRPr>
          </a:p>
        </p:txBody>
      </p:sp>
      <p:sp>
        <p:nvSpPr>
          <p:cNvPr id="57" name="Google Shape;57;p5"/>
          <p:cNvSpPr/>
          <p:nvPr/>
        </p:nvSpPr>
        <p:spPr>
          <a:xfrm>
            <a:off x="614288" y="3440311"/>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Technology Stack</a:t>
            </a:r>
            <a:endParaRPr sz="850" i="0" u="none" strike="noStrike" cap="none">
              <a:solidFill>
                <a:schemeClr val="lt1"/>
              </a:solidFill>
              <a:latin typeface="Syne Medium"/>
              <a:ea typeface="Syne Medium"/>
              <a:cs typeface="Syne Medium"/>
              <a:sym typeface="Syne Medium"/>
            </a:endParaRPr>
          </a:p>
        </p:txBody>
      </p:sp>
      <p:sp>
        <p:nvSpPr>
          <p:cNvPr id="58" name="Google Shape;58;p5"/>
          <p:cNvSpPr/>
          <p:nvPr/>
        </p:nvSpPr>
        <p:spPr>
          <a:xfrm>
            <a:off x="2902818" y="3090565"/>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59" name="Google Shape;59;p5"/>
          <p:cNvSpPr/>
          <p:nvPr/>
        </p:nvSpPr>
        <p:spPr>
          <a:xfrm>
            <a:off x="3020988" y="3208734"/>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08</a:t>
            </a:r>
            <a:endParaRPr sz="1100" i="0" u="none" strike="noStrike" cap="none">
              <a:solidFill>
                <a:schemeClr val="lt1"/>
              </a:solidFill>
              <a:latin typeface="Syne Medium"/>
              <a:ea typeface="Syne Medium"/>
              <a:cs typeface="Syne Medium"/>
              <a:sym typeface="Syne Medium"/>
            </a:endParaRPr>
          </a:p>
        </p:txBody>
      </p:sp>
      <p:sp>
        <p:nvSpPr>
          <p:cNvPr id="60" name="Google Shape;60;p5"/>
          <p:cNvSpPr/>
          <p:nvPr/>
        </p:nvSpPr>
        <p:spPr>
          <a:xfrm>
            <a:off x="3020988" y="3440311"/>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System Architecture</a:t>
            </a:r>
            <a:endParaRPr sz="850" i="0" u="none" strike="noStrike" cap="none">
              <a:solidFill>
                <a:schemeClr val="lt1"/>
              </a:solidFill>
              <a:latin typeface="Syne Medium"/>
              <a:ea typeface="Syne Medium"/>
              <a:cs typeface="Syne Medium"/>
              <a:sym typeface="Syne Medium"/>
            </a:endParaRPr>
          </a:p>
        </p:txBody>
      </p:sp>
      <p:sp>
        <p:nvSpPr>
          <p:cNvPr id="61" name="Google Shape;61;p5"/>
          <p:cNvSpPr/>
          <p:nvPr/>
        </p:nvSpPr>
        <p:spPr>
          <a:xfrm>
            <a:off x="496119" y="3812456"/>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62" name="Google Shape;62;p5"/>
          <p:cNvSpPr/>
          <p:nvPr/>
        </p:nvSpPr>
        <p:spPr>
          <a:xfrm>
            <a:off x="614288" y="3930625"/>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09</a:t>
            </a:r>
            <a:endParaRPr sz="1100" i="0" u="none" strike="noStrike" cap="none">
              <a:solidFill>
                <a:schemeClr val="lt1"/>
              </a:solidFill>
              <a:latin typeface="Syne Medium"/>
              <a:ea typeface="Syne Medium"/>
              <a:cs typeface="Syne Medium"/>
              <a:sym typeface="Syne Medium"/>
            </a:endParaRPr>
          </a:p>
        </p:txBody>
      </p:sp>
      <p:sp>
        <p:nvSpPr>
          <p:cNvPr id="63" name="Google Shape;63;p5"/>
          <p:cNvSpPr/>
          <p:nvPr/>
        </p:nvSpPr>
        <p:spPr>
          <a:xfrm>
            <a:off x="614288" y="4162202"/>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Expected Outcome</a:t>
            </a:r>
            <a:endParaRPr sz="850" i="0" u="none" strike="noStrike" cap="none">
              <a:solidFill>
                <a:schemeClr val="lt1"/>
              </a:solidFill>
              <a:latin typeface="Syne Medium"/>
              <a:ea typeface="Syne Medium"/>
              <a:cs typeface="Syne Medium"/>
              <a:sym typeface="Syne Medium"/>
            </a:endParaRPr>
          </a:p>
        </p:txBody>
      </p:sp>
      <p:sp>
        <p:nvSpPr>
          <p:cNvPr id="64" name="Google Shape;64;p5"/>
          <p:cNvSpPr/>
          <p:nvPr/>
        </p:nvSpPr>
        <p:spPr>
          <a:xfrm>
            <a:off x="2902818" y="3812456"/>
            <a:ext cx="2316000" cy="631200"/>
          </a:xfrm>
          <a:prstGeom prst="roundRect">
            <a:avLst>
              <a:gd name="adj" fmla="val 16172"/>
            </a:avLst>
          </a:prstGeom>
          <a:solidFill>
            <a:srgbClr val="547808"/>
          </a:solidFill>
          <a:ln w="952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yne Medium"/>
              <a:ea typeface="Syne Medium"/>
              <a:cs typeface="Syne Medium"/>
              <a:sym typeface="Syne Medium"/>
            </a:endParaRPr>
          </a:p>
        </p:txBody>
      </p:sp>
      <p:sp>
        <p:nvSpPr>
          <p:cNvPr id="65" name="Google Shape;65;p5"/>
          <p:cNvSpPr/>
          <p:nvPr/>
        </p:nvSpPr>
        <p:spPr>
          <a:xfrm>
            <a:off x="3020988" y="3930625"/>
            <a:ext cx="20796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i="0" u="none" strike="noStrike" cap="none">
                <a:solidFill>
                  <a:schemeClr val="lt1"/>
                </a:solidFill>
                <a:latin typeface="Syne Medium"/>
                <a:ea typeface="Syne Medium"/>
                <a:cs typeface="Syne Medium"/>
                <a:sym typeface="Syne Medium"/>
              </a:rPr>
              <a:t>10</a:t>
            </a:r>
            <a:endParaRPr sz="1100" i="0" u="none" strike="noStrike" cap="none">
              <a:solidFill>
                <a:schemeClr val="lt1"/>
              </a:solidFill>
              <a:latin typeface="Syne Medium"/>
              <a:ea typeface="Syne Medium"/>
              <a:cs typeface="Syne Medium"/>
              <a:sym typeface="Syne Medium"/>
            </a:endParaRPr>
          </a:p>
        </p:txBody>
      </p:sp>
      <p:sp>
        <p:nvSpPr>
          <p:cNvPr id="66" name="Google Shape;66;p5"/>
          <p:cNvSpPr/>
          <p:nvPr/>
        </p:nvSpPr>
        <p:spPr>
          <a:xfrm>
            <a:off x="3020988" y="4162202"/>
            <a:ext cx="2079600" cy="163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Medium"/>
                <a:ea typeface="Syne Medium"/>
                <a:cs typeface="Syne Medium"/>
                <a:sym typeface="Syne Medium"/>
              </a:rPr>
              <a:t>Conclusion</a:t>
            </a:r>
            <a:endParaRPr sz="850" i="0" u="none" strike="noStrike" cap="none">
              <a:solidFill>
                <a:schemeClr val="lt1"/>
              </a:solidFill>
              <a:latin typeface="Syne Medium"/>
              <a:ea typeface="Syne Medium"/>
              <a:cs typeface="Syne Medium"/>
              <a:sym typeface="Syne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E24"/>
        </a:solidFill>
        <a:effectLst/>
      </p:bgPr>
    </p:bg>
    <p:spTree>
      <p:nvGrpSpPr>
        <p:cNvPr id="1" name="Shape 71"/>
        <p:cNvGrpSpPr/>
        <p:nvPr/>
      </p:nvGrpSpPr>
      <p:grpSpPr>
        <a:xfrm>
          <a:off x="0" y="0"/>
          <a:ext cx="0" cy="0"/>
          <a:chOff x="0" y="0"/>
          <a:chExt cx="0" cy="0"/>
        </a:xfrm>
      </p:grpSpPr>
      <p:sp>
        <p:nvSpPr>
          <p:cNvPr id="72" name="Google Shape;72;p6"/>
          <p:cNvSpPr/>
          <p:nvPr/>
        </p:nvSpPr>
        <p:spPr>
          <a:xfrm>
            <a:off x="496119" y="492323"/>
            <a:ext cx="4722900" cy="3324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2050"/>
              <a:buFont typeface="Arial"/>
              <a:buNone/>
            </a:pPr>
            <a:r>
              <a:rPr lang="en-US" sz="2050" b="1" i="0" u="none" strike="noStrike" cap="none">
                <a:solidFill>
                  <a:schemeClr val="lt1"/>
                </a:solidFill>
                <a:latin typeface="Syne"/>
                <a:ea typeface="Syne"/>
                <a:cs typeface="Syne"/>
                <a:sym typeface="Syne"/>
              </a:rPr>
              <a:t>Abstract</a:t>
            </a:r>
            <a:endParaRPr sz="2050" b="1" i="0" u="none" strike="noStrike" cap="none">
              <a:solidFill>
                <a:schemeClr val="lt1"/>
              </a:solidFill>
              <a:latin typeface="Syne"/>
              <a:ea typeface="Syne"/>
              <a:cs typeface="Syne"/>
              <a:sym typeface="Syne"/>
            </a:endParaRPr>
          </a:p>
        </p:txBody>
      </p:sp>
      <p:sp>
        <p:nvSpPr>
          <p:cNvPr id="73" name="Google Shape;73;p6"/>
          <p:cNvSpPr/>
          <p:nvPr/>
        </p:nvSpPr>
        <p:spPr>
          <a:xfrm>
            <a:off x="496119" y="944166"/>
            <a:ext cx="4722900" cy="1726800"/>
          </a:xfrm>
          <a:prstGeom prst="rect">
            <a:avLst/>
          </a:prstGeom>
          <a:noFill/>
          <a:ln>
            <a:noFill/>
          </a:ln>
        </p:spPr>
        <p:txBody>
          <a:bodyPr spcFirstLastPara="1" wrap="square" lIns="0" tIns="0" rIns="0" bIns="0" anchor="t" anchorCtr="0">
            <a:noAutofit/>
          </a:bodyPr>
          <a:lstStyle/>
          <a:p>
            <a:pPr marL="0" marR="0" lvl="0" indent="0" algn="just" rtl="0">
              <a:lnSpc>
                <a:spcPct val="117000"/>
              </a:lnSpc>
              <a:spcBef>
                <a:spcPts val="0"/>
              </a:spcBef>
              <a:spcAft>
                <a:spcPts val="0"/>
              </a:spcAft>
              <a:buClr>
                <a:srgbClr val="4B4A4A"/>
              </a:buClr>
              <a:buSzPts val="800"/>
              <a:buFont typeface="Geist"/>
              <a:buNone/>
            </a:pPr>
            <a:r>
              <a:rPr lang="en-US" sz="800" b="0" i="0" u="none" strike="noStrike" cap="none">
                <a:solidFill>
                  <a:schemeClr val="lt1"/>
                </a:solidFill>
                <a:latin typeface="Geist"/>
                <a:ea typeface="Geist"/>
                <a:cs typeface="Geist"/>
                <a:sym typeface="Geist"/>
              </a:rPr>
              <a:t>Agricultural ecosystems face growing pressure from fungal and bacterial pathogens that degrade crop yield, threaten food security, and increase the burden on farm management teams. Monitoring bodies and farmers must track disease reports, verify affected sites, coordinate treatments, and record farm health readings, but these tasks are often handled through manual logs and disconnected communication channels that slow response times and reduce accuracy.</a:t>
            </a:r>
            <a:endParaRPr sz="800" b="0" i="0" u="none" strike="noStrike" cap="none">
              <a:solidFill>
                <a:schemeClr val="lt1"/>
              </a:solidFill>
              <a:latin typeface="Calibri"/>
              <a:ea typeface="Calibri"/>
              <a:cs typeface="Calibri"/>
              <a:sym typeface="Calibri"/>
            </a:endParaRPr>
          </a:p>
          <a:p>
            <a:pPr marL="0" marR="0" lvl="0" indent="0" algn="just" rtl="0">
              <a:lnSpc>
                <a:spcPct val="117000"/>
              </a:lnSpc>
              <a:spcBef>
                <a:spcPts val="700"/>
              </a:spcBef>
              <a:spcAft>
                <a:spcPts val="0"/>
              </a:spcAft>
              <a:buClr>
                <a:srgbClr val="4B4A4A"/>
              </a:buClr>
              <a:buSzPts val="800"/>
              <a:buFont typeface="Geist"/>
              <a:buNone/>
            </a:pPr>
            <a:r>
              <a:rPr lang="en-US" sz="800" b="0" i="0" u="none" strike="noStrike" cap="none">
                <a:solidFill>
                  <a:schemeClr val="lt1"/>
                </a:solidFill>
                <a:latin typeface="Geist"/>
                <a:ea typeface="Geist"/>
                <a:cs typeface="Geist"/>
                <a:sym typeface="Geist"/>
              </a:rPr>
              <a:t>This project presents a web-based Crop Disease Tracking and Monitoring System that digitalizes and centralizes the entire workflow. Farmers can submit disease incidents, administrators can verify affected locations, and the integrated CNN model compares uploaded image readings against predefined disease thresholds to detect hazardous conditions early. Once treatment is verified, a digital agricultural report is generated and made available through a central dashboard, improving responsiveness, transparency, and decision-making in farm management.</a:t>
            </a:r>
            <a:endParaRPr sz="800" b="0" i="0" u="none" strike="noStrike" cap="none">
              <a:solidFill>
                <a:schemeClr val="lt1"/>
              </a:solidFill>
              <a:latin typeface="Calibri"/>
              <a:ea typeface="Calibri"/>
              <a:cs typeface="Calibri"/>
              <a:sym typeface="Calibri"/>
            </a:endParaRPr>
          </a:p>
        </p:txBody>
      </p:sp>
      <p:sp>
        <p:nvSpPr>
          <p:cNvPr id="74" name="Google Shape;74;p6"/>
          <p:cNvSpPr/>
          <p:nvPr/>
        </p:nvSpPr>
        <p:spPr>
          <a:xfrm>
            <a:off x="496119" y="2760613"/>
            <a:ext cx="4722900" cy="502200"/>
          </a:xfrm>
          <a:prstGeom prst="roundRect">
            <a:avLst>
              <a:gd name="adj" fmla="val 19054"/>
            </a:avLst>
          </a:prstGeom>
          <a:solidFill>
            <a:srgbClr val="54780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5" name="Google Shape;75;p6" descr="preencoded.png"/>
          <p:cNvPicPr preferRelativeResize="0"/>
          <p:nvPr/>
        </p:nvPicPr>
        <p:blipFill rotWithShape="1">
          <a:blip r:embed="rId3">
            <a:alphaModFix/>
          </a:blip>
          <a:srcRect/>
          <a:stretch/>
        </p:blipFill>
        <p:spPr>
          <a:xfrm>
            <a:off x="602382" y="2878634"/>
            <a:ext cx="132904" cy="106263"/>
          </a:xfrm>
          <a:prstGeom prst="rect">
            <a:avLst/>
          </a:prstGeom>
          <a:noFill/>
          <a:ln>
            <a:noFill/>
          </a:ln>
        </p:spPr>
      </p:pic>
      <p:sp>
        <p:nvSpPr>
          <p:cNvPr id="76" name="Google Shape;76;p6"/>
          <p:cNvSpPr/>
          <p:nvPr/>
        </p:nvSpPr>
        <p:spPr>
          <a:xfrm>
            <a:off x="841549" y="2866876"/>
            <a:ext cx="4271100" cy="297600"/>
          </a:xfrm>
          <a:prstGeom prst="rect">
            <a:avLst/>
          </a:prstGeom>
          <a:noFill/>
          <a:ln>
            <a:noFill/>
          </a:ln>
        </p:spPr>
        <p:txBody>
          <a:bodyPr spcFirstLastPara="1" wrap="square" lIns="0" tIns="0" rIns="0" bIns="0" anchor="t" anchorCtr="0">
            <a:noAutofit/>
          </a:bodyPr>
          <a:lstStyle/>
          <a:p>
            <a:pPr marL="0" marR="0" lvl="0" indent="0" algn="l" rtl="0">
              <a:lnSpc>
                <a:spcPct val="117000"/>
              </a:lnSpc>
              <a:spcBef>
                <a:spcPts val="0"/>
              </a:spcBef>
              <a:spcAft>
                <a:spcPts val="0"/>
              </a:spcAft>
              <a:buClr>
                <a:srgbClr val="000000"/>
              </a:buClr>
              <a:buSzPts val="800"/>
              <a:buFont typeface="Geist"/>
              <a:buNone/>
            </a:pPr>
            <a:r>
              <a:rPr lang="en-US" sz="800" i="0" u="none" strike="noStrike" cap="none">
                <a:solidFill>
                  <a:schemeClr val="lt1"/>
                </a:solidFill>
                <a:latin typeface="Syne SemiBold"/>
                <a:ea typeface="Syne SemiBold"/>
                <a:cs typeface="Syne SemiBold"/>
                <a:sym typeface="Syne SemiBold"/>
              </a:rPr>
              <a:t>Digital tracking can reduce reporting delays, improve verification accuracy, and enable faster treatment decisions for affected crops.</a:t>
            </a:r>
            <a:endParaRPr sz="800" i="0" u="none" strike="noStrike" cap="none">
              <a:solidFill>
                <a:schemeClr val="lt1"/>
              </a:solidFill>
              <a:latin typeface="Syne SemiBold"/>
              <a:ea typeface="Syne SemiBold"/>
              <a:cs typeface="Syne SemiBold"/>
              <a:sym typeface="Syne SemiBold"/>
            </a:endParaRPr>
          </a:p>
        </p:txBody>
      </p:sp>
      <p:sp>
        <p:nvSpPr>
          <p:cNvPr id="77" name="Google Shape;77;p6"/>
          <p:cNvSpPr/>
          <p:nvPr/>
        </p:nvSpPr>
        <p:spPr>
          <a:xfrm>
            <a:off x="496119" y="3352502"/>
            <a:ext cx="2321400" cy="573300"/>
          </a:xfrm>
          <a:prstGeom prst="roundRect">
            <a:avLst>
              <a:gd name="adj" fmla="val 16692"/>
            </a:avLst>
          </a:prstGeom>
          <a:solidFill>
            <a:srgbClr val="547808"/>
          </a:solidFill>
          <a:ln w="1427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6"/>
          <p:cNvSpPr/>
          <p:nvPr/>
        </p:nvSpPr>
        <p:spPr>
          <a:xfrm>
            <a:off x="616669" y="3473053"/>
            <a:ext cx="2080500" cy="3321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000"/>
              <a:buFont typeface="Arial"/>
              <a:buNone/>
            </a:pPr>
            <a:r>
              <a:rPr lang="en-US" sz="1000" i="0" u="none" strike="noStrike" cap="none">
                <a:solidFill>
                  <a:schemeClr val="lt1"/>
                </a:solidFill>
                <a:latin typeface="Syne SemiBold"/>
                <a:ea typeface="Syne SemiBold"/>
                <a:cs typeface="Syne SemiBold"/>
                <a:sym typeface="Syne SemiBold"/>
              </a:rPr>
              <a:t>Manual reporting risks delay &amp; poor tracking</a:t>
            </a:r>
            <a:endParaRPr sz="1000" i="0" u="none" strike="noStrike" cap="none">
              <a:solidFill>
                <a:schemeClr val="lt1"/>
              </a:solidFill>
              <a:latin typeface="Syne SemiBold"/>
              <a:ea typeface="Syne SemiBold"/>
              <a:cs typeface="Syne SemiBold"/>
              <a:sym typeface="Syne SemiBold"/>
            </a:endParaRPr>
          </a:p>
        </p:txBody>
      </p:sp>
      <p:sp>
        <p:nvSpPr>
          <p:cNvPr id="79" name="Google Shape;79;p6"/>
          <p:cNvSpPr/>
          <p:nvPr/>
        </p:nvSpPr>
        <p:spPr>
          <a:xfrm>
            <a:off x="2897312" y="3352502"/>
            <a:ext cx="2321700" cy="573300"/>
          </a:xfrm>
          <a:prstGeom prst="roundRect">
            <a:avLst>
              <a:gd name="adj" fmla="val 16692"/>
            </a:avLst>
          </a:prstGeom>
          <a:solidFill>
            <a:srgbClr val="547808"/>
          </a:solidFill>
          <a:ln w="1427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6"/>
          <p:cNvSpPr/>
          <p:nvPr/>
        </p:nvSpPr>
        <p:spPr>
          <a:xfrm>
            <a:off x="3017862" y="3473053"/>
            <a:ext cx="2080500" cy="1662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000"/>
              <a:buFont typeface="Arial"/>
              <a:buNone/>
            </a:pPr>
            <a:r>
              <a:rPr lang="en-US" sz="1000" i="0" u="none" strike="noStrike" cap="none">
                <a:solidFill>
                  <a:schemeClr val="lt1"/>
                </a:solidFill>
                <a:latin typeface="Syne SemiBold"/>
                <a:ea typeface="Syne SemiBold"/>
                <a:cs typeface="Syne SemiBold"/>
                <a:sym typeface="Syne SemiBold"/>
              </a:rPr>
              <a:t>Centralized digital platform</a:t>
            </a:r>
            <a:endParaRPr sz="1000" i="0" u="none" strike="noStrike" cap="none">
              <a:solidFill>
                <a:schemeClr val="lt1"/>
              </a:solidFill>
              <a:latin typeface="Syne SemiBold"/>
              <a:ea typeface="Syne SemiBold"/>
              <a:cs typeface="Syne SemiBold"/>
              <a:sym typeface="Syne SemiBold"/>
            </a:endParaRPr>
          </a:p>
        </p:txBody>
      </p:sp>
      <p:sp>
        <p:nvSpPr>
          <p:cNvPr id="81" name="Google Shape;81;p6"/>
          <p:cNvSpPr/>
          <p:nvPr/>
        </p:nvSpPr>
        <p:spPr>
          <a:xfrm>
            <a:off x="496119" y="4005486"/>
            <a:ext cx="4722900" cy="407100"/>
          </a:xfrm>
          <a:prstGeom prst="roundRect">
            <a:avLst>
              <a:gd name="adj" fmla="val 23501"/>
            </a:avLst>
          </a:prstGeom>
          <a:solidFill>
            <a:srgbClr val="547808"/>
          </a:solidFill>
          <a:ln w="14275" cap="flat" cmpd="sng">
            <a:solidFill>
              <a:srgbClr val="B7D5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p:nvPr/>
        </p:nvSpPr>
        <p:spPr>
          <a:xfrm>
            <a:off x="616669" y="4126037"/>
            <a:ext cx="4481700" cy="1662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000"/>
              <a:buFont typeface="Arial"/>
              <a:buNone/>
            </a:pPr>
            <a:r>
              <a:rPr lang="en-US" sz="1000" i="0" u="none" strike="noStrike" cap="none">
                <a:solidFill>
                  <a:schemeClr val="lt1"/>
                </a:solidFill>
                <a:latin typeface="Syne SemiBold"/>
                <a:ea typeface="Syne SemiBold"/>
                <a:cs typeface="Syne SemiBold"/>
                <a:sym typeface="Syne SemiBold"/>
              </a:rPr>
              <a:t>Auto threshold-based disease alerts</a:t>
            </a:r>
            <a:endParaRPr sz="1000" i="0" u="none" strike="noStrike" cap="none">
              <a:solidFill>
                <a:schemeClr val="lt1"/>
              </a:solidFill>
              <a:latin typeface="Syne SemiBold"/>
              <a:ea typeface="Syne SemiBold"/>
              <a:cs typeface="Syne SemiBold"/>
              <a:sym typeface="Syne SemiBold"/>
            </a:endParaRPr>
          </a:p>
        </p:txBody>
      </p:sp>
      <p:pic>
        <p:nvPicPr>
          <p:cNvPr id="83" name="Google Shape;83;p6"/>
          <p:cNvPicPr preferRelativeResize="0"/>
          <p:nvPr/>
        </p:nvPicPr>
        <p:blipFill rotWithShape="1">
          <a:blip r:embed="rId4">
            <a:alphaModFix/>
          </a:blip>
          <a:srcRect/>
          <a:stretch/>
        </p:blipFill>
        <p:spPr>
          <a:xfrm>
            <a:off x="5543550" y="0"/>
            <a:ext cx="3600500" cy="5143500"/>
          </a:xfrm>
          <a:custGeom>
            <a:avLst/>
            <a:gdLst/>
            <a:ahLst/>
            <a:cxnLst/>
            <a:rect l="l" t="t" r="r" b="b"/>
            <a:pathLst>
              <a:path w="100000" h="100000" extrusionOk="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E24"/>
        </a:solidFill>
        <a:effectLst/>
      </p:bgPr>
    </p:bg>
    <p:spTree>
      <p:nvGrpSpPr>
        <p:cNvPr id="1" name="Shape 88"/>
        <p:cNvGrpSpPr/>
        <p:nvPr/>
      </p:nvGrpSpPr>
      <p:grpSpPr>
        <a:xfrm>
          <a:off x="0" y="0"/>
          <a:ext cx="0" cy="0"/>
          <a:chOff x="0" y="0"/>
          <a:chExt cx="0" cy="0"/>
        </a:xfrm>
      </p:grpSpPr>
      <p:sp>
        <p:nvSpPr>
          <p:cNvPr id="89" name="Google Shape;89;p7"/>
          <p:cNvSpPr/>
          <p:nvPr/>
        </p:nvSpPr>
        <p:spPr>
          <a:xfrm>
            <a:off x="496119" y="400199"/>
            <a:ext cx="8151900" cy="354300"/>
          </a:xfrm>
          <a:prstGeom prst="rect">
            <a:avLst/>
          </a:prstGeom>
          <a:solidFill>
            <a:srgbClr val="547808"/>
          </a:solid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2200"/>
              <a:buFont typeface="Arial"/>
              <a:buNone/>
            </a:pPr>
            <a:r>
              <a:rPr lang="en-US" sz="2200" b="1" i="0" u="none" strike="noStrike" cap="none">
                <a:solidFill>
                  <a:schemeClr val="lt1"/>
                </a:solidFill>
                <a:latin typeface="Syne"/>
                <a:ea typeface="Syne"/>
                <a:cs typeface="Syne"/>
                <a:sym typeface="Syne"/>
              </a:rPr>
              <a:t>Problem Statement</a:t>
            </a:r>
            <a:endParaRPr sz="2200" b="1" i="0" u="none" strike="noStrike" cap="none">
              <a:solidFill>
                <a:schemeClr val="lt1"/>
              </a:solidFill>
              <a:latin typeface="Syne"/>
              <a:ea typeface="Syne"/>
              <a:cs typeface="Syne"/>
              <a:sym typeface="Syne"/>
            </a:endParaRPr>
          </a:p>
        </p:txBody>
      </p:sp>
      <p:sp>
        <p:nvSpPr>
          <p:cNvPr id="90" name="Google Shape;90;p7"/>
          <p:cNvSpPr/>
          <p:nvPr/>
        </p:nvSpPr>
        <p:spPr>
          <a:xfrm>
            <a:off x="496125" y="1019775"/>
            <a:ext cx="4106100" cy="19812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just" rtl="0">
              <a:lnSpc>
                <a:spcPct val="120000"/>
              </a:lnSpc>
              <a:spcBef>
                <a:spcPts val="0"/>
              </a:spcBef>
              <a:spcAft>
                <a:spcPts val="0"/>
              </a:spcAft>
              <a:buClr>
                <a:srgbClr val="4B4A4A"/>
              </a:buClr>
              <a:buSzPts val="850"/>
              <a:buFont typeface="Geist"/>
              <a:buNone/>
            </a:pPr>
            <a:r>
              <a:rPr lang="en-US" sz="850" b="1" i="0" u="none" strike="noStrike" cap="none">
                <a:solidFill>
                  <a:schemeClr val="lt1"/>
                </a:solidFill>
                <a:latin typeface="Syne"/>
                <a:ea typeface="Syne"/>
                <a:cs typeface="Syne"/>
                <a:sym typeface="Syne"/>
              </a:rPr>
              <a:t>Crop diseases are an escalating threat to global agriculture. Agricultural teams must track incoming disease reports from many sources, verify affected crops, assign experts, and record field data, typically relying on manual logs, scattered spreadsheets, and disconnected communication.</a:t>
            </a:r>
            <a:endParaRPr sz="850" b="1" i="0" u="none" strike="noStrike" cap="none">
              <a:solidFill>
                <a:schemeClr val="lt1"/>
              </a:solidFill>
              <a:latin typeface="Syne"/>
              <a:ea typeface="Syne"/>
              <a:cs typeface="Syne"/>
              <a:sym typeface="Syne"/>
            </a:endParaRPr>
          </a:p>
          <a:p>
            <a:pPr marL="0" marR="0" lvl="0" indent="0" algn="just" rtl="0">
              <a:lnSpc>
                <a:spcPct val="120000"/>
              </a:lnSpc>
              <a:spcBef>
                <a:spcPts val="600"/>
              </a:spcBef>
              <a:spcAft>
                <a:spcPts val="0"/>
              </a:spcAft>
              <a:buClr>
                <a:srgbClr val="4B4A4A"/>
              </a:buClr>
              <a:buSzPts val="850"/>
              <a:buFont typeface="Geist"/>
              <a:buNone/>
            </a:pPr>
            <a:r>
              <a:rPr lang="en-US" sz="850" b="1" i="0" u="none" strike="noStrike" cap="none">
                <a:solidFill>
                  <a:schemeClr val="lt1"/>
                </a:solidFill>
                <a:latin typeface="Syne"/>
                <a:ea typeface="Syne"/>
                <a:cs typeface="Syne"/>
                <a:sym typeface="Syne"/>
              </a:rPr>
              <a:t>This creates delays in identifying outbreaks, makes it harder to coordinate treatments across teams, and increases the risk of incomplete or inconsistent farm records. Farmers and field officers need a centralized digital system that can manage the full lifecycle of a disease report, from submission and verification to treatment coordination and compliance tracking, with clear role-based access for farmers, field officers, and administrators.</a:t>
            </a:r>
            <a:endParaRPr sz="850" b="1" i="0" u="none" strike="noStrike" cap="none">
              <a:solidFill>
                <a:schemeClr val="lt1"/>
              </a:solidFill>
              <a:latin typeface="Syne"/>
              <a:ea typeface="Syne"/>
              <a:cs typeface="Syne"/>
              <a:sym typeface="Syne"/>
            </a:endParaRPr>
          </a:p>
        </p:txBody>
      </p:sp>
      <p:sp>
        <p:nvSpPr>
          <p:cNvPr id="91" name="Google Shape;91;p7"/>
          <p:cNvSpPr/>
          <p:nvPr/>
        </p:nvSpPr>
        <p:spPr>
          <a:xfrm>
            <a:off x="496119" y="3186732"/>
            <a:ext cx="4106100" cy="177300"/>
          </a:xfrm>
          <a:prstGeom prst="rect">
            <a:avLst/>
          </a:prstGeom>
          <a:solidFill>
            <a:srgbClr val="547808"/>
          </a:solid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1100"/>
              <a:buFont typeface="Arial"/>
              <a:buNone/>
            </a:pPr>
            <a:r>
              <a:rPr lang="en-US" sz="1100" b="1" i="0" u="none" strike="noStrike" cap="none">
                <a:solidFill>
                  <a:schemeClr val="lt1"/>
                </a:solidFill>
                <a:latin typeface="Syne"/>
                <a:ea typeface="Syne"/>
                <a:cs typeface="Syne"/>
                <a:sym typeface="Syne"/>
              </a:rPr>
              <a:t>Key challenges farmers face</a:t>
            </a:r>
            <a:endParaRPr sz="1100" b="1" i="0" u="none" strike="noStrike" cap="none">
              <a:solidFill>
                <a:schemeClr val="lt1"/>
              </a:solidFill>
              <a:latin typeface="Syne"/>
              <a:ea typeface="Syne"/>
              <a:cs typeface="Syne"/>
              <a:sym typeface="Syne"/>
            </a:endParaRPr>
          </a:p>
        </p:txBody>
      </p:sp>
      <p:sp>
        <p:nvSpPr>
          <p:cNvPr id="92" name="Google Shape;92;p7"/>
          <p:cNvSpPr/>
          <p:nvPr/>
        </p:nvSpPr>
        <p:spPr>
          <a:xfrm>
            <a:off x="454294" y="3479998"/>
            <a:ext cx="4106100" cy="1401300"/>
          </a:xfrm>
          <a:prstGeom prst="rect">
            <a:avLst/>
          </a:prstGeom>
          <a:noFill/>
          <a:ln>
            <a:noFill/>
          </a:ln>
        </p:spPr>
        <p:txBody>
          <a:bodyPr spcFirstLastPara="1" wrap="square" lIns="0" tIns="0" rIns="0" bIns="0" anchor="t" anchorCtr="0">
            <a:noAutofit/>
          </a:bodyPr>
          <a:lstStyle/>
          <a:p>
            <a:pPr marL="172720" marR="0" lvl="0" indent="-172720" algn="l" rtl="0">
              <a:lnSpc>
                <a:spcPct val="120000"/>
              </a:lnSpc>
              <a:spcBef>
                <a:spcPts val="0"/>
              </a:spcBef>
              <a:spcAft>
                <a:spcPts val="0"/>
              </a:spcAft>
              <a:buClr>
                <a:schemeClr val="lt1"/>
              </a:buClr>
              <a:buSzPts val="850"/>
              <a:buFont typeface="Syne"/>
              <a:buChar char="•"/>
            </a:pPr>
            <a:r>
              <a:rPr lang="en-US" sz="850" b="1" i="0" u="none" strike="noStrike" cap="none">
                <a:solidFill>
                  <a:schemeClr val="lt1"/>
                </a:solidFill>
                <a:latin typeface="Syne"/>
                <a:ea typeface="Syne"/>
                <a:cs typeface="Syne"/>
                <a:sym typeface="Syne"/>
              </a:rPr>
              <a:t>Manual reporting slows down incident capture and increases the chance of errors</a:t>
            </a:r>
            <a:endParaRPr sz="850" b="1" i="0" u="none" strike="noStrike" cap="none">
              <a:solidFill>
                <a:schemeClr val="lt1"/>
              </a:solidFill>
              <a:latin typeface="Syne"/>
              <a:ea typeface="Syne"/>
              <a:cs typeface="Syne"/>
              <a:sym typeface="Syne"/>
            </a:endParaRPr>
          </a:p>
          <a:p>
            <a:pPr marL="172720" marR="0" lvl="0" indent="-172720" algn="l" rtl="0">
              <a:lnSpc>
                <a:spcPct val="120000"/>
              </a:lnSpc>
              <a:spcBef>
                <a:spcPts val="0"/>
              </a:spcBef>
              <a:spcAft>
                <a:spcPts val="0"/>
              </a:spcAft>
              <a:buClr>
                <a:schemeClr val="lt1"/>
              </a:buClr>
              <a:buSzPts val="850"/>
              <a:buFont typeface="Syne"/>
              <a:buChar char="•"/>
            </a:pPr>
            <a:r>
              <a:rPr lang="en-US" sz="850" b="1" i="0" u="none" strike="noStrike" cap="none">
                <a:solidFill>
                  <a:schemeClr val="lt1"/>
                </a:solidFill>
                <a:latin typeface="Syne"/>
                <a:ea typeface="Syne"/>
                <a:cs typeface="Syne"/>
                <a:sym typeface="Syne"/>
              </a:rPr>
              <a:t>Delays in verification and escalation can allow disease to spread across fields</a:t>
            </a:r>
            <a:endParaRPr sz="850" b="1" i="0" u="none" strike="noStrike" cap="none">
              <a:solidFill>
                <a:schemeClr val="lt1"/>
              </a:solidFill>
              <a:latin typeface="Syne"/>
              <a:ea typeface="Syne"/>
              <a:cs typeface="Syne"/>
              <a:sym typeface="Syne"/>
            </a:endParaRPr>
          </a:p>
          <a:p>
            <a:pPr marL="172720" marR="0" lvl="0" indent="-172720" algn="l" rtl="0">
              <a:lnSpc>
                <a:spcPct val="120000"/>
              </a:lnSpc>
              <a:spcBef>
                <a:spcPts val="0"/>
              </a:spcBef>
              <a:spcAft>
                <a:spcPts val="0"/>
              </a:spcAft>
              <a:buClr>
                <a:schemeClr val="lt1"/>
              </a:buClr>
              <a:buSzPts val="850"/>
              <a:buFont typeface="Syne"/>
              <a:buChar char="•"/>
            </a:pPr>
            <a:r>
              <a:rPr lang="en-US" sz="850" b="1" i="0" u="none" strike="noStrike" cap="none">
                <a:solidFill>
                  <a:schemeClr val="lt1"/>
                </a:solidFill>
                <a:latin typeface="Syne"/>
                <a:ea typeface="Syne"/>
                <a:cs typeface="Syne"/>
                <a:sym typeface="Syne"/>
              </a:rPr>
              <a:t>Lack of coordination makes it difficult to assign the right experts at the right time</a:t>
            </a:r>
            <a:endParaRPr sz="850" b="1" i="0" u="none" strike="noStrike" cap="none">
              <a:solidFill>
                <a:schemeClr val="lt1"/>
              </a:solidFill>
              <a:latin typeface="Syne"/>
              <a:ea typeface="Syne"/>
              <a:cs typeface="Syne"/>
              <a:sym typeface="Syne"/>
            </a:endParaRPr>
          </a:p>
          <a:p>
            <a:pPr marL="172720" marR="0" lvl="0" indent="-172720" algn="l" rtl="0">
              <a:lnSpc>
                <a:spcPct val="120000"/>
              </a:lnSpc>
              <a:spcBef>
                <a:spcPts val="0"/>
              </a:spcBef>
              <a:spcAft>
                <a:spcPts val="0"/>
              </a:spcAft>
              <a:buClr>
                <a:schemeClr val="lt1"/>
              </a:buClr>
              <a:buSzPts val="850"/>
              <a:buFont typeface="Syne"/>
              <a:buChar char="•"/>
            </a:pPr>
            <a:r>
              <a:rPr lang="en-US" sz="850" b="1" i="0" u="none" strike="noStrike" cap="none">
                <a:solidFill>
                  <a:schemeClr val="lt1"/>
                </a:solidFill>
                <a:latin typeface="Syne"/>
                <a:ea typeface="Syne"/>
                <a:cs typeface="Syne"/>
                <a:sym typeface="Syne"/>
              </a:rPr>
              <a:t>Disjointed records make long-term tracking, compliance, and reporting unreliable</a:t>
            </a:r>
            <a:endParaRPr sz="850" b="1" i="0" u="none" strike="noStrike" cap="none">
              <a:solidFill>
                <a:schemeClr val="lt1"/>
              </a:solidFill>
              <a:latin typeface="Syne"/>
              <a:ea typeface="Syne"/>
              <a:cs typeface="Syne"/>
              <a:sym typeface="Syne"/>
            </a:endParaRPr>
          </a:p>
        </p:txBody>
      </p:sp>
      <p:sp>
        <p:nvSpPr>
          <p:cNvPr id="93" name="Google Shape;93;p7"/>
          <p:cNvSpPr/>
          <p:nvPr/>
        </p:nvSpPr>
        <p:spPr>
          <a:xfrm>
            <a:off x="4883646" y="981298"/>
            <a:ext cx="3768900" cy="177300"/>
          </a:xfrm>
          <a:prstGeom prst="rect">
            <a:avLst/>
          </a:prstGeom>
          <a:solidFill>
            <a:srgbClr val="547808"/>
          </a:solid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1100"/>
              <a:buFont typeface="Arial"/>
              <a:buNone/>
            </a:pPr>
            <a:r>
              <a:rPr lang="en-US" sz="1100" b="1" i="0" u="none" strike="noStrike" cap="none">
                <a:solidFill>
                  <a:schemeClr val="lt1"/>
                </a:solidFill>
                <a:latin typeface="Syne"/>
                <a:ea typeface="Syne"/>
                <a:cs typeface="Syne"/>
                <a:sym typeface="Syne"/>
              </a:rPr>
              <a:t>MANUAL WORKFLOW FRICTION POINTS</a:t>
            </a:r>
            <a:endParaRPr sz="1100" b="1" i="0" u="none" strike="noStrike" cap="none">
              <a:solidFill>
                <a:schemeClr val="lt1"/>
              </a:solidFill>
              <a:latin typeface="Syne"/>
              <a:ea typeface="Syne"/>
              <a:cs typeface="Syne"/>
              <a:sym typeface="Syne"/>
            </a:endParaRPr>
          </a:p>
        </p:txBody>
      </p:sp>
      <p:sp>
        <p:nvSpPr>
          <p:cNvPr id="94" name="Google Shape;94;p7"/>
          <p:cNvSpPr/>
          <p:nvPr/>
        </p:nvSpPr>
        <p:spPr>
          <a:xfrm>
            <a:off x="4883650" y="1388200"/>
            <a:ext cx="1984200" cy="1182600"/>
          </a:xfrm>
          <a:prstGeom prst="rect">
            <a:avLst/>
          </a:prstGeom>
          <a:noFill/>
          <a:ln w="9525" cap="flat" cmpd="sng">
            <a:solidFill>
              <a:srgbClr val="547808"/>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100"/>
              <a:buFont typeface="Arial"/>
              <a:buNone/>
            </a:pPr>
            <a:r>
              <a:rPr lang="en-US" sz="1100" b="1" i="0" u="none" strike="noStrike" cap="none">
                <a:solidFill>
                  <a:schemeClr val="lt1"/>
                </a:solidFill>
                <a:latin typeface="Syne"/>
                <a:ea typeface="Syne"/>
                <a:cs typeface="Syne"/>
                <a:sym typeface="Syne"/>
              </a:rPr>
              <a:t>Scattered, paper-based incident logs</a:t>
            </a:r>
            <a:endParaRPr sz="1100" b="1" i="0" u="none" strike="noStrike" cap="none">
              <a:solidFill>
                <a:schemeClr val="lt1"/>
              </a:solidFill>
              <a:latin typeface="Syne"/>
              <a:ea typeface="Syne"/>
              <a:cs typeface="Syne"/>
              <a:sym typeface="Syne"/>
            </a:endParaRPr>
          </a:p>
          <a:p>
            <a:pPr marL="0" marR="0" lvl="0" indent="0" algn="l" rtl="0">
              <a:lnSpc>
                <a:spcPct val="104000"/>
              </a:lnSpc>
              <a:spcBef>
                <a:spcPts val="0"/>
              </a:spcBef>
              <a:spcAft>
                <a:spcPts val="0"/>
              </a:spcAft>
              <a:buClr>
                <a:srgbClr val="4B4A4A"/>
              </a:buClr>
              <a:buSzPts val="1100"/>
              <a:buFont typeface="Arial"/>
              <a:buNone/>
            </a:pPr>
            <a:endParaRPr sz="1100" b="1">
              <a:solidFill>
                <a:schemeClr val="lt1"/>
              </a:solidFill>
              <a:latin typeface="Syne"/>
              <a:ea typeface="Syne"/>
              <a:cs typeface="Syne"/>
              <a:sym typeface="Syne"/>
            </a:endParaRPr>
          </a:p>
          <a:p>
            <a:pPr marL="0" lvl="0" indent="0" algn="l" rtl="0">
              <a:lnSpc>
                <a:spcPct val="120000"/>
              </a:lnSpc>
              <a:spcBef>
                <a:spcPts val="0"/>
              </a:spcBef>
              <a:spcAft>
                <a:spcPts val="0"/>
              </a:spcAft>
              <a:buClr>
                <a:srgbClr val="4B4A4A"/>
              </a:buClr>
              <a:buSzPts val="850"/>
              <a:buFont typeface="Geist"/>
              <a:buNone/>
            </a:pPr>
            <a:r>
              <a:rPr lang="en-US" sz="850" b="1">
                <a:solidFill>
                  <a:schemeClr val="lt1"/>
                </a:solidFill>
                <a:latin typeface="Syne"/>
                <a:ea typeface="Syne"/>
                <a:cs typeface="Syne"/>
                <a:sym typeface="Syne"/>
              </a:rPr>
              <a:t>Reports are captured inconsistently across notebooks, forms, and spreadsheets.</a:t>
            </a:r>
            <a:endParaRPr sz="850" b="1">
              <a:solidFill>
                <a:schemeClr val="lt1"/>
              </a:solidFill>
              <a:latin typeface="Syne"/>
              <a:ea typeface="Syne"/>
              <a:cs typeface="Syne"/>
              <a:sym typeface="Syne"/>
            </a:endParaRPr>
          </a:p>
          <a:p>
            <a:pPr marL="0" marR="0" lvl="0" indent="0" algn="l" rtl="0">
              <a:lnSpc>
                <a:spcPct val="104000"/>
              </a:lnSpc>
              <a:spcBef>
                <a:spcPts val="0"/>
              </a:spcBef>
              <a:spcAft>
                <a:spcPts val="0"/>
              </a:spcAft>
              <a:buClr>
                <a:srgbClr val="4B4A4A"/>
              </a:buClr>
              <a:buSzPts val="1100"/>
              <a:buFont typeface="Arial"/>
              <a:buNone/>
            </a:pPr>
            <a:endParaRPr sz="1100" b="1">
              <a:solidFill>
                <a:schemeClr val="lt1"/>
              </a:solidFill>
              <a:latin typeface="Syne"/>
              <a:ea typeface="Syne"/>
              <a:cs typeface="Syne"/>
              <a:sym typeface="Syne"/>
            </a:endParaRPr>
          </a:p>
        </p:txBody>
      </p:sp>
      <p:sp>
        <p:nvSpPr>
          <p:cNvPr id="95" name="Google Shape;95;p7"/>
          <p:cNvSpPr/>
          <p:nvPr/>
        </p:nvSpPr>
        <p:spPr>
          <a:xfrm>
            <a:off x="6998275" y="1388225"/>
            <a:ext cx="1734900" cy="1182600"/>
          </a:xfrm>
          <a:prstGeom prst="rect">
            <a:avLst/>
          </a:prstGeom>
          <a:noFill/>
          <a:ln w="9525" cap="flat" cmpd="sng">
            <a:solidFill>
              <a:srgbClr val="547808"/>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100"/>
              <a:buFont typeface="Arial"/>
              <a:buNone/>
            </a:pPr>
            <a:r>
              <a:rPr lang="en-US" sz="1100" b="1" i="0" u="none" strike="noStrike" cap="none">
                <a:solidFill>
                  <a:schemeClr val="lt1"/>
                </a:solidFill>
                <a:latin typeface="Syne"/>
                <a:ea typeface="Syne"/>
                <a:cs typeface="Syne"/>
                <a:sym typeface="Syne"/>
              </a:rPr>
              <a:t>Difficult disease hotspot tracking</a:t>
            </a:r>
            <a:endParaRPr sz="1100" b="1" i="0" u="none" strike="noStrike" cap="none">
              <a:solidFill>
                <a:schemeClr val="lt1"/>
              </a:solidFill>
              <a:latin typeface="Syne"/>
              <a:ea typeface="Syne"/>
              <a:cs typeface="Syne"/>
              <a:sym typeface="Syne"/>
            </a:endParaRPr>
          </a:p>
          <a:p>
            <a:pPr marL="0" marR="0" lvl="0" indent="0" algn="l" rtl="0">
              <a:lnSpc>
                <a:spcPct val="104000"/>
              </a:lnSpc>
              <a:spcBef>
                <a:spcPts val="0"/>
              </a:spcBef>
              <a:spcAft>
                <a:spcPts val="0"/>
              </a:spcAft>
              <a:buClr>
                <a:srgbClr val="4B4A4A"/>
              </a:buClr>
              <a:buSzPts val="1100"/>
              <a:buFont typeface="Arial"/>
              <a:buNone/>
            </a:pPr>
            <a:endParaRPr sz="1100" b="1">
              <a:solidFill>
                <a:schemeClr val="lt1"/>
              </a:solidFill>
              <a:latin typeface="Syne"/>
              <a:ea typeface="Syne"/>
              <a:cs typeface="Syne"/>
              <a:sym typeface="Syne"/>
            </a:endParaRPr>
          </a:p>
          <a:p>
            <a:pPr marL="0" lvl="0" indent="0" algn="l" rtl="0">
              <a:lnSpc>
                <a:spcPct val="120000"/>
              </a:lnSpc>
              <a:spcBef>
                <a:spcPts val="0"/>
              </a:spcBef>
              <a:spcAft>
                <a:spcPts val="0"/>
              </a:spcAft>
              <a:buClr>
                <a:srgbClr val="4B4A4A"/>
              </a:buClr>
              <a:buSzPts val="850"/>
              <a:buFont typeface="Geist"/>
              <a:buNone/>
            </a:pPr>
            <a:r>
              <a:rPr lang="en-US" sz="850" b="1">
                <a:solidFill>
                  <a:schemeClr val="lt1"/>
                </a:solidFill>
                <a:latin typeface="Syne"/>
                <a:ea typeface="Syne"/>
                <a:cs typeface="Syne"/>
                <a:sym typeface="Syne"/>
              </a:rPr>
              <a:t>Teams struggle to see where outbreaks are spreading and which farms need attention first.</a:t>
            </a:r>
            <a:endParaRPr sz="850" b="1">
              <a:solidFill>
                <a:schemeClr val="lt1"/>
              </a:solidFill>
              <a:latin typeface="Syne"/>
              <a:ea typeface="Syne"/>
              <a:cs typeface="Syne"/>
              <a:sym typeface="Syne"/>
            </a:endParaRPr>
          </a:p>
          <a:p>
            <a:pPr marL="0" marR="0" lvl="0" indent="0" algn="l" rtl="0">
              <a:lnSpc>
                <a:spcPct val="104000"/>
              </a:lnSpc>
              <a:spcBef>
                <a:spcPts val="0"/>
              </a:spcBef>
              <a:spcAft>
                <a:spcPts val="0"/>
              </a:spcAft>
              <a:buClr>
                <a:srgbClr val="4B4A4A"/>
              </a:buClr>
              <a:buSzPts val="1100"/>
              <a:buFont typeface="Arial"/>
              <a:buNone/>
            </a:pPr>
            <a:endParaRPr sz="1100" b="1">
              <a:solidFill>
                <a:schemeClr val="lt1"/>
              </a:solidFill>
              <a:latin typeface="Syne"/>
              <a:ea typeface="Syne"/>
              <a:cs typeface="Syne"/>
              <a:sym typeface="Syne"/>
            </a:endParaRPr>
          </a:p>
        </p:txBody>
      </p:sp>
      <p:sp>
        <p:nvSpPr>
          <p:cNvPr id="96" name="Google Shape;96;p7"/>
          <p:cNvSpPr/>
          <p:nvPr/>
        </p:nvSpPr>
        <p:spPr>
          <a:xfrm>
            <a:off x="4839200" y="2800400"/>
            <a:ext cx="1922100" cy="1217100"/>
          </a:xfrm>
          <a:prstGeom prst="rect">
            <a:avLst/>
          </a:prstGeom>
          <a:noFill/>
          <a:ln w="9525" cap="flat" cmpd="sng">
            <a:solidFill>
              <a:srgbClr val="547808"/>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100"/>
              <a:buFont typeface="Arial"/>
              <a:buNone/>
            </a:pPr>
            <a:r>
              <a:rPr lang="en-US" sz="1100" b="1" i="0" u="none" strike="noStrike" cap="none">
                <a:solidFill>
                  <a:schemeClr val="lt1"/>
                </a:solidFill>
                <a:latin typeface="Syne"/>
                <a:ea typeface="Syne"/>
                <a:cs typeface="Syne"/>
                <a:sym typeface="Syne"/>
              </a:rPr>
              <a:t>Time-consuming manual process</a:t>
            </a:r>
            <a:endParaRPr sz="1100" b="1" i="0" u="none" strike="noStrike" cap="none">
              <a:solidFill>
                <a:schemeClr val="lt1"/>
              </a:solidFill>
              <a:latin typeface="Syne"/>
              <a:ea typeface="Syne"/>
              <a:cs typeface="Syne"/>
              <a:sym typeface="Syne"/>
            </a:endParaRPr>
          </a:p>
          <a:p>
            <a:pPr marL="0" marR="0" lvl="0" indent="0" algn="l" rtl="0">
              <a:lnSpc>
                <a:spcPct val="104000"/>
              </a:lnSpc>
              <a:spcBef>
                <a:spcPts val="0"/>
              </a:spcBef>
              <a:spcAft>
                <a:spcPts val="0"/>
              </a:spcAft>
              <a:buClr>
                <a:srgbClr val="4B4A4A"/>
              </a:buClr>
              <a:buSzPts val="1100"/>
              <a:buFont typeface="Arial"/>
              <a:buNone/>
            </a:pPr>
            <a:endParaRPr sz="1100" b="1">
              <a:solidFill>
                <a:schemeClr val="lt1"/>
              </a:solidFill>
              <a:latin typeface="Syne"/>
              <a:ea typeface="Syne"/>
              <a:cs typeface="Syne"/>
              <a:sym typeface="Syne"/>
            </a:endParaRPr>
          </a:p>
          <a:p>
            <a:pPr marL="0" lvl="0" indent="0" algn="l" rtl="0">
              <a:lnSpc>
                <a:spcPct val="120000"/>
              </a:lnSpc>
              <a:spcBef>
                <a:spcPts val="0"/>
              </a:spcBef>
              <a:spcAft>
                <a:spcPts val="0"/>
              </a:spcAft>
              <a:buClr>
                <a:srgbClr val="4B4A4A"/>
              </a:buClr>
              <a:buSzPts val="850"/>
              <a:buFont typeface="Geist"/>
              <a:buNone/>
            </a:pPr>
            <a:r>
              <a:rPr lang="en-US" sz="850" b="1">
                <a:solidFill>
                  <a:schemeClr val="lt1"/>
                </a:solidFill>
                <a:latin typeface="Syne"/>
                <a:ea typeface="Syne"/>
                <a:cs typeface="Syne"/>
                <a:sym typeface="Syne"/>
              </a:rPr>
              <a:t>Every step from reporting to follow-up depends on repeated human checks and handoffs.</a:t>
            </a:r>
            <a:endParaRPr sz="850" b="1">
              <a:solidFill>
                <a:schemeClr val="lt1"/>
              </a:solidFill>
              <a:latin typeface="Syne"/>
              <a:ea typeface="Syne"/>
              <a:cs typeface="Syne"/>
              <a:sym typeface="Syne"/>
            </a:endParaRPr>
          </a:p>
          <a:p>
            <a:pPr marL="0" marR="0" lvl="0" indent="0" algn="l" rtl="0">
              <a:lnSpc>
                <a:spcPct val="104000"/>
              </a:lnSpc>
              <a:spcBef>
                <a:spcPts val="0"/>
              </a:spcBef>
              <a:spcAft>
                <a:spcPts val="0"/>
              </a:spcAft>
              <a:buClr>
                <a:srgbClr val="4B4A4A"/>
              </a:buClr>
              <a:buSzPts val="1100"/>
              <a:buFont typeface="Arial"/>
              <a:buNone/>
            </a:pPr>
            <a:endParaRPr sz="1100" b="1">
              <a:solidFill>
                <a:schemeClr val="lt1"/>
              </a:solidFill>
              <a:latin typeface="Syne"/>
              <a:ea typeface="Syne"/>
              <a:cs typeface="Syne"/>
              <a:sym typeface="Syne"/>
            </a:endParaRPr>
          </a:p>
        </p:txBody>
      </p:sp>
      <p:sp>
        <p:nvSpPr>
          <p:cNvPr id="97" name="Google Shape;97;p7"/>
          <p:cNvSpPr/>
          <p:nvPr/>
        </p:nvSpPr>
        <p:spPr>
          <a:xfrm>
            <a:off x="6998275" y="2800450"/>
            <a:ext cx="1734900" cy="1217100"/>
          </a:xfrm>
          <a:prstGeom prst="rect">
            <a:avLst/>
          </a:prstGeom>
          <a:noFill/>
          <a:ln w="9525" cap="flat" cmpd="sng">
            <a:solidFill>
              <a:srgbClr val="547808"/>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100"/>
              <a:buFont typeface="Arial"/>
              <a:buNone/>
            </a:pPr>
            <a:r>
              <a:rPr lang="en-US" sz="1100" b="1" i="0" u="none" strike="noStrike" cap="none">
                <a:solidFill>
                  <a:schemeClr val="lt1"/>
                </a:solidFill>
                <a:latin typeface="Syne"/>
                <a:ea typeface="Syne"/>
                <a:cs typeface="Syne"/>
                <a:sym typeface="Syne"/>
              </a:rPr>
              <a:t>Delayed treatment response</a:t>
            </a:r>
            <a:endParaRPr sz="1100" b="1" i="0" u="none" strike="noStrike" cap="none">
              <a:solidFill>
                <a:schemeClr val="lt1"/>
              </a:solidFill>
              <a:latin typeface="Syne"/>
              <a:ea typeface="Syne"/>
              <a:cs typeface="Syne"/>
              <a:sym typeface="Syne"/>
            </a:endParaRPr>
          </a:p>
          <a:p>
            <a:pPr marL="0" marR="0" lvl="0" indent="0" algn="l" rtl="0">
              <a:lnSpc>
                <a:spcPct val="104000"/>
              </a:lnSpc>
              <a:spcBef>
                <a:spcPts val="0"/>
              </a:spcBef>
              <a:spcAft>
                <a:spcPts val="0"/>
              </a:spcAft>
              <a:buClr>
                <a:srgbClr val="4B4A4A"/>
              </a:buClr>
              <a:buSzPts val="1100"/>
              <a:buFont typeface="Arial"/>
              <a:buNone/>
            </a:pPr>
            <a:endParaRPr sz="1100" b="1">
              <a:solidFill>
                <a:schemeClr val="lt1"/>
              </a:solidFill>
              <a:latin typeface="Syne"/>
              <a:ea typeface="Syne"/>
              <a:cs typeface="Syne"/>
              <a:sym typeface="Syne"/>
            </a:endParaRPr>
          </a:p>
          <a:p>
            <a:pPr marL="0" lvl="0" indent="0" algn="l" rtl="0">
              <a:lnSpc>
                <a:spcPct val="120000"/>
              </a:lnSpc>
              <a:spcBef>
                <a:spcPts val="0"/>
              </a:spcBef>
              <a:spcAft>
                <a:spcPts val="0"/>
              </a:spcAft>
              <a:buClr>
                <a:srgbClr val="4B4A4A"/>
              </a:buClr>
              <a:buSzPts val="850"/>
              <a:buFont typeface="Geist"/>
              <a:buNone/>
            </a:pPr>
            <a:r>
              <a:rPr lang="en-US" sz="850" b="1">
                <a:solidFill>
                  <a:schemeClr val="lt1"/>
                </a:solidFill>
                <a:latin typeface="Syne"/>
                <a:ea typeface="Syne"/>
                <a:cs typeface="Syne"/>
                <a:sym typeface="Syne"/>
              </a:rPr>
              <a:t>Slow coordination can reduce the effectiveness of treatment and worsen crop damage.</a:t>
            </a:r>
            <a:endParaRPr sz="850" b="1">
              <a:solidFill>
                <a:schemeClr val="lt1"/>
              </a:solidFill>
              <a:latin typeface="Syne"/>
              <a:ea typeface="Syne"/>
              <a:cs typeface="Syne"/>
              <a:sym typeface="Syne"/>
            </a:endParaRPr>
          </a:p>
          <a:p>
            <a:pPr marL="0" marR="0" lvl="0" indent="0" algn="l" rtl="0">
              <a:lnSpc>
                <a:spcPct val="104000"/>
              </a:lnSpc>
              <a:spcBef>
                <a:spcPts val="0"/>
              </a:spcBef>
              <a:spcAft>
                <a:spcPts val="0"/>
              </a:spcAft>
              <a:buClr>
                <a:srgbClr val="4B4A4A"/>
              </a:buClr>
              <a:buSzPts val="1100"/>
              <a:buFont typeface="Arial"/>
              <a:buNone/>
            </a:pPr>
            <a:endParaRPr sz="1100" b="1">
              <a:solidFill>
                <a:schemeClr val="lt1"/>
              </a:solidFill>
              <a:latin typeface="Syne"/>
              <a:ea typeface="Syne"/>
              <a:cs typeface="Syne"/>
              <a:sym typeface="Syn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E24"/>
        </a:solidFill>
        <a:effectLst/>
      </p:bgPr>
    </p:bg>
    <p:spTree>
      <p:nvGrpSpPr>
        <p:cNvPr id="1" name="Shape 102"/>
        <p:cNvGrpSpPr/>
        <p:nvPr/>
      </p:nvGrpSpPr>
      <p:grpSpPr>
        <a:xfrm>
          <a:off x="0" y="0"/>
          <a:ext cx="0" cy="0"/>
          <a:chOff x="0" y="0"/>
          <a:chExt cx="0" cy="0"/>
        </a:xfrm>
      </p:grpSpPr>
      <p:sp>
        <p:nvSpPr>
          <p:cNvPr id="103" name="Google Shape;103;p8"/>
          <p:cNvSpPr/>
          <p:nvPr/>
        </p:nvSpPr>
        <p:spPr>
          <a:xfrm>
            <a:off x="3925119" y="425723"/>
            <a:ext cx="4722900" cy="354300"/>
          </a:xfrm>
          <a:prstGeom prst="rect">
            <a:avLst/>
          </a:prstGeom>
          <a:solidFill>
            <a:srgbClr val="547808"/>
          </a:solid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2200"/>
              <a:buFont typeface="Arial"/>
              <a:buNone/>
            </a:pPr>
            <a:r>
              <a:rPr lang="en-US" sz="2200" b="1" i="0" u="none" strike="noStrike" cap="none">
                <a:solidFill>
                  <a:schemeClr val="lt1"/>
                </a:solidFill>
                <a:latin typeface="Arial"/>
                <a:ea typeface="Arial"/>
                <a:cs typeface="Arial"/>
                <a:sym typeface="Arial"/>
              </a:rPr>
              <a:t>Proposed Solution</a:t>
            </a:r>
            <a:endParaRPr sz="2200" b="0" i="0" u="none" strike="noStrike" cap="none">
              <a:solidFill>
                <a:schemeClr val="lt1"/>
              </a:solidFill>
              <a:latin typeface="Calibri"/>
              <a:ea typeface="Calibri"/>
              <a:cs typeface="Calibri"/>
              <a:sym typeface="Calibri"/>
            </a:endParaRPr>
          </a:p>
        </p:txBody>
      </p:sp>
      <p:sp>
        <p:nvSpPr>
          <p:cNvPr id="104" name="Google Shape;104;p8"/>
          <p:cNvSpPr/>
          <p:nvPr/>
        </p:nvSpPr>
        <p:spPr>
          <a:xfrm>
            <a:off x="3925119" y="916112"/>
            <a:ext cx="4722900" cy="489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i="0" u="none" strike="noStrike" cap="none">
                <a:solidFill>
                  <a:schemeClr val="lt1"/>
                </a:solidFill>
                <a:latin typeface="Syne SemiBold"/>
                <a:ea typeface="Syne SemiBold"/>
                <a:cs typeface="Syne SemiBold"/>
                <a:sym typeface="Syne SemiBold"/>
              </a:rPr>
              <a:t>This platform is designed as a centralized web application that connects farmers, agricultural officers, and administrators within a single digital platform, transforming disease reporting and treatment coordination into a structured, trackable digital process.</a:t>
            </a:r>
            <a:endParaRPr sz="850" i="0" u="none" strike="noStrike" cap="none">
              <a:solidFill>
                <a:schemeClr val="lt1"/>
              </a:solidFill>
              <a:latin typeface="Syne SemiBold"/>
              <a:ea typeface="Syne SemiBold"/>
              <a:cs typeface="Syne SemiBold"/>
              <a:sym typeface="Syne SemiBold"/>
            </a:endParaRPr>
          </a:p>
        </p:txBody>
      </p:sp>
      <p:pic>
        <p:nvPicPr>
          <p:cNvPr id="105" name="Google Shape;105;p8" descr="preencoded.png"/>
          <p:cNvPicPr preferRelativeResize="0"/>
          <p:nvPr/>
        </p:nvPicPr>
        <p:blipFill rotWithShape="1">
          <a:blip r:embed="rId3">
            <a:alphaModFix/>
          </a:blip>
          <a:srcRect/>
          <a:stretch/>
        </p:blipFill>
        <p:spPr>
          <a:xfrm>
            <a:off x="3925194" y="1783077"/>
            <a:ext cx="2315989" cy="1131019"/>
          </a:xfrm>
          <a:prstGeom prst="rect">
            <a:avLst/>
          </a:prstGeom>
          <a:noFill/>
          <a:ln>
            <a:noFill/>
          </a:ln>
        </p:spPr>
      </p:pic>
      <p:pic>
        <p:nvPicPr>
          <p:cNvPr id="106" name="Google Shape;106;p8" descr="preencoded.png"/>
          <p:cNvPicPr preferRelativeResize="0"/>
          <p:nvPr/>
        </p:nvPicPr>
        <p:blipFill rotWithShape="1">
          <a:blip r:embed="rId4">
            <a:alphaModFix/>
          </a:blip>
          <a:srcRect/>
          <a:stretch/>
        </p:blipFill>
        <p:spPr>
          <a:xfrm>
            <a:off x="4998096" y="1879964"/>
            <a:ext cx="170111" cy="170111"/>
          </a:xfrm>
          <a:prstGeom prst="rect">
            <a:avLst/>
          </a:prstGeom>
          <a:noFill/>
          <a:ln>
            <a:noFill/>
          </a:ln>
        </p:spPr>
      </p:pic>
      <p:sp>
        <p:nvSpPr>
          <p:cNvPr id="107" name="Google Shape;107;p8"/>
          <p:cNvSpPr/>
          <p:nvPr/>
        </p:nvSpPr>
        <p:spPr>
          <a:xfrm>
            <a:off x="4052888" y="2228296"/>
            <a:ext cx="20607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b="1" i="0" u="none" strike="noStrike" cap="none">
                <a:solidFill>
                  <a:srgbClr val="4B4A4A"/>
                </a:solidFill>
                <a:latin typeface="Arial"/>
                <a:ea typeface="Arial"/>
                <a:cs typeface="Arial"/>
                <a:sym typeface="Arial"/>
              </a:rPr>
              <a:t>Centralized platform</a:t>
            </a:r>
            <a:endParaRPr sz="1100" b="0" i="0" u="none" strike="noStrike" cap="none">
              <a:solidFill>
                <a:srgbClr val="000000"/>
              </a:solidFill>
              <a:latin typeface="Calibri"/>
              <a:ea typeface="Calibri"/>
              <a:cs typeface="Calibri"/>
              <a:sym typeface="Calibri"/>
            </a:endParaRPr>
          </a:p>
        </p:txBody>
      </p:sp>
      <p:sp>
        <p:nvSpPr>
          <p:cNvPr id="108" name="Google Shape;108;p8"/>
          <p:cNvSpPr/>
          <p:nvPr/>
        </p:nvSpPr>
        <p:spPr>
          <a:xfrm>
            <a:off x="4052888" y="2459872"/>
            <a:ext cx="2060700" cy="3264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b="0" i="0" u="none" strike="noStrike" cap="none">
                <a:solidFill>
                  <a:srgbClr val="4B4A4A"/>
                </a:solidFill>
                <a:latin typeface="Geist"/>
                <a:ea typeface="Geist"/>
                <a:cs typeface="Geist"/>
                <a:sym typeface="Geist"/>
              </a:rPr>
              <a:t>One system for farmers, officers, and administrators to manage every report.</a:t>
            </a:r>
            <a:endParaRPr sz="850" b="0" i="0" u="none" strike="noStrike" cap="none">
              <a:solidFill>
                <a:srgbClr val="000000"/>
              </a:solidFill>
              <a:latin typeface="Calibri"/>
              <a:ea typeface="Calibri"/>
              <a:cs typeface="Calibri"/>
              <a:sym typeface="Calibri"/>
            </a:endParaRPr>
          </a:p>
        </p:txBody>
      </p:sp>
      <p:pic>
        <p:nvPicPr>
          <p:cNvPr id="109" name="Google Shape;109;p8" descr="preencoded.png"/>
          <p:cNvPicPr preferRelativeResize="0"/>
          <p:nvPr/>
        </p:nvPicPr>
        <p:blipFill rotWithShape="1">
          <a:blip r:embed="rId3">
            <a:alphaModFix/>
          </a:blip>
          <a:srcRect/>
          <a:stretch/>
        </p:blipFill>
        <p:spPr>
          <a:xfrm>
            <a:off x="6331893" y="1783077"/>
            <a:ext cx="2316063" cy="1131019"/>
          </a:xfrm>
          <a:prstGeom prst="rect">
            <a:avLst/>
          </a:prstGeom>
          <a:noFill/>
          <a:ln>
            <a:noFill/>
          </a:ln>
        </p:spPr>
      </p:pic>
      <p:pic>
        <p:nvPicPr>
          <p:cNvPr id="110" name="Google Shape;110;p8" descr="preencoded.png"/>
          <p:cNvPicPr preferRelativeResize="0"/>
          <p:nvPr/>
        </p:nvPicPr>
        <p:blipFill rotWithShape="1">
          <a:blip r:embed="rId5">
            <a:alphaModFix/>
          </a:blip>
          <a:srcRect/>
          <a:stretch/>
        </p:blipFill>
        <p:spPr>
          <a:xfrm>
            <a:off x="7404870" y="1879964"/>
            <a:ext cx="170111" cy="170111"/>
          </a:xfrm>
          <a:prstGeom prst="rect">
            <a:avLst/>
          </a:prstGeom>
          <a:noFill/>
          <a:ln>
            <a:noFill/>
          </a:ln>
        </p:spPr>
      </p:pic>
      <p:sp>
        <p:nvSpPr>
          <p:cNvPr id="111" name="Google Shape;111;p8"/>
          <p:cNvSpPr/>
          <p:nvPr/>
        </p:nvSpPr>
        <p:spPr>
          <a:xfrm>
            <a:off x="6459588" y="2228296"/>
            <a:ext cx="20607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b="1" i="0" u="none" strike="noStrike" cap="none">
                <a:solidFill>
                  <a:srgbClr val="4B4A4A"/>
                </a:solidFill>
                <a:latin typeface="Arial"/>
                <a:ea typeface="Arial"/>
                <a:cs typeface="Arial"/>
                <a:sym typeface="Arial"/>
              </a:rPr>
              <a:t>AI diagnosis</a:t>
            </a:r>
            <a:endParaRPr sz="1100" b="0" i="0" u="none" strike="noStrike" cap="none">
              <a:solidFill>
                <a:srgbClr val="000000"/>
              </a:solidFill>
              <a:latin typeface="Calibri"/>
              <a:ea typeface="Calibri"/>
              <a:cs typeface="Calibri"/>
              <a:sym typeface="Calibri"/>
            </a:endParaRPr>
          </a:p>
        </p:txBody>
      </p:sp>
      <p:sp>
        <p:nvSpPr>
          <p:cNvPr id="112" name="Google Shape;112;p8"/>
          <p:cNvSpPr/>
          <p:nvPr/>
        </p:nvSpPr>
        <p:spPr>
          <a:xfrm>
            <a:off x="6459588" y="2459872"/>
            <a:ext cx="2060700" cy="3264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b="0" i="0" u="none" strike="noStrike" cap="none">
                <a:solidFill>
                  <a:srgbClr val="4B4A4A"/>
                </a:solidFill>
                <a:latin typeface="Geist"/>
                <a:ea typeface="Geist"/>
                <a:cs typeface="Geist"/>
                <a:sym typeface="Geist"/>
              </a:rPr>
              <a:t>Intelligent analysis helps identify likely disease patterns and status updates.</a:t>
            </a:r>
            <a:endParaRPr sz="850" b="0" i="0" u="none" strike="noStrike" cap="none">
              <a:solidFill>
                <a:srgbClr val="000000"/>
              </a:solidFill>
              <a:latin typeface="Calibri"/>
              <a:ea typeface="Calibri"/>
              <a:cs typeface="Calibri"/>
              <a:sym typeface="Calibri"/>
            </a:endParaRPr>
          </a:p>
        </p:txBody>
      </p:sp>
      <p:pic>
        <p:nvPicPr>
          <p:cNvPr id="113" name="Google Shape;113;p8" descr="preencoded.png"/>
          <p:cNvPicPr preferRelativeResize="0"/>
          <p:nvPr/>
        </p:nvPicPr>
        <p:blipFill>
          <a:blip r:embed="rId6">
            <a:alphaModFix/>
          </a:blip>
          <a:stretch>
            <a:fillRect/>
          </a:stretch>
        </p:blipFill>
        <p:spPr>
          <a:xfrm>
            <a:off x="3925194" y="3005069"/>
            <a:ext cx="2315989" cy="1293759"/>
          </a:xfrm>
          <a:prstGeom prst="rect">
            <a:avLst/>
          </a:prstGeom>
          <a:noFill/>
          <a:ln>
            <a:noFill/>
          </a:ln>
        </p:spPr>
      </p:pic>
      <p:pic>
        <p:nvPicPr>
          <p:cNvPr id="114" name="Google Shape;114;p8" descr="preencoded.png"/>
          <p:cNvPicPr preferRelativeResize="0"/>
          <p:nvPr/>
        </p:nvPicPr>
        <p:blipFill rotWithShape="1">
          <a:blip r:embed="rId7">
            <a:alphaModFix/>
          </a:blip>
          <a:srcRect/>
          <a:stretch/>
        </p:blipFill>
        <p:spPr>
          <a:xfrm>
            <a:off x="4998096" y="3101694"/>
            <a:ext cx="170111" cy="170111"/>
          </a:xfrm>
          <a:prstGeom prst="rect">
            <a:avLst/>
          </a:prstGeom>
          <a:noFill/>
          <a:ln>
            <a:noFill/>
          </a:ln>
        </p:spPr>
      </p:pic>
      <p:sp>
        <p:nvSpPr>
          <p:cNvPr id="115" name="Google Shape;115;p8"/>
          <p:cNvSpPr/>
          <p:nvPr/>
        </p:nvSpPr>
        <p:spPr>
          <a:xfrm>
            <a:off x="4052888" y="3450026"/>
            <a:ext cx="20607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b="1" i="0" u="none" strike="noStrike" cap="none">
                <a:solidFill>
                  <a:srgbClr val="4B4A4A"/>
                </a:solidFill>
                <a:latin typeface="Arial"/>
                <a:ea typeface="Arial"/>
                <a:cs typeface="Arial"/>
                <a:sym typeface="Arial"/>
              </a:rPr>
              <a:t>Real-time tracking</a:t>
            </a:r>
            <a:endParaRPr sz="1100" b="0" i="0" u="none" strike="noStrike" cap="none">
              <a:solidFill>
                <a:srgbClr val="000000"/>
              </a:solidFill>
              <a:latin typeface="Calibri"/>
              <a:ea typeface="Calibri"/>
              <a:cs typeface="Calibri"/>
              <a:sym typeface="Calibri"/>
            </a:endParaRPr>
          </a:p>
        </p:txBody>
      </p:sp>
      <p:sp>
        <p:nvSpPr>
          <p:cNvPr id="116" name="Google Shape;116;p8"/>
          <p:cNvSpPr/>
          <p:nvPr/>
        </p:nvSpPr>
        <p:spPr>
          <a:xfrm>
            <a:off x="4052888" y="3681603"/>
            <a:ext cx="2060700" cy="489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b="0" i="0" u="none" strike="noStrike" cap="none">
                <a:solidFill>
                  <a:srgbClr val="4B4A4A"/>
                </a:solidFill>
                <a:latin typeface="Geist"/>
                <a:ea typeface="Geist"/>
                <a:cs typeface="Geist"/>
                <a:sym typeface="Geist"/>
              </a:rPr>
              <a:t>Monitor incidents, hotspots, and progress as reports move through the system.</a:t>
            </a:r>
            <a:endParaRPr sz="850" b="0" i="0" u="none" strike="noStrike" cap="none">
              <a:solidFill>
                <a:srgbClr val="000000"/>
              </a:solidFill>
              <a:latin typeface="Calibri"/>
              <a:ea typeface="Calibri"/>
              <a:cs typeface="Calibri"/>
              <a:sym typeface="Calibri"/>
            </a:endParaRPr>
          </a:p>
        </p:txBody>
      </p:sp>
      <p:pic>
        <p:nvPicPr>
          <p:cNvPr id="117" name="Google Shape;117;p8" descr="preencoded.png"/>
          <p:cNvPicPr preferRelativeResize="0"/>
          <p:nvPr/>
        </p:nvPicPr>
        <p:blipFill rotWithShape="1">
          <a:blip r:embed="rId6">
            <a:alphaModFix/>
          </a:blip>
          <a:srcRect/>
          <a:stretch/>
        </p:blipFill>
        <p:spPr>
          <a:xfrm>
            <a:off x="6331893" y="3004807"/>
            <a:ext cx="2316063" cy="1294284"/>
          </a:xfrm>
          <a:prstGeom prst="rect">
            <a:avLst/>
          </a:prstGeom>
          <a:noFill/>
          <a:ln>
            <a:noFill/>
          </a:ln>
        </p:spPr>
      </p:pic>
      <p:pic>
        <p:nvPicPr>
          <p:cNvPr id="118" name="Google Shape;118;p8" descr="preencoded.png"/>
          <p:cNvPicPr preferRelativeResize="0"/>
          <p:nvPr/>
        </p:nvPicPr>
        <p:blipFill rotWithShape="1">
          <a:blip r:embed="rId8">
            <a:alphaModFix/>
          </a:blip>
          <a:srcRect/>
          <a:stretch/>
        </p:blipFill>
        <p:spPr>
          <a:xfrm>
            <a:off x="7404870" y="3101694"/>
            <a:ext cx="170111" cy="170111"/>
          </a:xfrm>
          <a:prstGeom prst="rect">
            <a:avLst/>
          </a:prstGeom>
          <a:noFill/>
          <a:ln>
            <a:noFill/>
          </a:ln>
        </p:spPr>
      </p:pic>
      <p:sp>
        <p:nvSpPr>
          <p:cNvPr id="119" name="Google Shape;119;p8"/>
          <p:cNvSpPr/>
          <p:nvPr/>
        </p:nvSpPr>
        <p:spPr>
          <a:xfrm>
            <a:off x="6459588" y="3450026"/>
            <a:ext cx="2060700" cy="177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00"/>
              <a:buFont typeface="Arial"/>
              <a:buNone/>
            </a:pPr>
            <a:r>
              <a:rPr lang="en-US" sz="1100" b="1" i="0" u="none" strike="noStrike" cap="none">
                <a:solidFill>
                  <a:srgbClr val="4B4A4A"/>
                </a:solidFill>
                <a:latin typeface="Arial"/>
                <a:ea typeface="Arial"/>
                <a:cs typeface="Arial"/>
                <a:sym typeface="Arial"/>
              </a:rPr>
              <a:t>Treatment coordination</a:t>
            </a:r>
            <a:endParaRPr sz="1100" b="0" i="0" u="none" strike="noStrike" cap="none">
              <a:solidFill>
                <a:srgbClr val="000000"/>
              </a:solidFill>
              <a:latin typeface="Calibri"/>
              <a:ea typeface="Calibri"/>
              <a:cs typeface="Calibri"/>
              <a:sym typeface="Calibri"/>
            </a:endParaRPr>
          </a:p>
        </p:txBody>
      </p:sp>
      <p:sp>
        <p:nvSpPr>
          <p:cNvPr id="120" name="Google Shape;120;p8"/>
          <p:cNvSpPr/>
          <p:nvPr/>
        </p:nvSpPr>
        <p:spPr>
          <a:xfrm>
            <a:off x="6459588" y="3681603"/>
            <a:ext cx="2060700" cy="3264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B4A4A"/>
              </a:buClr>
              <a:buSzPts val="850"/>
              <a:buFont typeface="Geist"/>
              <a:buNone/>
            </a:pPr>
            <a:r>
              <a:rPr lang="en-US" sz="850" b="0" i="0" u="none" strike="noStrike" cap="none">
                <a:solidFill>
                  <a:srgbClr val="4B4A4A"/>
                </a:solidFill>
                <a:latin typeface="Geist"/>
                <a:ea typeface="Geist"/>
                <a:cs typeface="Geist"/>
                <a:sym typeface="Geist"/>
              </a:rPr>
              <a:t>Assign tasks, coordinate field action, and track treatment completion.</a:t>
            </a:r>
            <a:endParaRPr sz="850" b="0" i="0" u="none" strike="noStrike" cap="none">
              <a:solidFill>
                <a:srgbClr val="000000"/>
              </a:solidFill>
              <a:latin typeface="Calibri"/>
              <a:ea typeface="Calibri"/>
              <a:cs typeface="Calibri"/>
              <a:sym typeface="Calibri"/>
            </a:endParaRPr>
          </a:p>
        </p:txBody>
      </p:sp>
      <p:pic>
        <p:nvPicPr>
          <p:cNvPr id="121" name="Google Shape;121;p8"/>
          <p:cNvPicPr preferRelativeResize="0"/>
          <p:nvPr/>
        </p:nvPicPr>
        <p:blipFill rotWithShape="1">
          <a:blip r:embed="rId9">
            <a:alphaModFix/>
          </a:blip>
          <a:srcRect/>
          <a:stretch/>
        </p:blipFill>
        <p:spPr>
          <a:xfrm>
            <a:off x="0" y="0"/>
            <a:ext cx="3600500" cy="5143500"/>
          </a:xfrm>
          <a:custGeom>
            <a:avLst/>
            <a:gdLst/>
            <a:ahLst/>
            <a:cxnLst/>
            <a:rect l="l" t="t" r="r" b="b"/>
            <a:pathLst>
              <a:path w="100000" h="100000" extrusionOk="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pic>
        <p:nvPicPr>
          <p:cNvPr id="127" name="Google Shape;127;p9" descr="preencoded.png"/>
          <p:cNvPicPr preferRelativeResize="0"/>
          <p:nvPr/>
        </p:nvPicPr>
        <p:blipFill rotWithShape="1">
          <a:blip r:embed="rId3">
            <a:alphaModFix/>
          </a:blip>
          <a:srcRect/>
          <a:stretch/>
        </p:blipFill>
        <p:spPr>
          <a:xfrm>
            <a:off x="0" y="0"/>
            <a:ext cx="3429000" cy="5143500"/>
          </a:xfrm>
          <a:prstGeom prst="rect">
            <a:avLst/>
          </a:prstGeom>
          <a:noFill/>
          <a:ln>
            <a:noFill/>
          </a:ln>
        </p:spPr>
      </p:pic>
      <p:sp>
        <p:nvSpPr>
          <p:cNvPr id="128" name="Google Shape;128;p9"/>
          <p:cNvSpPr/>
          <p:nvPr/>
        </p:nvSpPr>
        <p:spPr>
          <a:xfrm>
            <a:off x="3980269" y="351149"/>
            <a:ext cx="4722900" cy="279000"/>
          </a:xfrm>
          <a:prstGeom prst="rect">
            <a:avLst/>
          </a:prstGeom>
          <a:solidFill>
            <a:srgbClr val="547808"/>
          </a:solid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1750"/>
              <a:buFont typeface="Arial"/>
              <a:buNone/>
            </a:pPr>
            <a:r>
              <a:rPr lang="en-US" sz="1750" b="1" i="0" u="none" strike="noStrike" cap="none">
                <a:solidFill>
                  <a:schemeClr val="lt1"/>
                </a:solidFill>
                <a:latin typeface="Syne"/>
                <a:ea typeface="Syne"/>
                <a:cs typeface="Syne"/>
                <a:sym typeface="Syne"/>
              </a:rPr>
              <a:t>Project Objectives</a:t>
            </a:r>
            <a:endParaRPr sz="1750" b="1" i="0" u="none" strike="noStrike" cap="none">
              <a:solidFill>
                <a:schemeClr val="lt1"/>
              </a:solidFill>
              <a:latin typeface="Syne"/>
              <a:ea typeface="Syne"/>
              <a:cs typeface="Syne"/>
              <a:sym typeface="Syne"/>
            </a:endParaRPr>
          </a:p>
        </p:txBody>
      </p:sp>
      <p:sp>
        <p:nvSpPr>
          <p:cNvPr id="129" name="Google Shape;129;p9"/>
          <p:cNvSpPr/>
          <p:nvPr/>
        </p:nvSpPr>
        <p:spPr>
          <a:xfrm>
            <a:off x="3980269" y="714364"/>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30" name="Google Shape;130;p9"/>
          <p:cNvSpPr/>
          <p:nvPr/>
        </p:nvSpPr>
        <p:spPr>
          <a:xfrm>
            <a:off x="4013718" y="731070"/>
            <a:ext cx="133800" cy="167400"/>
          </a:xfrm>
          <a:prstGeom prst="rect">
            <a:avLst/>
          </a:prstGeom>
          <a:no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31" name="Google Shape;131;p9"/>
          <p:cNvSpPr/>
          <p:nvPr/>
        </p:nvSpPr>
        <p:spPr>
          <a:xfrm>
            <a:off x="4237295" y="745023"/>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01</a:t>
            </a:r>
            <a:endParaRPr sz="850" b="1" i="0" u="none" strike="noStrike" cap="none">
              <a:solidFill>
                <a:schemeClr val="lt1"/>
              </a:solidFill>
              <a:latin typeface="Syne"/>
              <a:ea typeface="Syne"/>
              <a:cs typeface="Syne"/>
              <a:sym typeface="Syne"/>
            </a:endParaRPr>
          </a:p>
        </p:txBody>
      </p:sp>
      <p:sp>
        <p:nvSpPr>
          <p:cNvPr id="132" name="Google Shape;132;p9"/>
          <p:cNvSpPr/>
          <p:nvPr/>
        </p:nvSpPr>
        <p:spPr>
          <a:xfrm>
            <a:off x="4237295" y="918259"/>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Digitalize the crop disease reporting process.</a:t>
            </a:r>
            <a:endParaRPr sz="700" b="1" i="0" u="none" strike="noStrike" cap="none">
              <a:solidFill>
                <a:schemeClr val="lt1"/>
              </a:solidFill>
              <a:latin typeface="Syne"/>
              <a:ea typeface="Syne"/>
              <a:cs typeface="Syne"/>
              <a:sym typeface="Syne"/>
            </a:endParaRPr>
          </a:p>
        </p:txBody>
      </p:sp>
      <p:sp>
        <p:nvSpPr>
          <p:cNvPr id="133" name="Google Shape;133;p9"/>
          <p:cNvSpPr/>
          <p:nvPr/>
        </p:nvSpPr>
        <p:spPr>
          <a:xfrm>
            <a:off x="3980269" y="1147008"/>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34" name="Google Shape;134;p9"/>
          <p:cNvSpPr/>
          <p:nvPr/>
        </p:nvSpPr>
        <p:spPr>
          <a:xfrm>
            <a:off x="4013718" y="1163714"/>
            <a:ext cx="133800" cy="167400"/>
          </a:xfrm>
          <a:prstGeom prst="rect">
            <a:avLst/>
          </a:prstGeom>
          <a:no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35" name="Google Shape;135;p9"/>
          <p:cNvSpPr/>
          <p:nvPr/>
        </p:nvSpPr>
        <p:spPr>
          <a:xfrm>
            <a:off x="4237295" y="1177666"/>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02</a:t>
            </a:r>
            <a:endParaRPr sz="850" b="1" i="0" u="none" strike="noStrike" cap="none">
              <a:solidFill>
                <a:schemeClr val="lt1"/>
              </a:solidFill>
              <a:latin typeface="Syne"/>
              <a:ea typeface="Syne"/>
              <a:cs typeface="Syne"/>
              <a:sym typeface="Syne"/>
            </a:endParaRPr>
          </a:p>
        </p:txBody>
      </p:sp>
      <p:sp>
        <p:nvSpPr>
          <p:cNvPr id="136" name="Google Shape;136;p9"/>
          <p:cNvSpPr/>
          <p:nvPr/>
        </p:nvSpPr>
        <p:spPr>
          <a:xfrm>
            <a:off x="4237295" y="1350902"/>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Generate unique identification numbers for every report.</a:t>
            </a:r>
            <a:endParaRPr sz="700" b="1" i="0" u="none" strike="noStrike" cap="none">
              <a:solidFill>
                <a:schemeClr val="lt1"/>
              </a:solidFill>
              <a:latin typeface="Syne"/>
              <a:ea typeface="Syne"/>
              <a:cs typeface="Syne"/>
              <a:sym typeface="Syne"/>
            </a:endParaRPr>
          </a:p>
        </p:txBody>
      </p:sp>
      <p:sp>
        <p:nvSpPr>
          <p:cNvPr id="137" name="Google Shape;137;p9"/>
          <p:cNvSpPr/>
          <p:nvPr/>
        </p:nvSpPr>
        <p:spPr>
          <a:xfrm>
            <a:off x="3980269" y="1579651"/>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38" name="Google Shape;138;p9"/>
          <p:cNvSpPr/>
          <p:nvPr/>
        </p:nvSpPr>
        <p:spPr>
          <a:xfrm>
            <a:off x="4013718" y="1596357"/>
            <a:ext cx="133800" cy="167400"/>
          </a:xfrm>
          <a:prstGeom prst="rect">
            <a:avLst/>
          </a:prstGeom>
          <a:no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39" name="Google Shape;139;p9"/>
          <p:cNvSpPr/>
          <p:nvPr/>
        </p:nvSpPr>
        <p:spPr>
          <a:xfrm>
            <a:off x="4237295" y="1610310"/>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03</a:t>
            </a:r>
            <a:endParaRPr sz="850" b="1" i="0" u="none" strike="noStrike" cap="none">
              <a:solidFill>
                <a:schemeClr val="lt1"/>
              </a:solidFill>
              <a:latin typeface="Syne"/>
              <a:ea typeface="Syne"/>
              <a:cs typeface="Syne"/>
              <a:sym typeface="Syne"/>
            </a:endParaRPr>
          </a:p>
        </p:txBody>
      </p:sp>
      <p:sp>
        <p:nvSpPr>
          <p:cNvPr id="140" name="Google Shape;140;p9"/>
          <p:cNvSpPr/>
          <p:nvPr/>
        </p:nvSpPr>
        <p:spPr>
          <a:xfrm>
            <a:off x="4237295" y="1783546"/>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Provide role-based access for Farmers, Officers &amp; Admins.</a:t>
            </a:r>
            <a:endParaRPr sz="700" b="1" i="0" u="none" strike="noStrike" cap="none">
              <a:solidFill>
                <a:schemeClr val="lt1"/>
              </a:solidFill>
              <a:latin typeface="Syne"/>
              <a:ea typeface="Syne"/>
              <a:cs typeface="Syne"/>
              <a:sym typeface="Syne"/>
            </a:endParaRPr>
          </a:p>
        </p:txBody>
      </p:sp>
      <p:sp>
        <p:nvSpPr>
          <p:cNvPr id="141" name="Google Shape;141;p9"/>
          <p:cNvSpPr/>
          <p:nvPr/>
        </p:nvSpPr>
        <p:spPr>
          <a:xfrm>
            <a:off x="3980269" y="2012295"/>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42" name="Google Shape;142;p9"/>
          <p:cNvSpPr/>
          <p:nvPr/>
        </p:nvSpPr>
        <p:spPr>
          <a:xfrm>
            <a:off x="4013718" y="2029000"/>
            <a:ext cx="133800" cy="167400"/>
          </a:xfrm>
          <a:prstGeom prst="rect">
            <a:avLst/>
          </a:prstGeom>
          <a:solidFill>
            <a:srgbClr val="547808"/>
          </a:solid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43" name="Google Shape;143;p9"/>
          <p:cNvSpPr/>
          <p:nvPr/>
        </p:nvSpPr>
        <p:spPr>
          <a:xfrm>
            <a:off x="4237295" y="2042953"/>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04</a:t>
            </a:r>
            <a:endParaRPr sz="850" b="1" i="0" u="none" strike="noStrike" cap="none">
              <a:solidFill>
                <a:schemeClr val="lt1"/>
              </a:solidFill>
              <a:latin typeface="Syne"/>
              <a:ea typeface="Syne"/>
              <a:cs typeface="Syne"/>
              <a:sym typeface="Syne"/>
            </a:endParaRPr>
          </a:p>
        </p:txBody>
      </p:sp>
      <p:sp>
        <p:nvSpPr>
          <p:cNvPr id="144" name="Google Shape;144;p9"/>
          <p:cNvSpPr/>
          <p:nvPr/>
        </p:nvSpPr>
        <p:spPr>
          <a:xfrm>
            <a:off x="4237295" y="2216189"/>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Enable farmers to record treatment and crop health data digitally.</a:t>
            </a:r>
            <a:endParaRPr sz="700" b="1" i="0" u="none" strike="noStrike" cap="none">
              <a:solidFill>
                <a:schemeClr val="lt1"/>
              </a:solidFill>
              <a:latin typeface="Syne"/>
              <a:ea typeface="Syne"/>
              <a:cs typeface="Syne"/>
              <a:sym typeface="Syne"/>
            </a:endParaRPr>
          </a:p>
        </p:txBody>
      </p:sp>
      <p:sp>
        <p:nvSpPr>
          <p:cNvPr id="145" name="Google Shape;145;p9"/>
          <p:cNvSpPr/>
          <p:nvPr/>
        </p:nvSpPr>
        <p:spPr>
          <a:xfrm>
            <a:off x="3980269" y="2444938"/>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46" name="Google Shape;146;p9"/>
          <p:cNvSpPr/>
          <p:nvPr/>
        </p:nvSpPr>
        <p:spPr>
          <a:xfrm>
            <a:off x="4013718" y="2461644"/>
            <a:ext cx="133800" cy="167400"/>
          </a:xfrm>
          <a:prstGeom prst="rect">
            <a:avLst/>
          </a:prstGeom>
          <a:no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47" name="Google Shape;147;p9"/>
          <p:cNvSpPr/>
          <p:nvPr/>
        </p:nvSpPr>
        <p:spPr>
          <a:xfrm>
            <a:off x="4237295" y="2475596"/>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05</a:t>
            </a:r>
            <a:endParaRPr sz="850" b="1" i="0" u="none" strike="noStrike" cap="none">
              <a:solidFill>
                <a:schemeClr val="lt1"/>
              </a:solidFill>
              <a:latin typeface="Syne"/>
              <a:ea typeface="Syne"/>
              <a:cs typeface="Syne"/>
              <a:sym typeface="Syne"/>
            </a:endParaRPr>
          </a:p>
        </p:txBody>
      </p:sp>
      <p:sp>
        <p:nvSpPr>
          <p:cNvPr id="148" name="Google Shape;148;p9"/>
          <p:cNvSpPr/>
          <p:nvPr/>
        </p:nvSpPr>
        <p:spPr>
          <a:xfrm>
            <a:off x="4237295" y="2648832"/>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Auto-compare CNN image classifications with predefined safe thresholds.</a:t>
            </a:r>
            <a:endParaRPr sz="700" b="1" i="0" u="none" strike="noStrike" cap="none">
              <a:solidFill>
                <a:schemeClr val="lt1"/>
              </a:solidFill>
              <a:latin typeface="Syne"/>
              <a:ea typeface="Syne"/>
              <a:cs typeface="Syne"/>
              <a:sym typeface="Syne"/>
            </a:endParaRPr>
          </a:p>
        </p:txBody>
      </p:sp>
      <p:sp>
        <p:nvSpPr>
          <p:cNvPr id="149" name="Google Shape;149;p9"/>
          <p:cNvSpPr/>
          <p:nvPr/>
        </p:nvSpPr>
        <p:spPr>
          <a:xfrm>
            <a:off x="3980269" y="2877581"/>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50" name="Google Shape;150;p9"/>
          <p:cNvSpPr/>
          <p:nvPr/>
        </p:nvSpPr>
        <p:spPr>
          <a:xfrm>
            <a:off x="4013718" y="2894287"/>
            <a:ext cx="133800" cy="167400"/>
          </a:xfrm>
          <a:prstGeom prst="rect">
            <a:avLst/>
          </a:prstGeom>
          <a:solidFill>
            <a:srgbClr val="547808"/>
          </a:solid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51" name="Google Shape;151;p9"/>
          <p:cNvSpPr/>
          <p:nvPr/>
        </p:nvSpPr>
        <p:spPr>
          <a:xfrm>
            <a:off x="4237295" y="2908240"/>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06</a:t>
            </a:r>
            <a:endParaRPr sz="850" b="1" i="0" u="none" strike="noStrike" cap="none">
              <a:solidFill>
                <a:schemeClr val="lt1"/>
              </a:solidFill>
              <a:latin typeface="Syne"/>
              <a:ea typeface="Syne"/>
              <a:cs typeface="Syne"/>
              <a:sym typeface="Syne"/>
            </a:endParaRPr>
          </a:p>
        </p:txBody>
      </p:sp>
      <p:sp>
        <p:nvSpPr>
          <p:cNvPr id="152" name="Google Shape;152;p9"/>
          <p:cNvSpPr/>
          <p:nvPr/>
        </p:nvSpPr>
        <p:spPr>
          <a:xfrm>
            <a:off x="4237295" y="3081476"/>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Identify compliant and non-compliant/hazardous plant states.</a:t>
            </a:r>
            <a:endParaRPr sz="700" b="1" i="0" u="none" strike="noStrike" cap="none">
              <a:solidFill>
                <a:schemeClr val="lt1"/>
              </a:solidFill>
              <a:latin typeface="Syne"/>
              <a:ea typeface="Syne"/>
              <a:cs typeface="Syne"/>
              <a:sym typeface="Syne"/>
            </a:endParaRPr>
          </a:p>
        </p:txBody>
      </p:sp>
      <p:sp>
        <p:nvSpPr>
          <p:cNvPr id="153" name="Google Shape;153;p9"/>
          <p:cNvSpPr/>
          <p:nvPr/>
        </p:nvSpPr>
        <p:spPr>
          <a:xfrm>
            <a:off x="3980269" y="3310225"/>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54" name="Google Shape;154;p9"/>
          <p:cNvSpPr/>
          <p:nvPr/>
        </p:nvSpPr>
        <p:spPr>
          <a:xfrm>
            <a:off x="4013718" y="3326931"/>
            <a:ext cx="133800" cy="167400"/>
          </a:xfrm>
          <a:prstGeom prst="rect">
            <a:avLst/>
          </a:prstGeom>
          <a:solidFill>
            <a:srgbClr val="547808"/>
          </a:solid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55" name="Google Shape;155;p9"/>
          <p:cNvSpPr/>
          <p:nvPr/>
        </p:nvSpPr>
        <p:spPr>
          <a:xfrm>
            <a:off x="4237295" y="3340883"/>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07</a:t>
            </a:r>
            <a:endParaRPr sz="850" b="1" i="0" u="none" strike="noStrike" cap="none">
              <a:solidFill>
                <a:schemeClr val="lt1"/>
              </a:solidFill>
              <a:latin typeface="Syne"/>
              <a:ea typeface="Syne"/>
              <a:cs typeface="Syne"/>
              <a:sym typeface="Syne"/>
            </a:endParaRPr>
          </a:p>
        </p:txBody>
      </p:sp>
      <p:sp>
        <p:nvSpPr>
          <p:cNvPr id="156" name="Google Shape;156;p9"/>
          <p:cNvSpPr/>
          <p:nvPr/>
        </p:nvSpPr>
        <p:spPr>
          <a:xfrm>
            <a:off x="4237295" y="3514119"/>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Improve disease incident tracking throughout its lifecycle.</a:t>
            </a:r>
            <a:endParaRPr sz="700" b="1" i="0" u="none" strike="noStrike" cap="none">
              <a:solidFill>
                <a:schemeClr val="lt1"/>
              </a:solidFill>
              <a:latin typeface="Syne"/>
              <a:ea typeface="Syne"/>
              <a:cs typeface="Syne"/>
              <a:sym typeface="Syne"/>
            </a:endParaRPr>
          </a:p>
        </p:txBody>
      </p:sp>
      <p:sp>
        <p:nvSpPr>
          <p:cNvPr id="157" name="Google Shape;157;p9"/>
          <p:cNvSpPr/>
          <p:nvPr/>
        </p:nvSpPr>
        <p:spPr>
          <a:xfrm>
            <a:off x="3980269" y="3742868"/>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58" name="Google Shape;158;p9"/>
          <p:cNvSpPr/>
          <p:nvPr/>
        </p:nvSpPr>
        <p:spPr>
          <a:xfrm>
            <a:off x="4013718" y="3759574"/>
            <a:ext cx="133800" cy="167400"/>
          </a:xfrm>
          <a:prstGeom prst="rect">
            <a:avLst/>
          </a:prstGeom>
          <a:solidFill>
            <a:srgbClr val="547808"/>
          </a:solid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59" name="Google Shape;159;p9"/>
          <p:cNvSpPr/>
          <p:nvPr/>
        </p:nvSpPr>
        <p:spPr>
          <a:xfrm>
            <a:off x="4237295" y="3773527"/>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08</a:t>
            </a:r>
            <a:endParaRPr sz="850" b="1" i="0" u="none" strike="noStrike" cap="none">
              <a:solidFill>
                <a:schemeClr val="lt1"/>
              </a:solidFill>
              <a:latin typeface="Syne"/>
              <a:ea typeface="Syne"/>
              <a:cs typeface="Syne"/>
              <a:sym typeface="Syne"/>
            </a:endParaRPr>
          </a:p>
        </p:txBody>
      </p:sp>
      <p:sp>
        <p:nvSpPr>
          <p:cNvPr id="160" name="Google Shape;160;p9"/>
          <p:cNvSpPr/>
          <p:nvPr/>
        </p:nvSpPr>
        <p:spPr>
          <a:xfrm>
            <a:off x="4237295" y="3946763"/>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Generate agricultural compliance reports after verification.</a:t>
            </a:r>
            <a:endParaRPr sz="700" b="1" i="0" u="none" strike="noStrike" cap="none">
              <a:solidFill>
                <a:schemeClr val="lt1"/>
              </a:solidFill>
              <a:latin typeface="Syne"/>
              <a:ea typeface="Syne"/>
              <a:cs typeface="Syne"/>
              <a:sym typeface="Syne"/>
            </a:endParaRPr>
          </a:p>
        </p:txBody>
      </p:sp>
      <p:sp>
        <p:nvSpPr>
          <p:cNvPr id="161" name="Google Shape;161;p9"/>
          <p:cNvSpPr/>
          <p:nvPr/>
        </p:nvSpPr>
        <p:spPr>
          <a:xfrm>
            <a:off x="3980269" y="4175511"/>
            <a:ext cx="200700" cy="200700"/>
          </a:xfrm>
          <a:prstGeom prst="roundRect">
            <a:avLst>
              <a:gd name="adj" fmla="val 40002"/>
            </a:avLst>
          </a:prstGeom>
          <a:solidFill>
            <a:srgbClr val="547808"/>
          </a:solidFill>
          <a:ln w="9525" cap="flat" cmpd="sng">
            <a:solidFill>
              <a:srgbClr val="54780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Syne"/>
              <a:ea typeface="Syne"/>
              <a:cs typeface="Syne"/>
              <a:sym typeface="Syne"/>
            </a:endParaRPr>
          </a:p>
        </p:txBody>
      </p:sp>
      <p:sp>
        <p:nvSpPr>
          <p:cNvPr id="162" name="Google Shape;162;p9"/>
          <p:cNvSpPr/>
          <p:nvPr/>
        </p:nvSpPr>
        <p:spPr>
          <a:xfrm>
            <a:off x="4013718" y="4192217"/>
            <a:ext cx="133800" cy="167400"/>
          </a:xfrm>
          <a:prstGeom prst="rect">
            <a:avLst/>
          </a:prstGeom>
          <a:noFill/>
          <a:ln>
            <a:noFill/>
          </a:ln>
        </p:spPr>
        <p:txBody>
          <a:bodyPr spcFirstLastPara="1" wrap="square" lIns="0" tIns="0" rIns="0" bIns="0" anchor="ctr" anchorCtr="0">
            <a:noAutofit/>
          </a:bodyPr>
          <a:lstStyle/>
          <a:p>
            <a:pPr marL="0" lvl="0" indent="0" algn="l" rtl="0">
              <a:lnSpc>
                <a:spcPct val="104000"/>
              </a:lnSpc>
              <a:spcBef>
                <a:spcPts val="0"/>
              </a:spcBef>
              <a:spcAft>
                <a:spcPts val="0"/>
              </a:spcAft>
              <a:buClr>
                <a:schemeClr val="dk1"/>
              </a:buClr>
              <a:buSzPts val="1100"/>
              <a:buFont typeface="Arial"/>
              <a:buNone/>
            </a:pPr>
            <a:r>
              <a:rPr lang="en-US" sz="1100">
                <a:solidFill>
                  <a:schemeClr val="dk1"/>
                </a:solidFill>
              </a:rPr>
              <a:t>🌿</a:t>
            </a:r>
            <a:endParaRPr sz="1050" b="1" i="0" u="none" strike="noStrike" cap="none">
              <a:solidFill>
                <a:schemeClr val="lt1"/>
              </a:solidFill>
              <a:latin typeface="Syne"/>
              <a:ea typeface="Syne"/>
              <a:cs typeface="Syne"/>
              <a:sym typeface="Syne"/>
            </a:endParaRPr>
          </a:p>
        </p:txBody>
      </p:sp>
      <p:sp>
        <p:nvSpPr>
          <p:cNvPr id="163" name="Google Shape;163;p9"/>
          <p:cNvSpPr/>
          <p:nvPr/>
        </p:nvSpPr>
        <p:spPr>
          <a:xfrm>
            <a:off x="4237295" y="4206170"/>
            <a:ext cx="4465800" cy="1395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850"/>
              <a:buFont typeface="Arial"/>
              <a:buNone/>
            </a:pPr>
            <a:r>
              <a:rPr lang="en-US" sz="850" b="1" i="0" u="none" strike="noStrike" cap="none">
                <a:solidFill>
                  <a:schemeClr val="lt1"/>
                </a:solidFill>
                <a:latin typeface="Syne"/>
                <a:ea typeface="Syne"/>
                <a:cs typeface="Syne"/>
                <a:sym typeface="Syne"/>
              </a:rPr>
              <a:t>09</a:t>
            </a:r>
            <a:endParaRPr sz="850" b="1" i="0" u="none" strike="noStrike" cap="none">
              <a:solidFill>
                <a:schemeClr val="lt1"/>
              </a:solidFill>
              <a:latin typeface="Syne"/>
              <a:ea typeface="Syne"/>
              <a:cs typeface="Syne"/>
              <a:sym typeface="Syne"/>
            </a:endParaRPr>
          </a:p>
        </p:txBody>
      </p:sp>
      <p:sp>
        <p:nvSpPr>
          <p:cNvPr id="164" name="Google Shape;164;p9"/>
          <p:cNvSpPr/>
          <p:nvPr/>
        </p:nvSpPr>
        <p:spPr>
          <a:xfrm>
            <a:off x="4237295" y="4379406"/>
            <a:ext cx="4465800" cy="116400"/>
          </a:xfrm>
          <a:prstGeom prst="rect">
            <a:avLst/>
          </a:prstGeom>
          <a:noFill/>
          <a:ln>
            <a:noFill/>
          </a:ln>
        </p:spPr>
        <p:txBody>
          <a:bodyPr spcFirstLastPara="1" wrap="square" lIns="0" tIns="0" rIns="0" bIns="0" anchor="t" anchorCtr="0">
            <a:noAutofit/>
          </a:bodyPr>
          <a:lstStyle/>
          <a:p>
            <a:pPr marL="0" marR="0" lvl="0" indent="0" algn="l" rtl="0">
              <a:lnSpc>
                <a:spcPct val="109000"/>
              </a:lnSpc>
              <a:spcBef>
                <a:spcPts val="0"/>
              </a:spcBef>
              <a:spcAft>
                <a:spcPts val="0"/>
              </a:spcAft>
              <a:buClr>
                <a:srgbClr val="4B4A4A"/>
              </a:buClr>
              <a:buSzPts val="700"/>
              <a:buFont typeface="Geist"/>
              <a:buNone/>
            </a:pPr>
            <a:r>
              <a:rPr lang="en-US" sz="700" b="1" i="0" u="none" strike="noStrike" cap="none">
                <a:solidFill>
                  <a:schemeClr val="lt1"/>
                </a:solidFill>
                <a:latin typeface="Syne"/>
                <a:ea typeface="Syne"/>
                <a:cs typeface="Syne"/>
                <a:sym typeface="Syne"/>
              </a:rPr>
              <a:t>Reduce manual work and minimise diagnostic response delays.</a:t>
            </a:r>
            <a:endParaRPr sz="700" b="1" i="0" u="none" strike="noStrike" cap="none">
              <a:solidFill>
                <a:schemeClr val="lt1"/>
              </a:solidFill>
              <a:latin typeface="Syne"/>
              <a:ea typeface="Syne"/>
              <a:cs typeface="Syne"/>
              <a:sym typeface="Syn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0"/>
          <p:cNvSpPr/>
          <p:nvPr/>
        </p:nvSpPr>
        <p:spPr>
          <a:xfrm>
            <a:off x="496119" y="554682"/>
            <a:ext cx="8151900" cy="443100"/>
          </a:xfrm>
          <a:prstGeom prst="rect">
            <a:avLst/>
          </a:prstGeom>
          <a:solidFill>
            <a:srgbClr val="547808"/>
          </a:solid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2750"/>
              <a:buFont typeface="Arial"/>
              <a:buNone/>
            </a:pPr>
            <a:r>
              <a:rPr lang="en-US" sz="2750" b="1" i="0" u="none" strike="noStrike" cap="none">
                <a:solidFill>
                  <a:schemeClr val="lt1"/>
                </a:solidFill>
                <a:latin typeface="Syne"/>
                <a:ea typeface="Syne"/>
                <a:cs typeface="Syne"/>
                <a:sym typeface="Syne"/>
              </a:rPr>
              <a:t>Main System Modules</a:t>
            </a:r>
            <a:endParaRPr sz="2750" b="1" i="0" u="none" strike="noStrike" cap="none">
              <a:solidFill>
                <a:schemeClr val="lt1"/>
              </a:solidFill>
              <a:latin typeface="Syne"/>
              <a:ea typeface="Syne"/>
              <a:cs typeface="Syne"/>
              <a:sym typeface="Syne"/>
            </a:endParaRPr>
          </a:p>
        </p:txBody>
      </p:sp>
      <p:pic>
        <p:nvPicPr>
          <p:cNvPr id="171" name="Google Shape;171;p10" descr="preencoded.png"/>
          <p:cNvPicPr preferRelativeResize="0"/>
          <p:nvPr/>
        </p:nvPicPr>
        <p:blipFill rotWithShape="1">
          <a:blip r:embed="rId3">
            <a:alphaModFix/>
          </a:blip>
          <a:srcRect/>
          <a:stretch/>
        </p:blipFill>
        <p:spPr>
          <a:xfrm>
            <a:off x="496119" y="1369740"/>
            <a:ext cx="1880592" cy="2673326"/>
          </a:xfrm>
          <a:prstGeom prst="rect">
            <a:avLst/>
          </a:prstGeom>
          <a:noFill/>
          <a:ln>
            <a:noFill/>
          </a:ln>
        </p:spPr>
      </p:pic>
      <p:pic>
        <p:nvPicPr>
          <p:cNvPr id="172" name="Google Shape;172;p10" descr="preencoded.png"/>
          <p:cNvPicPr preferRelativeResize="0"/>
          <p:nvPr/>
        </p:nvPicPr>
        <p:blipFill rotWithShape="1">
          <a:blip r:embed="rId4">
            <a:alphaModFix/>
          </a:blip>
          <a:srcRect/>
          <a:stretch/>
        </p:blipFill>
        <p:spPr>
          <a:xfrm>
            <a:off x="1351322" y="1497285"/>
            <a:ext cx="170111" cy="170111"/>
          </a:xfrm>
          <a:prstGeom prst="rect">
            <a:avLst/>
          </a:prstGeom>
          <a:noFill/>
          <a:ln>
            <a:noFill/>
          </a:ln>
        </p:spPr>
      </p:pic>
      <p:sp>
        <p:nvSpPr>
          <p:cNvPr id="173" name="Google Shape;173;p10"/>
          <p:cNvSpPr/>
          <p:nvPr/>
        </p:nvSpPr>
        <p:spPr>
          <a:xfrm>
            <a:off x="656927" y="1936700"/>
            <a:ext cx="1559100" cy="4428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350"/>
              <a:buFont typeface="Arial"/>
              <a:buNone/>
            </a:pPr>
            <a:r>
              <a:rPr lang="en-US" sz="1350" b="1" i="0" u="none" strike="noStrike" cap="none">
                <a:solidFill>
                  <a:srgbClr val="4B4A4A"/>
                </a:solidFill>
                <a:latin typeface="Arial"/>
                <a:ea typeface="Arial"/>
                <a:cs typeface="Arial"/>
                <a:sym typeface="Arial"/>
              </a:rPr>
              <a:t>Farmer / Reporter Module</a:t>
            </a:r>
            <a:endParaRPr sz="1350" b="0" i="0" u="none" strike="noStrike" cap="none">
              <a:solidFill>
                <a:srgbClr val="000000"/>
              </a:solidFill>
              <a:latin typeface="Calibri"/>
              <a:ea typeface="Calibri"/>
              <a:cs typeface="Calibri"/>
              <a:sym typeface="Calibri"/>
            </a:endParaRPr>
          </a:p>
        </p:txBody>
      </p:sp>
      <p:sp>
        <p:nvSpPr>
          <p:cNvPr id="174" name="Google Shape;174;p10"/>
          <p:cNvSpPr/>
          <p:nvPr/>
        </p:nvSpPr>
        <p:spPr>
          <a:xfrm>
            <a:off x="656927" y="2521372"/>
            <a:ext cx="1559100" cy="1360800"/>
          </a:xfrm>
          <a:prstGeom prst="rect">
            <a:avLst/>
          </a:prstGeom>
          <a:noFill/>
          <a:ln>
            <a:noFill/>
          </a:ln>
        </p:spPr>
        <p:txBody>
          <a:bodyPr spcFirstLastPara="1" wrap="square" lIns="0" tIns="0" rIns="0" bIns="0" anchor="t" anchorCtr="0">
            <a:noAutofit/>
          </a:bodyPr>
          <a:lstStyle/>
          <a:p>
            <a:pPr marL="0" marR="0" lvl="0" indent="0" algn="just" rtl="0">
              <a:lnSpc>
                <a:spcPct val="133000"/>
              </a:lnSpc>
              <a:spcBef>
                <a:spcPts val="0"/>
              </a:spcBef>
              <a:spcAft>
                <a:spcPts val="0"/>
              </a:spcAft>
              <a:buClr>
                <a:srgbClr val="4B4A4A"/>
              </a:buClr>
              <a:buSzPts val="1100"/>
              <a:buFont typeface="Geist"/>
              <a:buNone/>
            </a:pPr>
            <a:r>
              <a:rPr lang="en-US" sz="1100" b="0" i="0" u="none" strike="noStrike" cap="none">
                <a:solidFill>
                  <a:srgbClr val="4B4A4A"/>
                </a:solidFill>
                <a:latin typeface="Geist"/>
                <a:ea typeface="Geist"/>
                <a:cs typeface="Geist"/>
                <a:sym typeface="Geist"/>
              </a:rPr>
              <a:t>Submit disease reports with location and image, monitor report status, and view resolution updates and environmental reports.</a:t>
            </a:r>
            <a:endParaRPr sz="1100" b="0" i="0" u="none" strike="noStrike" cap="none">
              <a:solidFill>
                <a:srgbClr val="000000"/>
              </a:solidFill>
              <a:latin typeface="Calibri"/>
              <a:ea typeface="Calibri"/>
              <a:cs typeface="Calibri"/>
              <a:sym typeface="Calibri"/>
            </a:endParaRPr>
          </a:p>
        </p:txBody>
      </p:sp>
      <p:pic>
        <p:nvPicPr>
          <p:cNvPr id="175" name="Google Shape;175;p10" descr="preencoded.png"/>
          <p:cNvPicPr preferRelativeResize="0"/>
          <p:nvPr/>
        </p:nvPicPr>
        <p:blipFill rotWithShape="1">
          <a:blip r:embed="rId3">
            <a:alphaModFix/>
          </a:blip>
          <a:srcRect/>
          <a:stretch/>
        </p:blipFill>
        <p:spPr>
          <a:xfrm>
            <a:off x="2518470" y="1369740"/>
            <a:ext cx="1880592" cy="2673326"/>
          </a:xfrm>
          <a:prstGeom prst="rect">
            <a:avLst/>
          </a:prstGeom>
          <a:noFill/>
          <a:ln>
            <a:noFill/>
          </a:ln>
        </p:spPr>
      </p:pic>
      <p:pic>
        <p:nvPicPr>
          <p:cNvPr id="176" name="Google Shape;176;p10" descr="preencoded.png"/>
          <p:cNvPicPr preferRelativeResize="0"/>
          <p:nvPr/>
        </p:nvPicPr>
        <p:blipFill rotWithShape="1">
          <a:blip r:embed="rId5">
            <a:alphaModFix/>
          </a:blip>
          <a:srcRect/>
          <a:stretch/>
        </p:blipFill>
        <p:spPr>
          <a:xfrm>
            <a:off x="3373673" y="1497285"/>
            <a:ext cx="170111" cy="170111"/>
          </a:xfrm>
          <a:prstGeom prst="rect">
            <a:avLst/>
          </a:prstGeom>
          <a:noFill/>
          <a:ln>
            <a:noFill/>
          </a:ln>
        </p:spPr>
      </p:pic>
      <p:sp>
        <p:nvSpPr>
          <p:cNvPr id="177" name="Google Shape;177;p10"/>
          <p:cNvSpPr/>
          <p:nvPr/>
        </p:nvSpPr>
        <p:spPr>
          <a:xfrm>
            <a:off x="2679278" y="1936700"/>
            <a:ext cx="1559100" cy="4428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350"/>
              <a:buFont typeface="Arial"/>
              <a:buNone/>
            </a:pPr>
            <a:r>
              <a:rPr lang="en-US" sz="1350" b="1" i="0" u="none" strike="noStrike" cap="none">
                <a:solidFill>
                  <a:srgbClr val="4B4A4A"/>
                </a:solidFill>
                <a:latin typeface="Arial"/>
                <a:ea typeface="Arial"/>
                <a:cs typeface="Arial"/>
                <a:sym typeface="Arial"/>
              </a:rPr>
              <a:t>Agricultural Officer Module</a:t>
            </a:r>
            <a:endParaRPr sz="1350" b="0" i="0" u="none" strike="noStrike" cap="none">
              <a:solidFill>
                <a:srgbClr val="000000"/>
              </a:solidFill>
              <a:latin typeface="Calibri"/>
              <a:ea typeface="Calibri"/>
              <a:cs typeface="Calibri"/>
              <a:sym typeface="Calibri"/>
            </a:endParaRPr>
          </a:p>
        </p:txBody>
      </p:sp>
      <p:sp>
        <p:nvSpPr>
          <p:cNvPr id="178" name="Google Shape;178;p10"/>
          <p:cNvSpPr/>
          <p:nvPr/>
        </p:nvSpPr>
        <p:spPr>
          <a:xfrm>
            <a:off x="2679278" y="2521372"/>
            <a:ext cx="1559100" cy="1134000"/>
          </a:xfrm>
          <a:prstGeom prst="rect">
            <a:avLst/>
          </a:prstGeom>
          <a:noFill/>
          <a:ln>
            <a:noFill/>
          </a:ln>
        </p:spPr>
        <p:txBody>
          <a:bodyPr spcFirstLastPara="1" wrap="square" lIns="0" tIns="0" rIns="0" bIns="0" anchor="t" anchorCtr="0">
            <a:noAutofit/>
          </a:bodyPr>
          <a:lstStyle/>
          <a:p>
            <a:pPr marL="0" marR="0" lvl="0" indent="0" algn="just" rtl="0">
              <a:lnSpc>
                <a:spcPct val="133000"/>
              </a:lnSpc>
              <a:spcBef>
                <a:spcPts val="0"/>
              </a:spcBef>
              <a:spcAft>
                <a:spcPts val="0"/>
              </a:spcAft>
              <a:buClr>
                <a:srgbClr val="4B4A4A"/>
              </a:buClr>
              <a:buSzPts val="1100"/>
              <a:buFont typeface="Geist"/>
              <a:buNone/>
            </a:pPr>
            <a:r>
              <a:rPr lang="en-US" sz="1100" b="0" i="0" u="none" strike="noStrike" cap="none">
                <a:solidFill>
                  <a:srgbClr val="4B4A4A"/>
                </a:solidFill>
                <a:latin typeface="Geist"/>
                <a:ea typeface="Geist"/>
                <a:cs typeface="Geist"/>
                <a:sym typeface="Geist"/>
              </a:rPr>
              <a:t>View assigned disease reports, record health readings and treatment actions, and update investigation status.</a:t>
            </a:r>
            <a:endParaRPr sz="1100" b="0" i="0" u="none" strike="noStrike" cap="none">
              <a:solidFill>
                <a:srgbClr val="000000"/>
              </a:solidFill>
              <a:latin typeface="Calibri"/>
              <a:ea typeface="Calibri"/>
              <a:cs typeface="Calibri"/>
              <a:sym typeface="Calibri"/>
            </a:endParaRPr>
          </a:p>
        </p:txBody>
      </p:sp>
      <p:pic>
        <p:nvPicPr>
          <p:cNvPr id="179" name="Google Shape;179;p10" descr="preencoded.png"/>
          <p:cNvPicPr preferRelativeResize="0"/>
          <p:nvPr/>
        </p:nvPicPr>
        <p:blipFill rotWithShape="1">
          <a:blip r:embed="rId3">
            <a:alphaModFix/>
          </a:blip>
          <a:srcRect/>
          <a:stretch/>
        </p:blipFill>
        <p:spPr>
          <a:xfrm>
            <a:off x="4749701" y="1369740"/>
            <a:ext cx="1880592" cy="2673326"/>
          </a:xfrm>
          <a:prstGeom prst="rect">
            <a:avLst/>
          </a:prstGeom>
          <a:noFill/>
          <a:ln>
            <a:noFill/>
          </a:ln>
        </p:spPr>
      </p:pic>
      <p:pic>
        <p:nvPicPr>
          <p:cNvPr id="180" name="Google Shape;180;p10" descr="preencoded.png"/>
          <p:cNvPicPr preferRelativeResize="0"/>
          <p:nvPr/>
        </p:nvPicPr>
        <p:blipFill rotWithShape="1">
          <a:blip r:embed="rId6">
            <a:alphaModFix/>
          </a:blip>
          <a:srcRect/>
          <a:stretch/>
        </p:blipFill>
        <p:spPr>
          <a:xfrm>
            <a:off x="5604904" y="1497285"/>
            <a:ext cx="170111" cy="170111"/>
          </a:xfrm>
          <a:prstGeom prst="rect">
            <a:avLst/>
          </a:prstGeom>
          <a:noFill/>
          <a:ln>
            <a:noFill/>
          </a:ln>
        </p:spPr>
      </p:pic>
      <p:sp>
        <p:nvSpPr>
          <p:cNvPr id="181" name="Google Shape;181;p10"/>
          <p:cNvSpPr/>
          <p:nvPr/>
        </p:nvSpPr>
        <p:spPr>
          <a:xfrm>
            <a:off x="4910510" y="1936700"/>
            <a:ext cx="1559100" cy="2214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350"/>
              <a:buFont typeface="Arial"/>
              <a:buNone/>
            </a:pPr>
            <a:r>
              <a:rPr lang="en-US" sz="1350" b="1" i="0" u="none" strike="noStrike" cap="none">
                <a:solidFill>
                  <a:srgbClr val="4B4A4A"/>
                </a:solidFill>
                <a:latin typeface="Arial"/>
                <a:ea typeface="Arial"/>
                <a:cs typeface="Arial"/>
                <a:sym typeface="Arial"/>
              </a:rPr>
              <a:t>Admin Module</a:t>
            </a:r>
            <a:endParaRPr sz="1350" b="0" i="0" u="none" strike="noStrike" cap="none">
              <a:solidFill>
                <a:srgbClr val="000000"/>
              </a:solidFill>
              <a:latin typeface="Calibri"/>
              <a:ea typeface="Calibri"/>
              <a:cs typeface="Calibri"/>
              <a:sym typeface="Calibri"/>
            </a:endParaRPr>
          </a:p>
        </p:txBody>
      </p:sp>
      <p:sp>
        <p:nvSpPr>
          <p:cNvPr id="182" name="Google Shape;182;p10"/>
          <p:cNvSpPr/>
          <p:nvPr/>
        </p:nvSpPr>
        <p:spPr>
          <a:xfrm>
            <a:off x="4910510" y="2299915"/>
            <a:ext cx="1559100" cy="1360800"/>
          </a:xfrm>
          <a:prstGeom prst="rect">
            <a:avLst/>
          </a:prstGeom>
          <a:noFill/>
          <a:ln>
            <a:noFill/>
          </a:ln>
        </p:spPr>
        <p:txBody>
          <a:bodyPr spcFirstLastPara="1" wrap="square" lIns="0" tIns="0" rIns="0" bIns="0" anchor="t" anchorCtr="0">
            <a:noAutofit/>
          </a:bodyPr>
          <a:lstStyle/>
          <a:p>
            <a:pPr marL="0" marR="0" lvl="0" indent="0" algn="just" rtl="0">
              <a:lnSpc>
                <a:spcPct val="133000"/>
              </a:lnSpc>
              <a:spcBef>
                <a:spcPts val="0"/>
              </a:spcBef>
              <a:spcAft>
                <a:spcPts val="0"/>
              </a:spcAft>
              <a:buClr>
                <a:srgbClr val="4B4A4A"/>
              </a:buClr>
              <a:buSzPts val="1100"/>
              <a:buFont typeface="Geist"/>
              <a:buNone/>
            </a:pPr>
            <a:r>
              <a:rPr lang="en-US" sz="1100" b="0" i="0" u="none" strike="noStrike" cap="none">
                <a:solidFill>
                  <a:srgbClr val="4B4A4A"/>
                </a:solidFill>
                <a:latin typeface="Geist"/>
                <a:ea typeface="Geist"/>
                <a:cs typeface="Geist"/>
                <a:sym typeface="Geist"/>
              </a:rPr>
              <a:t>Manage users, verify incoming reports, assign field officers, approve agricultural reports &amp; monitor farm compliance.</a:t>
            </a:r>
            <a:endParaRPr sz="1100" b="0" i="0" u="none" strike="noStrike" cap="none">
              <a:solidFill>
                <a:srgbClr val="000000"/>
              </a:solidFill>
              <a:latin typeface="Calibri"/>
              <a:ea typeface="Calibri"/>
              <a:cs typeface="Calibri"/>
              <a:sym typeface="Calibri"/>
            </a:endParaRPr>
          </a:p>
        </p:txBody>
      </p:sp>
      <p:pic>
        <p:nvPicPr>
          <p:cNvPr id="183" name="Google Shape;183;p10" descr="preencoded.png"/>
          <p:cNvPicPr preferRelativeResize="0"/>
          <p:nvPr/>
        </p:nvPicPr>
        <p:blipFill rotWithShape="1">
          <a:blip r:embed="rId3">
            <a:alphaModFix/>
          </a:blip>
          <a:srcRect/>
          <a:stretch/>
        </p:blipFill>
        <p:spPr>
          <a:xfrm>
            <a:off x="6772052" y="1369740"/>
            <a:ext cx="1880592" cy="2673326"/>
          </a:xfrm>
          <a:prstGeom prst="rect">
            <a:avLst/>
          </a:prstGeom>
          <a:noFill/>
          <a:ln>
            <a:noFill/>
          </a:ln>
        </p:spPr>
      </p:pic>
      <p:pic>
        <p:nvPicPr>
          <p:cNvPr id="184" name="Google Shape;184;p10" descr="preencoded.png"/>
          <p:cNvPicPr preferRelativeResize="0"/>
          <p:nvPr/>
        </p:nvPicPr>
        <p:blipFill rotWithShape="1">
          <a:blip r:embed="rId7">
            <a:alphaModFix/>
          </a:blip>
          <a:srcRect/>
          <a:stretch/>
        </p:blipFill>
        <p:spPr>
          <a:xfrm>
            <a:off x="7627255" y="1497285"/>
            <a:ext cx="170111" cy="170111"/>
          </a:xfrm>
          <a:prstGeom prst="rect">
            <a:avLst/>
          </a:prstGeom>
          <a:noFill/>
          <a:ln>
            <a:noFill/>
          </a:ln>
        </p:spPr>
      </p:pic>
      <p:sp>
        <p:nvSpPr>
          <p:cNvPr id="185" name="Google Shape;185;p10"/>
          <p:cNvSpPr/>
          <p:nvPr/>
        </p:nvSpPr>
        <p:spPr>
          <a:xfrm>
            <a:off x="6932861" y="1936700"/>
            <a:ext cx="1559100" cy="4428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350"/>
              <a:buFont typeface="Arial"/>
              <a:buNone/>
            </a:pPr>
            <a:r>
              <a:rPr lang="en-US" sz="1350" b="1" i="0" u="none" strike="noStrike" cap="none">
                <a:solidFill>
                  <a:srgbClr val="4B4A4A"/>
                </a:solidFill>
                <a:latin typeface="Arial"/>
                <a:ea typeface="Arial"/>
                <a:cs typeface="Arial"/>
                <a:sym typeface="Arial"/>
              </a:rPr>
              <a:t>AI Engine Module</a:t>
            </a:r>
            <a:endParaRPr sz="1350" b="0" i="0" u="none" strike="noStrike" cap="none">
              <a:solidFill>
                <a:srgbClr val="000000"/>
              </a:solidFill>
              <a:latin typeface="Calibri"/>
              <a:ea typeface="Calibri"/>
              <a:cs typeface="Calibri"/>
              <a:sym typeface="Calibri"/>
            </a:endParaRPr>
          </a:p>
        </p:txBody>
      </p:sp>
      <p:sp>
        <p:nvSpPr>
          <p:cNvPr id="186" name="Google Shape;186;p10"/>
          <p:cNvSpPr/>
          <p:nvPr/>
        </p:nvSpPr>
        <p:spPr>
          <a:xfrm>
            <a:off x="6932774" y="2379497"/>
            <a:ext cx="1559100" cy="1360800"/>
          </a:xfrm>
          <a:prstGeom prst="rect">
            <a:avLst/>
          </a:prstGeom>
          <a:noFill/>
          <a:ln>
            <a:noFill/>
          </a:ln>
        </p:spPr>
        <p:txBody>
          <a:bodyPr spcFirstLastPara="1" wrap="square" lIns="0" tIns="0" rIns="0" bIns="0" anchor="t" anchorCtr="0">
            <a:noAutofit/>
          </a:bodyPr>
          <a:lstStyle/>
          <a:p>
            <a:pPr marL="0" marR="0" lvl="0" indent="0" algn="just" rtl="0">
              <a:lnSpc>
                <a:spcPct val="133000"/>
              </a:lnSpc>
              <a:spcBef>
                <a:spcPts val="0"/>
              </a:spcBef>
              <a:spcAft>
                <a:spcPts val="0"/>
              </a:spcAft>
              <a:buClr>
                <a:srgbClr val="4B4A4A"/>
              </a:buClr>
              <a:buSzPts val="1100"/>
              <a:buFont typeface="Geist"/>
              <a:buNone/>
            </a:pPr>
            <a:r>
              <a:rPr lang="en-US" sz="1100" b="0" i="0" u="none" strike="noStrike" cap="none">
                <a:solidFill>
                  <a:srgbClr val="4B4A4A"/>
                </a:solidFill>
                <a:latin typeface="Geist"/>
                <a:ea typeface="Geist"/>
                <a:cs typeface="Geist"/>
                <a:sym typeface="Geist"/>
              </a:rPr>
              <a:t>Automatically evaluates uploaded leaf imagery against trained deep learning thresholds to determine disease hazard status.</a:t>
            </a:r>
            <a:endParaRPr sz="1100" b="0" i="0" u="none" strike="noStrike" cap="non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93C47D"/>
        </a:solidFill>
        <a:effectLst/>
      </p:bgPr>
    </p:bg>
    <p:spTree>
      <p:nvGrpSpPr>
        <p:cNvPr id="1" name="Shape 191"/>
        <p:cNvGrpSpPr/>
        <p:nvPr/>
      </p:nvGrpSpPr>
      <p:grpSpPr>
        <a:xfrm>
          <a:off x="0" y="0"/>
          <a:ext cx="0" cy="0"/>
          <a:chOff x="0" y="0"/>
          <a:chExt cx="0" cy="0"/>
        </a:xfrm>
      </p:grpSpPr>
      <p:sp>
        <p:nvSpPr>
          <p:cNvPr id="192" name="Google Shape;192;p11"/>
          <p:cNvSpPr/>
          <p:nvPr/>
        </p:nvSpPr>
        <p:spPr>
          <a:xfrm>
            <a:off x="496119" y="472976"/>
            <a:ext cx="8151900" cy="420900"/>
          </a:xfrm>
          <a:prstGeom prst="rect">
            <a:avLst/>
          </a:prstGeom>
          <a:solidFill>
            <a:srgbClr val="547808"/>
          </a:solid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006747"/>
              </a:buClr>
              <a:buSzPts val="2650"/>
              <a:buFont typeface="Arial"/>
              <a:buNone/>
            </a:pPr>
            <a:r>
              <a:rPr lang="en-US" sz="2650" b="1" i="0" u="none" strike="noStrike" cap="none">
                <a:solidFill>
                  <a:schemeClr val="lt1"/>
                </a:solidFill>
                <a:latin typeface="Arial"/>
                <a:ea typeface="Arial"/>
                <a:cs typeface="Arial"/>
                <a:sym typeface="Arial"/>
              </a:rPr>
              <a:t>System Workflow</a:t>
            </a:r>
            <a:endParaRPr sz="2650" b="0" i="0" u="none" strike="noStrike" cap="none">
              <a:solidFill>
                <a:schemeClr val="lt1"/>
              </a:solidFill>
              <a:latin typeface="Calibri"/>
              <a:ea typeface="Calibri"/>
              <a:cs typeface="Calibri"/>
              <a:sym typeface="Calibri"/>
            </a:endParaRPr>
          </a:p>
        </p:txBody>
      </p:sp>
      <p:pic>
        <p:nvPicPr>
          <p:cNvPr id="193" name="Google Shape;193;p11" descr="preencoded.png"/>
          <p:cNvPicPr preferRelativeResize="0"/>
          <p:nvPr/>
        </p:nvPicPr>
        <p:blipFill rotWithShape="1">
          <a:blip r:embed="rId3">
            <a:alphaModFix/>
          </a:blip>
          <a:srcRect/>
          <a:stretch/>
        </p:blipFill>
        <p:spPr>
          <a:xfrm>
            <a:off x="823913" y="1149697"/>
            <a:ext cx="7496101" cy="2812852"/>
          </a:xfrm>
          <a:prstGeom prst="rect">
            <a:avLst/>
          </a:prstGeom>
          <a:noFill/>
          <a:ln>
            <a:noFill/>
          </a:ln>
        </p:spPr>
      </p:pic>
      <p:sp>
        <p:nvSpPr>
          <p:cNvPr id="194" name="Google Shape;194;p11"/>
          <p:cNvSpPr/>
          <p:nvPr/>
        </p:nvSpPr>
        <p:spPr>
          <a:xfrm>
            <a:off x="6880666" y="3170803"/>
            <a:ext cx="1130700" cy="4356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350"/>
              <a:buFont typeface="Arial"/>
              <a:buNone/>
            </a:pPr>
            <a:r>
              <a:rPr lang="en-US" sz="1350" b="1" i="0" u="none" strike="noStrike" cap="none">
                <a:solidFill>
                  <a:schemeClr val="lt1"/>
                </a:solidFill>
                <a:latin typeface="Syne"/>
                <a:ea typeface="Syne"/>
                <a:cs typeface="Syne"/>
                <a:sym typeface="Syne"/>
              </a:rPr>
              <a:t>Health Tracking</a:t>
            </a:r>
            <a:endParaRPr sz="1350" b="1" i="0" u="none" strike="noStrike" cap="none">
              <a:solidFill>
                <a:schemeClr val="lt1"/>
              </a:solidFill>
              <a:latin typeface="Syne"/>
              <a:ea typeface="Syne"/>
              <a:cs typeface="Syne"/>
              <a:sym typeface="Syne"/>
            </a:endParaRPr>
          </a:p>
        </p:txBody>
      </p:sp>
      <p:sp>
        <p:nvSpPr>
          <p:cNvPr id="195" name="Google Shape;195;p11"/>
          <p:cNvSpPr/>
          <p:nvPr/>
        </p:nvSpPr>
        <p:spPr>
          <a:xfrm>
            <a:off x="5455770" y="3170803"/>
            <a:ext cx="1130700" cy="4356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350"/>
              <a:buFont typeface="Arial"/>
              <a:buNone/>
            </a:pPr>
            <a:r>
              <a:rPr lang="en-US" sz="1350" b="1" i="0" u="none" strike="noStrike" cap="none">
                <a:solidFill>
                  <a:schemeClr val="lt1"/>
                </a:solidFill>
                <a:latin typeface="Syne"/>
                <a:ea typeface="Syne"/>
                <a:cs typeface="Syne"/>
                <a:sym typeface="Syne"/>
              </a:rPr>
              <a:t>Treatment Assignment</a:t>
            </a:r>
            <a:endParaRPr sz="1350" b="1" i="0" u="none" strike="noStrike" cap="none">
              <a:solidFill>
                <a:schemeClr val="lt1"/>
              </a:solidFill>
              <a:latin typeface="Syne"/>
              <a:ea typeface="Syne"/>
              <a:cs typeface="Syne"/>
              <a:sym typeface="Syne"/>
            </a:endParaRPr>
          </a:p>
        </p:txBody>
      </p:sp>
      <p:sp>
        <p:nvSpPr>
          <p:cNvPr id="196" name="Google Shape;196;p11"/>
          <p:cNvSpPr/>
          <p:nvPr/>
        </p:nvSpPr>
        <p:spPr>
          <a:xfrm>
            <a:off x="4038618" y="3279703"/>
            <a:ext cx="1130700" cy="2178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350"/>
              <a:buFont typeface="Arial"/>
              <a:buNone/>
            </a:pPr>
            <a:r>
              <a:rPr lang="en-US" sz="1350" b="1" i="0" u="none" strike="noStrike" cap="none">
                <a:solidFill>
                  <a:schemeClr val="lt1"/>
                </a:solidFill>
                <a:latin typeface="Syne"/>
                <a:ea typeface="Syne"/>
                <a:cs typeface="Syne"/>
                <a:sym typeface="Syne"/>
              </a:rPr>
              <a:t>Verification</a:t>
            </a:r>
            <a:endParaRPr sz="1350" b="1" i="0" u="none" strike="noStrike" cap="none">
              <a:solidFill>
                <a:schemeClr val="lt1"/>
              </a:solidFill>
              <a:latin typeface="Syne"/>
              <a:ea typeface="Syne"/>
              <a:cs typeface="Syne"/>
              <a:sym typeface="Syne"/>
            </a:endParaRPr>
          </a:p>
        </p:txBody>
      </p:sp>
      <p:sp>
        <p:nvSpPr>
          <p:cNvPr id="197" name="Google Shape;197;p11"/>
          <p:cNvSpPr/>
          <p:nvPr/>
        </p:nvSpPr>
        <p:spPr>
          <a:xfrm>
            <a:off x="2621466" y="3279703"/>
            <a:ext cx="1130700" cy="2178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350"/>
              <a:buFont typeface="Arial"/>
              <a:buNone/>
            </a:pPr>
            <a:r>
              <a:rPr lang="en-US" sz="1350" b="1" i="0" u="none" strike="noStrike" cap="none">
                <a:solidFill>
                  <a:schemeClr val="lt1"/>
                </a:solidFill>
                <a:latin typeface="Syne"/>
                <a:ea typeface="Syne"/>
                <a:cs typeface="Syne"/>
                <a:sym typeface="Syne"/>
              </a:rPr>
              <a:t>AI Analysis</a:t>
            </a:r>
            <a:endParaRPr sz="1350" b="1" i="0" u="none" strike="noStrike" cap="none">
              <a:solidFill>
                <a:schemeClr val="lt1"/>
              </a:solidFill>
              <a:latin typeface="Syne"/>
              <a:ea typeface="Syne"/>
              <a:cs typeface="Syne"/>
              <a:sym typeface="Syne"/>
            </a:endParaRPr>
          </a:p>
        </p:txBody>
      </p:sp>
      <p:sp>
        <p:nvSpPr>
          <p:cNvPr id="198" name="Google Shape;198;p11"/>
          <p:cNvSpPr/>
          <p:nvPr/>
        </p:nvSpPr>
        <p:spPr>
          <a:xfrm>
            <a:off x="1173338" y="3170803"/>
            <a:ext cx="1130700" cy="4356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4B4A4A"/>
              </a:buClr>
              <a:buSzPts val="1350"/>
              <a:buFont typeface="Arial"/>
              <a:buNone/>
            </a:pPr>
            <a:r>
              <a:rPr lang="en-US" sz="1350" b="1" i="0" u="none" strike="noStrike" cap="none">
                <a:solidFill>
                  <a:schemeClr val="lt1"/>
                </a:solidFill>
                <a:latin typeface="Syne"/>
                <a:ea typeface="Syne"/>
                <a:cs typeface="Syne"/>
                <a:sym typeface="Syne"/>
              </a:rPr>
              <a:t>Submit Report</a:t>
            </a:r>
            <a:endParaRPr sz="1350" b="1" i="0" u="none" strike="noStrike" cap="none">
              <a:solidFill>
                <a:schemeClr val="lt1"/>
              </a:solidFill>
              <a:latin typeface="Syne"/>
              <a:ea typeface="Syne"/>
              <a:cs typeface="Syne"/>
              <a:sym typeface="Syne"/>
            </a:endParaRPr>
          </a:p>
        </p:txBody>
      </p:sp>
      <p:sp>
        <p:nvSpPr>
          <p:cNvPr id="199" name="Google Shape;199;p11"/>
          <p:cNvSpPr/>
          <p:nvPr/>
        </p:nvSpPr>
        <p:spPr>
          <a:xfrm>
            <a:off x="496125" y="4106470"/>
            <a:ext cx="8151900" cy="266400"/>
          </a:xfrm>
          <a:prstGeom prst="rect">
            <a:avLst/>
          </a:prstGeom>
          <a:solidFill>
            <a:srgbClr val="547808"/>
          </a:solidFill>
          <a:ln>
            <a:noFill/>
          </a:ln>
        </p:spPr>
        <p:txBody>
          <a:bodyPr spcFirstLastPara="1" wrap="square" lIns="0" tIns="0" rIns="0" bIns="0" anchor="t" anchorCtr="0">
            <a:noAutofit/>
          </a:bodyPr>
          <a:lstStyle/>
          <a:p>
            <a:pPr marL="0" marR="0" lvl="0" indent="0" algn="ctr" rtl="0">
              <a:lnSpc>
                <a:spcPct val="130000"/>
              </a:lnSpc>
              <a:spcBef>
                <a:spcPts val="0"/>
              </a:spcBef>
              <a:spcAft>
                <a:spcPts val="0"/>
              </a:spcAft>
              <a:buClr>
                <a:srgbClr val="4B4A4A"/>
              </a:buClr>
              <a:buSzPts val="1050"/>
              <a:buFont typeface="Geist"/>
              <a:buNone/>
            </a:pPr>
            <a:r>
              <a:rPr lang="en-US" sz="1050" b="1" i="0" u="none" strike="noStrike" cap="none">
                <a:solidFill>
                  <a:schemeClr val="lt1"/>
                </a:solidFill>
                <a:latin typeface="Syne"/>
                <a:ea typeface="Syne"/>
                <a:cs typeface="Syne"/>
                <a:sym typeface="Syne"/>
              </a:rPr>
              <a:t>Complete Report-to-Treatment Lifecycle — Fully Digital, Fully Tracked.</a:t>
            </a:r>
            <a:endParaRPr sz="1050" b="1" i="0" u="none" strike="noStrike" cap="none">
              <a:solidFill>
                <a:schemeClr val="lt1"/>
              </a:solidFill>
              <a:latin typeface="Syne"/>
              <a:ea typeface="Syne"/>
              <a:cs typeface="Syne"/>
              <a:sym typeface="Syne"/>
            </a:endParaRPr>
          </a:p>
          <a:p>
            <a:pPr marL="0" marR="0" lvl="0" indent="0" algn="l" rtl="0">
              <a:lnSpc>
                <a:spcPct val="130000"/>
              </a:lnSpc>
              <a:spcBef>
                <a:spcPts val="1100"/>
              </a:spcBef>
              <a:spcAft>
                <a:spcPts val="0"/>
              </a:spcAft>
              <a:buClr>
                <a:srgbClr val="4B4A4A"/>
              </a:buClr>
              <a:buSzPts val="1050"/>
              <a:buFont typeface="Geist"/>
              <a:buNone/>
            </a:pPr>
            <a:endParaRPr sz="1050" b="0" i="0" u="none" strike="noStrike" cap="non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04"/>
        <p:cNvGrpSpPr/>
        <p:nvPr/>
      </p:nvGrpSpPr>
      <p:grpSpPr>
        <a:xfrm>
          <a:off x="0" y="0"/>
          <a:ext cx="0" cy="0"/>
          <a:chOff x="0" y="0"/>
          <a:chExt cx="0" cy="0"/>
        </a:xfrm>
      </p:grpSpPr>
      <p:sp>
        <p:nvSpPr>
          <p:cNvPr id="205" name="Google Shape;205;p12"/>
          <p:cNvSpPr/>
          <p:nvPr/>
        </p:nvSpPr>
        <p:spPr>
          <a:xfrm>
            <a:off x="496119" y="443061"/>
            <a:ext cx="8151900" cy="376500"/>
          </a:xfrm>
          <a:prstGeom prst="rect">
            <a:avLst/>
          </a:prstGeom>
          <a:solidFill>
            <a:srgbClr val="547808"/>
          </a:solid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2350"/>
              <a:buFont typeface="Arial"/>
              <a:buNone/>
            </a:pPr>
            <a:r>
              <a:rPr lang="en-US" sz="2350" b="1" i="0" u="none" strike="noStrike" cap="none">
                <a:solidFill>
                  <a:schemeClr val="lt1"/>
                </a:solidFill>
                <a:latin typeface="Syne"/>
                <a:ea typeface="Syne"/>
                <a:cs typeface="Syne"/>
                <a:sym typeface="Syne"/>
              </a:rPr>
              <a:t>Technology Stack &amp; System Architecture</a:t>
            </a:r>
            <a:endParaRPr sz="2350" b="1" i="0" u="none" strike="noStrike" cap="none">
              <a:solidFill>
                <a:schemeClr val="lt1"/>
              </a:solidFill>
              <a:latin typeface="Syne"/>
              <a:ea typeface="Syne"/>
              <a:cs typeface="Syne"/>
              <a:sym typeface="Syne"/>
            </a:endParaRPr>
          </a:p>
        </p:txBody>
      </p:sp>
      <p:pic>
        <p:nvPicPr>
          <p:cNvPr id="206" name="Google Shape;206;p12" descr="preencoded.png"/>
          <p:cNvPicPr preferRelativeResize="0"/>
          <p:nvPr/>
        </p:nvPicPr>
        <p:blipFill rotWithShape="1">
          <a:blip r:embed="rId3">
            <a:alphaModFix/>
          </a:blip>
          <a:srcRect/>
          <a:stretch/>
        </p:blipFill>
        <p:spPr>
          <a:xfrm>
            <a:off x="496119" y="1088380"/>
            <a:ext cx="301228" cy="301228"/>
          </a:xfrm>
          <a:prstGeom prst="rect">
            <a:avLst/>
          </a:prstGeom>
          <a:noFill/>
          <a:ln>
            <a:noFill/>
          </a:ln>
        </p:spPr>
      </p:pic>
      <p:sp>
        <p:nvSpPr>
          <p:cNvPr id="207" name="Google Shape;207;p12"/>
          <p:cNvSpPr/>
          <p:nvPr/>
        </p:nvSpPr>
        <p:spPr>
          <a:xfrm>
            <a:off x="925339" y="1088380"/>
            <a:ext cx="2655000" cy="1884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50"/>
              <a:buFont typeface="Arial"/>
              <a:buNone/>
            </a:pPr>
            <a:r>
              <a:rPr lang="en-US" sz="1150" b="1" i="0" u="none" strike="noStrike" cap="none">
                <a:solidFill>
                  <a:schemeClr val="lt1"/>
                </a:solidFill>
                <a:latin typeface="Syne"/>
                <a:ea typeface="Syne"/>
                <a:cs typeface="Syne"/>
                <a:sym typeface="Syne"/>
              </a:rPr>
              <a:t>React.js — Frontend</a:t>
            </a:r>
            <a:endParaRPr sz="1150" b="1" i="0" u="none" strike="noStrike" cap="none">
              <a:solidFill>
                <a:schemeClr val="lt1"/>
              </a:solidFill>
              <a:latin typeface="Syne"/>
              <a:ea typeface="Syne"/>
              <a:cs typeface="Syne"/>
              <a:sym typeface="Syne"/>
            </a:endParaRPr>
          </a:p>
        </p:txBody>
      </p:sp>
      <p:sp>
        <p:nvSpPr>
          <p:cNvPr id="208" name="Google Shape;208;p12"/>
          <p:cNvSpPr/>
          <p:nvPr/>
        </p:nvSpPr>
        <p:spPr>
          <a:xfrm>
            <a:off x="925339" y="1379041"/>
            <a:ext cx="2655000" cy="356700"/>
          </a:xfrm>
          <a:prstGeom prst="rect">
            <a:avLst/>
          </a:prstGeom>
          <a:noFill/>
          <a:ln>
            <a:noFill/>
          </a:ln>
        </p:spPr>
        <p:txBody>
          <a:bodyPr spcFirstLastPara="1" wrap="square" lIns="0" tIns="0" rIns="0" bIns="0" anchor="t" anchorCtr="0">
            <a:noAutofit/>
          </a:bodyPr>
          <a:lstStyle/>
          <a:p>
            <a:pPr marL="0" marR="0" lvl="0" indent="0" algn="l" rtl="0">
              <a:lnSpc>
                <a:spcPct val="123000"/>
              </a:lnSpc>
              <a:spcBef>
                <a:spcPts val="0"/>
              </a:spcBef>
              <a:spcAft>
                <a:spcPts val="0"/>
              </a:spcAft>
              <a:buClr>
                <a:srgbClr val="4B4A4A"/>
              </a:buClr>
              <a:buSzPts val="900"/>
              <a:buFont typeface="Geist"/>
              <a:buNone/>
            </a:pPr>
            <a:r>
              <a:rPr lang="en-US" sz="900" b="1" i="0" u="none" strike="noStrike" cap="none">
                <a:solidFill>
                  <a:schemeClr val="lt1"/>
                </a:solidFill>
                <a:latin typeface="Syne"/>
                <a:ea typeface="Syne"/>
                <a:cs typeface="Syne"/>
                <a:sym typeface="Syne"/>
              </a:rPr>
              <a:t>Responsive UIs, dashboards, incident forms and disease hotspot tracking pages.</a:t>
            </a:r>
            <a:endParaRPr sz="900" b="1" i="0" u="none" strike="noStrike" cap="none">
              <a:solidFill>
                <a:schemeClr val="lt1"/>
              </a:solidFill>
              <a:latin typeface="Syne"/>
              <a:ea typeface="Syne"/>
              <a:cs typeface="Syne"/>
              <a:sym typeface="Syne"/>
            </a:endParaRPr>
          </a:p>
        </p:txBody>
      </p:sp>
      <p:pic>
        <p:nvPicPr>
          <p:cNvPr id="209" name="Google Shape;209;p12" descr="preencoded.png"/>
          <p:cNvPicPr preferRelativeResize="0"/>
          <p:nvPr/>
        </p:nvPicPr>
        <p:blipFill rotWithShape="1">
          <a:blip r:embed="rId4">
            <a:alphaModFix/>
          </a:blip>
          <a:srcRect/>
          <a:stretch/>
        </p:blipFill>
        <p:spPr>
          <a:xfrm>
            <a:off x="496119" y="1940421"/>
            <a:ext cx="301228" cy="301228"/>
          </a:xfrm>
          <a:prstGeom prst="rect">
            <a:avLst/>
          </a:prstGeom>
          <a:noFill/>
          <a:ln>
            <a:noFill/>
          </a:ln>
        </p:spPr>
      </p:pic>
      <p:sp>
        <p:nvSpPr>
          <p:cNvPr id="210" name="Google Shape;210;p12"/>
          <p:cNvSpPr/>
          <p:nvPr/>
        </p:nvSpPr>
        <p:spPr>
          <a:xfrm>
            <a:off x="925339" y="1940421"/>
            <a:ext cx="2655000" cy="1884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50"/>
              <a:buFont typeface="Arial"/>
              <a:buNone/>
            </a:pPr>
            <a:r>
              <a:rPr lang="en-US" sz="1150" b="1" i="0" u="none" strike="noStrike" cap="none">
                <a:solidFill>
                  <a:schemeClr val="lt1"/>
                </a:solidFill>
                <a:latin typeface="Syne"/>
                <a:ea typeface="Syne"/>
                <a:cs typeface="Syne"/>
                <a:sym typeface="Syne"/>
              </a:rPr>
              <a:t>Node.js + Express.js — Backend</a:t>
            </a:r>
            <a:endParaRPr sz="1150" b="1" i="0" u="none" strike="noStrike" cap="none">
              <a:solidFill>
                <a:schemeClr val="lt1"/>
              </a:solidFill>
              <a:latin typeface="Syne"/>
              <a:ea typeface="Syne"/>
              <a:cs typeface="Syne"/>
              <a:sym typeface="Syne"/>
            </a:endParaRPr>
          </a:p>
        </p:txBody>
      </p:sp>
      <p:sp>
        <p:nvSpPr>
          <p:cNvPr id="211" name="Google Shape;211;p12"/>
          <p:cNvSpPr/>
          <p:nvPr/>
        </p:nvSpPr>
        <p:spPr>
          <a:xfrm>
            <a:off x="925339" y="2231082"/>
            <a:ext cx="2655000" cy="356700"/>
          </a:xfrm>
          <a:prstGeom prst="rect">
            <a:avLst/>
          </a:prstGeom>
          <a:noFill/>
          <a:ln>
            <a:noFill/>
          </a:ln>
        </p:spPr>
        <p:txBody>
          <a:bodyPr spcFirstLastPara="1" wrap="square" lIns="0" tIns="0" rIns="0" bIns="0" anchor="t" anchorCtr="0">
            <a:noAutofit/>
          </a:bodyPr>
          <a:lstStyle/>
          <a:p>
            <a:pPr marL="0" marR="0" lvl="0" indent="0" algn="l" rtl="0">
              <a:lnSpc>
                <a:spcPct val="123000"/>
              </a:lnSpc>
              <a:spcBef>
                <a:spcPts val="0"/>
              </a:spcBef>
              <a:spcAft>
                <a:spcPts val="0"/>
              </a:spcAft>
              <a:buClr>
                <a:srgbClr val="4B4A4A"/>
              </a:buClr>
              <a:buSzPts val="900"/>
              <a:buFont typeface="Geist"/>
              <a:buNone/>
            </a:pPr>
            <a:r>
              <a:rPr lang="en-US" sz="900" b="1" i="0" u="none" strike="noStrike" cap="none">
                <a:solidFill>
                  <a:schemeClr val="lt1"/>
                </a:solidFill>
                <a:latin typeface="Syne"/>
                <a:ea typeface="Syne"/>
                <a:cs typeface="Syne"/>
                <a:sym typeface="Syne"/>
              </a:rPr>
              <a:t>REST APIs, authentication, business logic, threshold calculations, report management.</a:t>
            </a:r>
            <a:endParaRPr sz="900" b="1" i="0" u="none" strike="noStrike" cap="none">
              <a:solidFill>
                <a:schemeClr val="lt1"/>
              </a:solidFill>
              <a:latin typeface="Syne"/>
              <a:ea typeface="Syne"/>
              <a:cs typeface="Syne"/>
              <a:sym typeface="Syne"/>
            </a:endParaRPr>
          </a:p>
        </p:txBody>
      </p:sp>
      <p:sp>
        <p:nvSpPr>
          <p:cNvPr id="212" name="Google Shape;212;p12"/>
          <p:cNvSpPr/>
          <p:nvPr/>
        </p:nvSpPr>
        <p:spPr>
          <a:xfrm>
            <a:off x="925339" y="2792462"/>
            <a:ext cx="2655000" cy="1884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50"/>
              <a:buFont typeface="Arial"/>
              <a:buNone/>
            </a:pPr>
            <a:r>
              <a:rPr lang="en-US" sz="1150" b="1" i="0" u="none" strike="noStrike" cap="none">
                <a:solidFill>
                  <a:schemeClr val="lt1"/>
                </a:solidFill>
                <a:latin typeface="Syne"/>
                <a:ea typeface="Syne"/>
                <a:cs typeface="Syne"/>
                <a:sym typeface="Syne"/>
              </a:rPr>
              <a:t>MongoDB — Database</a:t>
            </a:r>
            <a:endParaRPr sz="1150" b="1" i="0" u="none" strike="noStrike" cap="none">
              <a:solidFill>
                <a:schemeClr val="lt1"/>
              </a:solidFill>
              <a:latin typeface="Syne"/>
              <a:ea typeface="Syne"/>
              <a:cs typeface="Syne"/>
              <a:sym typeface="Syne"/>
            </a:endParaRPr>
          </a:p>
        </p:txBody>
      </p:sp>
      <p:sp>
        <p:nvSpPr>
          <p:cNvPr id="213" name="Google Shape;213;p12"/>
          <p:cNvSpPr/>
          <p:nvPr/>
        </p:nvSpPr>
        <p:spPr>
          <a:xfrm>
            <a:off x="925339" y="3083123"/>
            <a:ext cx="2655000" cy="356700"/>
          </a:xfrm>
          <a:prstGeom prst="rect">
            <a:avLst/>
          </a:prstGeom>
          <a:noFill/>
          <a:ln>
            <a:noFill/>
          </a:ln>
        </p:spPr>
        <p:txBody>
          <a:bodyPr spcFirstLastPara="1" wrap="square" lIns="0" tIns="0" rIns="0" bIns="0" anchor="t" anchorCtr="0">
            <a:noAutofit/>
          </a:bodyPr>
          <a:lstStyle/>
          <a:p>
            <a:pPr marL="0" marR="0" lvl="0" indent="0" algn="l" rtl="0">
              <a:lnSpc>
                <a:spcPct val="123000"/>
              </a:lnSpc>
              <a:spcBef>
                <a:spcPts val="0"/>
              </a:spcBef>
              <a:spcAft>
                <a:spcPts val="0"/>
              </a:spcAft>
              <a:buClr>
                <a:srgbClr val="4B4A4A"/>
              </a:buClr>
              <a:buSzPts val="900"/>
              <a:buFont typeface="Geist"/>
              <a:buNone/>
            </a:pPr>
            <a:r>
              <a:rPr lang="en-US" sz="900" b="1" i="0" u="none" strike="noStrike" cap="none">
                <a:solidFill>
                  <a:schemeClr val="lt1"/>
                </a:solidFill>
                <a:latin typeface="Syne"/>
                <a:ea typeface="Syne"/>
                <a:cs typeface="Syne"/>
                <a:sym typeface="Syne"/>
              </a:rPr>
              <a:t>Stores users, reports, CNN readings, treatment records and compliance data.</a:t>
            </a:r>
            <a:endParaRPr sz="900" b="1" i="0" u="none" strike="noStrike" cap="none">
              <a:solidFill>
                <a:schemeClr val="lt1"/>
              </a:solidFill>
              <a:latin typeface="Syne"/>
              <a:ea typeface="Syne"/>
              <a:cs typeface="Syne"/>
              <a:sym typeface="Syne"/>
            </a:endParaRPr>
          </a:p>
        </p:txBody>
      </p:sp>
      <p:pic>
        <p:nvPicPr>
          <p:cNvPr id="214" name="Google Shape;214;p12" descr="preencoded.png"/>
          <p:cNvPicPr preferRelativeResize="0"/>
          <p:nvPr/>
        </p:nvPicPr>
        <p:blipFill rotWithShape="1">
          <a:blip r:embed="rId5">
            <a:alphaModFix/>
          </a:blip>
          <a:srcRect/>
          <a:stretch/>
        </p:blipFill>
        <p:spPr>
          <a:xfrm>
            <a:off x="496119" y="3644503"/>
            <a:ext cx="301228" cy="301228"/>
          </a:xfrm>
          <a:prstGeom prst="rect">
            <a:avLst/>
          </a:prstGeom>
          <a:noFill/>
          <a:ln>
            <a:noFill/>
          </a:ln>
        </p:spPr>
      </p:pic>
      <p:sp>
        <p:nvSpPr>
          <p:cNvPr id="215" name="Google Shape;215;p12"/>
          <p:cNvSpPr/>
          <p:nvPr/>
        </p:nvSpPr>
        <p:spPr>
          <a:xfrm>
            <a:off x="925339" y="3644503"/>
            <a:ext cx="2655000" cy="1884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4B4A4A"/>
              </a:buClr>
              <a:buSzPts val="1150"/>
              <a:buFont typeface="Arial"/>
              <a:buNone/>
            </a:pPr>
            <a:r>
              <a:rPr lang="en-US" sz="1150" b="1" i="0" u="none" strike="noStrike" cap="none">
                <a:solidFill>
                  <a:schemeClr val="lt1"/>
                </a:solidFill>
                <a:latin typeface="Syne"/>
                <a:ea typeface="Syne"/>
                <a:cs typeface="Syne"/>
                <a:sym typeface="Syne"/>
              </a:rPr>
              <a:t>Python / TensorFlow — AI Service</a:t>
            </a:r>
            <a:endParaRPr sz="1150" b="1" i="0" u="none" strike="noStrike" cap="none">
              <a:solidFill>
                <a:schemeClr val="lt1"/>
              </a:solidFill>
              <a:latin typeface="Syne"/>
              <a:ea typeface="Syne"/>
              <a:cs typeface="Syne"/>
              <a:sym typeface="Syne"/>
            </a:endParaRPr>
          </a:p>
        </p:txBody>
      </p:sp>
      <p:sp>
        <p:nvSpPr>
          <p:cNvPr id="216" name="Google Shape;216;p12"/>
          <p:cNvSpPr/>
          <p:nvPr/>
        </p:nvSpPr>
        <p:spPr>
          <a:xfrm>
            <a:off x="925339" y="3935164"/>
            <a:ext cx="2655000" cy="356700"/>
          </a:xfrm>
          <a:prstGeom prst="rect">
            <a:avLst/>
          </a:prstGeom>
          <a:noFill/>
          <a:ln>
            <a:noFill/>
          </a:ln>
        </p:spPr>
        <p:txBody>
          <a:bodyPr spcFirstLastPara="1" wrap="square" lIns="0" tIns="0" rIns="0" bIns="0" anchor="t" anchorCtr="0">
            <a:noAutofit/>
          </a:bodyPr>
          <a:lstStyle/>
          <a:p>
            <a:pPr marL="0" marR="0" lvl="0" indent="0" algn="l" rtl="0">
              <a:lnSpc>
                <a:spcPct val="123000"/>
              </a:lnSpc>
              <a:spcBef>
                <a:spcPts val="0"/>
              </a:spcBef>
              <a:spcAft>
                <a:spcPts val="0"/>
              </a:spcAft>
              <a:buClr>
                <a:srgbClr val="4B4A4A"/>
              </a:buClr>
              <a:buSzPts val="900"/>
              <a:buFont typeface="Geist"/>
              <a:buNone/>
            </a:pPr>
            <a:r>
              <a:rPr lang="en-US" sz="900" b="1" i="0" u="none" strike="noStrike" cap="none">
                <a:solidFill>
                  <a:schemeClr val="lt1"/>
                </a:solidFill>
                <a:latin typeface="Syne"/>
                <a:ea typeface="Syne"/>
                <a:cs typeface="Syne"/>
                <a:sym typeface="Syne"/>
              </a:rPr>
              <a:t>Handles image processing, model inference, and CNN tensor calculations.</a:t>
            </a:r>
            <a:endParaRPr sz="900" b="1" i="0" u="none" strike="noStrike" cap="none">
              <a:solidFill>
                <a:schemeClr val="lt1"/>
              </a:solidFill>
              <a:latin typeface="Syne"/>
              <a:ea typeface="Syne"/>
              <a:cs typeface="Syne"/>
              <a:sym typeface="Syne"/>
            </a:endParaRPr>
          </a:p>
        </p:txBody>
      </p:sp>
      <p:pic>
        <p:nvPicPr>
          <p:cNvPr id="217" name="Google Shape;217;p12" descr="preencoded.png"/>
          <p:cNvPicPr preferRelativeResize="0"/>
          <p:nvPr/>
        </p:nvPicPr>
        <p:blipFill rotWithShape="1">
          <a:blip r:embed="rId6">
            <a:alphaModFix/>
          </a:blip>
          <a:srcRect/>
          <a:stretch/>
        </p:blipFill>
        <p:spPr>
          <a:xfrm>
            <a:off x="4237137" y="1659434"/>
            <a:ext cx="4057351" cy="1612552"/>
          </a:xfrm>
          <a:prstGeom prst="rect">
            <a:avLst/>
          </a:prstGeom>
          <a:noFill/>
          <a:ln>
            <a:noFill/>
          </a:ln>
        </p:spPr>
      </p:pic>
      <p:sp>
        <p:nvSpPr>
          <p:cNvPr id="218" name="Google Shape;218;p12"/>
          <p:cNvSpPr/>
          <p:nvPr/>
        </p:nvSpPr>
        <p:spPr>
          <a:xfrm>
            <a:off x="4534805" y="2796455"/>
            <a:ext cx="890100" cy="111300"/>
          </a:xfrm>
          <a:prstGeom prst="rect">
            <a:avLst/>
          </a:prstGeom>
          <a:noFill/>
          <a:ln>
            <a:noFill/>
          </a:ln>
        </p:spPr>
        <p:txBody>
          <a:bodyPr spcFirstLastPara="1" wrap="square" lIns="0" tIns="0" rIns="0" bIns="0" anchor="t" anchorCtr="0">
            <a:noAutofit/>
          </a:bodyPr>
          <a:lstStyle/>
          <a:p>
            <a:pPr marL="0" marR="0" lvl="0" indent="0" algn="r" rtl="0">
              <a:lnSpc>
                <a:spcPct val="104000"/>
              </a:lnSpc>
              <a:spcBef>
                <a:spcPts val="0"/>
              </a:spcBef>
              <a:spcAft>
                <a:spcPts val="0"/>
              </a:spcAft>
              <a:buClr>
                <a:srgbClr val="006747"/>
              </a:buClr>
              <a:buSzPts val="700"/>
              <a:buFont typeface="Arial"/>
              <a:buNone/>
            </a:pPr>
            <a:r>
              <a:rPr lang="en-US" sz="700" i="0" u="none" strike="noStrike" cap="none">
                <a:solidFill>
                  <a:schemeClr val="lt1"/>
                </a:solidFill>
                <a:latin typeface="Syne ExtraBold"/>
                <a:ea typeface="Syne ExtraBold"/>
                <a:cs typeface="Syne ExtraBold"/>
                <a:sym typeface="Syne ExtraBold"/>
              </a:rPr>
              <a:t>Frontend</a:t>
            </a:r>
            <a:endParaRPr sz="700" i="0" u="none" strike="noStrike" cap="none">
              <a:solidFill>
                <a:schemeClr val="lt1"/>
              </a:solidFill>
              <a:latin typeface="Syne ExtraBold"/>
              <a:ea typeface="Syne ExtraBold"/>
              <a:cs typeface="Syne ExtraBold"/>
              <a:sym typeface="Syne ExtraBold"/>
            </a:endParaRPr>
          </a:p>
        </p:txBody>
      </p:sp>
      <p:sp>
        <p:nvSpPr>
          <p:cNvPr id="219" name="Google Shape;219;p12"/>
          <p:cNvSpPr/>
          <p:nvPr/>
        </p:nvSpPr>
        <p:spPr>
          <a:xfrm>
            <a:off x="4333018" y="2939388"/>
            <a:ext cx="1092000" cy="82200"/>
          </a:xfrm>
          <a:prstGeom prst="rect">
            <a:avLst/>
          </a:prstGeom>
          <a:noFill/>
          <a:ln>
            <a:noFill/>
          </a:ln>
        </p:spPr>
        <p:txBody>
          <a:bodyPr spcFirstLastPara="1" wrap="square" lIns="0" tIns="0" rIns="0" bIns="0" anchor="t" anchorCtr="0">
            <a:noAutofit/>
          </a:bodyPr>
          <a:lstStyle/>
          <a:p>
            <a:pPr marL="0" marR="0" lvl="0" indent="0" algn="r" rtl="0">
              <a:lnSpc>
                <a:spcPct val="96000"/>
              </a:lnSpc>
              <a:spcBef>
                <a:spcPts val="0"/>
              </a:spcBef>
              <a:spcAft>
                <a:spcPts val="0"/>
              </a:spcAft>
              <a:buClr>
                <a:srgbClr val="4B4A4A"/>
              </a:buClr>
              <a:buSzPts val="550"/>
              <a:buFont typeface="Geist"/>
              <a:buNone/>
            </a:pPr>
            <a:r>
              <a:rPr lang="en-US" sz="550" b="1" i="0" u="none" strike="noStrike" cap="none">
                <a:solidFill>
                  <a:schemeClr val="lt1"/>
                </a:solidFill>
                <a:latin typeface="Syne"/>
                <a:ea typeface="Syne"/>
                <a:cs typeface="Syne"/>
                <a:sym typeface="Syne"/>
              </a:rPr>
              <a:t>React UI &amp; dashboards</a:t>
            </a:r>
            <a:endParaRPr sz="550" b="1" i="0" u="none" strike="noStrike" cap="none">
              <a:solidFill>
                <a:schemeClr val="lt1"/>
              </a:solidFill>
              <a:latin typeface="Syne"/>
              <a:ea typeface="Syne"/>
              <a:cs typeface="Syne"/>
              <a:sym typeface="Syne"/>
            </a:endParaRPr>
          </a:p>
        </p:txBody>
      </p:sp>
      <p:sp>
        <p:nvSpPr>
          <p:cNvPr id="220" name="Google Shape;220;p12"/>
          <p:cNvSpPr/>
          <p:nvPr/>
        </p:nvSpPr>
        <p:spPr>
          <a:xfrm>
            <a:off x="7134240" y="2485861"/>
            <a:ext cx="890100" cy="111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700"/>
              <a:buFont typeface="Arial"/>
              <a:buNone/>
            </a:pPr>
            <a:r>
              <a:rPr lang="en-US" sz="700" i="0" u="none" strike="noStrike" cap="none">
                <a:solidFill>
                  <a:schemeClr val="lt1"/>
                </a:solidFill>
                <a:latin typeface="Syne ExtraBold"/>
                <a:ea typeface="Syne ExtraBold"/>
                <a:cs typeface="Syne ExtraBold"/>
                <a:sym typeface="Syne ExtraBold"/>
              </a:rPr>
              <a:t>Backend</a:t>
            </a:r>
            <a:endParaRPr sz="700" i="0" u="none" strike="noStrike" cap="none">
              <a:solidFill>
                <a:schemeClr val="lt1"/>
              </a:solidFill>
              <a:latin typeface="Syne ExtraBold"/>
              <a:ea typeface="Syne ExtraBold"/>
              <a:cs typeface="Syne ExtraBold"/>
              <a:sym typeface="Syne ExtraBold"/>
            </a:endParaRPr>
          </a:p>
        </p:txBody>
      </p:sp>
      <p:sp>
        <p:nvSpPr>
          <p:cNvPr id="221" name="Google Shape;221;p12"/>
          <p:cNvSpPr/>
          <p:nvPr/>
        </p:nvSpPr>
        <p:spPr>
          <a:xfrm>
            <a:off x="7134240" y="2628794"/>
            <a:ext cx="1064400" cy="82200"/>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4B4A4A"/>
              </a:buClr>
              <a:buSzPts val="550"/>
              <a:buFont typeface="Geist"/>
              <a:buNone/>
            </a:pPr>
            <a:r>
              <a:rPr lang="en-US" sz="550" b="1" i="0" u="none" strike="noStrike" cap="none">
                <a:solidFill>
                  <a:schemeClr val="lt1"/>
                </a:solidFill>
                <a:latin typeface="Syne"/>
                <a:ea typeface="Syne"/>
                <a:cs typeface="Syne"/>
                <a:sym typeface="Syne"/>
              </a:rPr>
              <a:t>Node.js / Express APIs</a:t>
            </a:r>
            <a:endParaRPr sz="550" b="1" i="0" u="none" strike="noStrike" cap="none">
              <a:solidFill>
                <a:schemeClr val="lt1"/>
              </a:solidFill>
              <a:latin typeface="Syne"/>
              <a:ea typeface="Syne"/>
              <a:cs typeface="Syne"/>
              <a:sym typeface="Syne"/>
            </a:endParaRPr>
          </a:p>
        </p:txBody>
      </p:sp>
      <p:sp>
        <p:nvSpPr>
          <p:cNvPr id="222" name="Google Shape;222;p12"/>
          <p:cNvSpPr/>
          <p:nvPr/>
        </p:nvSpPr>
        <p:spPr>
          <a:xfrm>
            <a:off x="4534744" y="2202963"/>
            <a:ext cx="890100" cy="111300"/>
          </a:xfrm>
          <a:prstGeom prst="rect">
            <a:avLst/>
          </a:prstGeom>
          <a:noFill/>
          <a:ln>
            <a:noFill/>
          </a:ln>
        </p:spPr>
        <p:txBody>
          <a:bodyPr spcFirstLastPara="1" wrap="square" lIns="0" tIns="0" rIns="0" bIns="0" anchor="t" anchorCtr="0">
            <a:noAutofit/>
          </a:bodyPr>
          <a:lstStyle/>
          <a:p>
            <a:pPr marL="0" marR="0" lvl="0" indent="0" algn="r" rtl="0">
              <a:lnSpc>
                <a:spcPct val="104000"/>
              </a:lnSpc>
              <a:spcBef>
                <a:spcPts val="0"/>
              </a:spcBef>
              <a:spcAft>
                <a:spcPts val="0"/>
              </a:spcAft>
              <a:buClr>
                <a:srgbClr val="006747"/>
              </a:buClr>
              <a:buSzPts val="700"/>
              <a:buFont typeface="Arial"/>
              <a:buNone/>
            </a:pPr>
            <a:r>
              <a:rPr lang="en-US" sz="700" i="0" u="none" strike="noStrike" cap="none">
                <a:solidFill>
                  <a:schemeClr val="lt1"/>
                </a:solidFill>
                <a:latin typeface="Syne ExtraBold"/>
                <a:ea typeface="Syne ExtraBold"/>
                <a:cs typeface="Syne ExtraBold"/>
                <a:sym typeface="Syne ExtraBold"/>
              </a:rPr>
              <a:t>Database</a:t>
            </a:r>
            <a:endParaRPr sz="700" i="0" u="none" strike="noStrike" cap="none">
              <a:solidFill>
                <a:schemeClr val="lt1"/>
              </a:solidFill>
              <a:latin typeface="Syne ExtraBold"/>
              <a:ea typeface="Syne ExtraBold"/>
              <a:cs typeface="Syne ExtraBold"/>
              <a:sym typeface="Syne ExtraBold"/>
            </a:endParaRPr>
          </a:p>
        </p:txBody>
      </p:sp>
      <p:sp>
        <p:nvSpPr>
          <p:cNvPr id="223" name="Google Shape;223;p12"/>
          <p:cNvSpPr/>
          <p:nvPr/>
        </p:nvSpPr>
        <p:spPr>
          <a:xfrm>
            <a:off x="4332956" y="2345896"/>
            <a:ext cx="1092000" cy="82200"/>
          </a:xfrm>
          <a:prstGeom prst="rect">
            <a:avLst/>
          </a:prstGeom>
          <a:noFill/>
          <a:ln>
            <a:noFill/>
          </a:ln>
        </p:spPr>
        <p:txBody>
          <a:bodyPr spcFirstLastPara="1" wrap="square" lIns="0" tIns="0" rIns="0" bIns="0" anchor="t" anchorCtr="0">
            <a:noAutofit/>
          </a:bodyPr>
          <a:lstStyle/>
          <a:p>
            <a:pPr marL="0" marR="0" lvl="0" indent="0" algn="r" rtl="0">
              <a:lnSpc>
                <a:spcPct val="96000"/>
              </a:lnSpc>
              <a:spcBef>
                <a:spcPts val="0"/>
              </a:spcBef>
              <a:spcAft>
                <a:spcPts val="0"/>
              </a:spcAft>
              <a:buClr>
                <a:srgbClr val="4B4A4A"/>
              </a:buClr>
              <a:buSzPts val="550"/>
              <a:buFont typeface="Geist"/>
              <a:buNone/>
            </a:pPr>
            <a:r>
              <a:rPr lang="en-US" sz="550" b="1" i="0" u="none" strike="noStrike" cap="none">
                <a:solidFill>
                  <a:schemeClr val="lt1"/>
                </a:solidFill>
                <a:latin typeface="Syne"/>
                <a:ea typeface="Syne"/>
                <a:cs typeface="Syne"/>
                <a:sym typeface="Syne"/>
              </a:rPr>
              <a:t>MongoDB storage layer</a:t>
            </a:r>
            <a:endParaRPr sz="550" b="1" i="0" u="none" strike="noStrike" cap="none">
              <a:solidFill>
                <a:schemeClr val="lt1"/>
              </a:solidFill>
              <a:latin typeface="Syne"/>
              <a:ea typeface="Syne"/>
              <a:cs typeface="Syne"/>
              <a:sym typeface="Syne"/>
            </a:endParaRPr>
          </a:p>
        </p:txBody>
      </p:sp>
      <p:sp>
        <p:nvSpPr>
          <p:cNvPr id="224" name="Google Shape;224;p12"/>
          <p:cNvSpPr/>
          <p:nvPr/>
        </p:nvSpPr>
        <p:spPr>
          <a:xfrm>
            <a:off x="7134240" y="1868629"/>
            <a:ext cx="890100" cy="111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6747"/>
              </a:buClr>
              <a:buSzPts val="700"/>
              <a:buFont typeface="Arial"/>
              <a:buNone/>
            </a:pPr>
            <a:r>
              <a:rPr lang="en-US" sz="700" i="0" u="none" strike="noStrike" cap="none">
                <a:solidFill>
                  <a:schemeClr val="lt1"/>
                </a:solidFill>
                <a:latin typeface="Syne ExtraBold"/>
                <a:ea typeface="Syne ExtraBold"/>
                <a:cs typeface="Syne ExtraBold"/>
                <a:sym typeface="Syne ExtraBold"/>
              </a:rPr>
              <a:t>AI Service</a:t>
            </a:r>
            <a:endParaRPr sz="700" i="0" u="none" strike="noStrike" cap="none">
              <a:solidFill>
                <a:schemeClr val="lt1"/>
              </a:solidFill>
              <a:latin typeface="Syne ExtraBold"/>
              <a:ea typeface="Syne ExtraBold"/>
              <a:cs typeface="Syne ExtraBold"/>
              <a:sym typeface="Syne ExtraBold"/>
            </a:endParaRPr>
          </a:p>
        </p:txBody>
      </p:sp>
      <p:sp>
        <p:nvSpPr>
          <p:cNvPr id="225" name="Google Shape;225;p12"/>
          <p:cNvSpPr/>
          <p:nvPr/>
        </p:nvSpPr>
        <p:spPr>
          <a:xfrm>
            <a:off x="7134240" y="2011562"/>
            <a:ext cx="1064400" cy="82200"/>
          </a:xfrm>
          <a:prstGeom prst="rect">
            <a:avLst/>
          </a:prstGeom>
          <a:noFill/>
          <a:ln>
            <a:noFill/>
          </a:ln>
        </p:spPr>
        <p:txBody>
          <a:bodyPr spcFirstLastPara="1" wrap="square" lIns="0" tIns="0" rIns="0" bIns="0" anchor="t" anchorCtr="0">
            <a:noAutofit/>
          </a:bodyPr>
          <a:lstStyle/>
          <a:p>
            <a:pPr marL="0" marR="0" lvl="0" indent="0" algn="l" rtl="0">
              <a:lnSpc>
                <a:spcPct val="96000"/>
              </a:lnSpc>
              <a:spcBef>
                <a:spcPts val="0"/>
              </a:spcBef>
              <a:spcAft>
                <a:spcPts val="0"/>
              </a:spcAft>
              <a:buClr>
                <a:srgbClr val="4B4A4A"/>
              </a:buClr>
              <a:buSzPts val="550"/>
              <a:buFont typeface="Geist"/>
              <a:buNone/>
            </a:pPr>
            <a:r>
              <a:rPr lang="en-US" sz="550" b="1" i="0" u="none" strike="noStrike" cap="none">
                <a:solidFill>
                  <a:schemeClr val="lt1"/>
                </a:solidFill>
                <a:latin typeface="Syne"/>
                <a:ea typeface="Syne"/>
                <a:cs typeface="Syne"/>
                <a:sym typeface="Syne"/>
              </a:rPr>
              <a:t>Python / TensorFlow inference</a:t>
            </a:r>
            <a:endParaRPr sz="550" b="1" i="0" u="none" strike="noStrike" cap="none">
              <a:solidFill>
                <a:schemeClr val="lt1"/>
              </a:solidFill>
              <a:latin typeface="Syne"/>
              <a:ea typeface="Syne"/>
              <a:cs typeface="Syne"/>
              <a:sym typeface="Syne"/>
            </a:endParaRPr>
          </a:p>
        </p:txBody>
      </p:sp>
      <p:pic>
        <p:nvPicPr>
          <p:cNvPr id="226" name="Google Shape;226;p12" descr="Fil:Antu mongodb.svg – Wikipedia"/>
          <p:cNvPicPr preferRelativeResize="0"/>
          <p:nvPr/>
        </p:nvPicPr>
        <p:blipFill>
          <a:blip r:embed="rId7">
            <a:alphaModFix/>
          </a:blip>
          <a:stretch>
            <a:fillRect/>
          </a:stretch>
        </p:blipFill>
        <p:spPr>
          <a:xfrm flipH="1">
            <a:off x="496124" y="2792463"/>
            <a:ext cx="301226" cy="3012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93776" y="493776"/>
            <a:ext cx="8430768" cy="658368"/>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530352"/>
            <a:ext cx="8046720" cy="612648"/>
          </a:xfrm>
          <a:prstGeom prst="rect">
            <a:avLst/>
          </a:prstGeom>
          <a:noFill/>
        </p:spPr>
        <p:txBody>
          <a:bodyPr wrap="square">
            <a:spAutoFit/>
          </a:bodyPr>
          <a:lstStyle/>
          <a:p>
            <a:pPr algn="l"/>
            <a:r>
              <a:rPr sz="2000" b="1" i="0">
                <a:solidFill>
                  <a:srgbClr val="FFFFFF"/>
                </a:solidFill>
                <a:latin typeface="Syne"/>
              </a:rPr>
              <a:t>Functional &amp; Non-Functional Requirements</a:t>
            </a:r>
          </a:p>
        </p:txBody>
      </p:sp>
      <p:sp>
        <p:nvSpPr>
          <p:cNvPr id="5" name="Rectangle 4"/>
          <p:cNvSpPr/>
          <p:nvPr/>
        </p:nvSpPr>
        <p:spPr>
          <a:xfrm>
            <a:off x="493776" y="1389888"/>
            <a:ext cx="4023360" cy="4983480"/>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93776" y="1389888"/>
            <a:ext cx="4023360" cy="347472"/>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85216" y="1426464"/>
            <a:ext cx="3840480" cy="347472"/>
          </a:xfrm>
          <a:prstGeom prst="rect">
            <a:avLst/>
          </a:prstGeom>
          <a:noFill/>
        </p:spPr>
        <p:txBody>
          <a:bodyPr wrap="square">
            <a:spAutoFit/>
          </a:bodyPr>
          <a:lstStyle/>
          <a:p>
            <a:pPr algn="l"/>
            <a:r>
              <a:rPr sz="1200" b="1" i="0">
                <a:solidFill>
                  <a:srgbClr val="FFFFFF"/>
                </a:solidFill>
                <a:latin typeface="Syne"/>
              </a:rPr>
              <a:t>⚙  Functional Requirements</a:t>
            </a:r>
          </a:p>
        </p:txBody>
      </p:sp>
      <p:sp>
        <p:nvSpPr>
          <p:cNvPr id="8" name="TextBox 7"/>
          <p:cNvSpPr txBox="1"/>
          <p:nvPr/>
        </p:nvSpPr>
        <p:spPr>
          <a:xfrm>
            <a:off x="621792" y="1847088"/>
            <a:ext cx="3767328" cy="4480560"/>
          </a:xfrm>
          <a:prstGeom prst="rect">
            <a:avLst/>
          </a:prstGeom>
          <a:noFill/>
        </p:spPr>
        <p:txBody>
          <a:bodyPr wrap="square">
            <a:spAutoFit/>
          </a:bodyPr>
          <a:lstStyle/>
          <a:p>
            <a:pPr algn="l"/>
            <a:r>
              <a:rPr sz="1150" b="1">
                <a:solidFill>
                  <a:srgbClr val="6A9A0F"/>
                </a:solidFill>
                <a:latin typeface="Syne"/>
              </a:rPr>
              <a:t>▸  Secure User Registration</a:t>
            </a:r>
          </a:p>
          <a:p>
            <a:r>
              <a:rPr sz="950">
                <a:solidFill>
                  <a:srgbClr val="E8F0E9"/>
                </a:solidFill>
                <a:latin typeface="Geist"/>
              </a:rPr>
              <a:t>   JWT-based session management with role-based access control for Farmer, Officer, and Admin personas.</a:t>
            </a:r>
          </a:p>
          <a:p>
            <a:endParaRPr sz="950">
              <a:solidFill>
                <a:srgbClr val="E8F0E9"/>
              </a:solidFill>
              <a:latin typeface="Geist"/>
            </a:endParaRPr>
          </a:p>
          <a:p>
            <a:pPr algn="l"/>
            <a:r>
              <a:rPr sz="1150" b="1">
                <a:solidFill>
                  <a:srgbClr val="6A9A0F"/>
                </a:solidFill>
                <a:latin typeface="Syne"/>
              </a:rPr>
              <a:t>▸  Interactive Image Upload</a:t>
            </a:r>
          </a:p>
          <a:p>
            <a:r>
              <a:rPr sz="950">
                <a:solidFill>
                  <a:srgbClr val="E8F0E9"/>
                </a:solidFill>
                <a:latin typeface="Geist"/>
              </a:rPr>
              <a:t>   Drag-and-drop UI supporting high-resolution leaf image uploads with live preview.</a:t>
            </a:r>
          </a:p>
          <a:p>
            <a:endParaRPr sz="950">
              <a:solidFill>
                <a:srgbClr val="E8F0E9"/>
              </a:solidFill>
              <a:latin typeface="Geist"/>
            </a:endParaRPr>
          </a:p>
          <a:p>
            <a:pPr algn="l"/>
            <a:r>
              <a:rPr sz="1150" b="1">
                <a:solidFill>
                  <a:srgbClr val="6A9A0F"/>
                </a:solidFill>
                <a:latin typeface="Syne"/>
              </a:rPr>
              <a:t>▸  Automated CNN Inference</a:t>
            </a:r>
          </a:p>
          <a:p>
            <a:r>
              <a:rPr sz="950">
                <a:solidFill>
                  <a:srgbClr val="E8F0E9"/>
                </a:solidFill>
                <a:latin typeface="Geist"/>
              </a:rPr>
              <a:t>   ResNet-50 model returns predicted disease label and confidence score in &lt; 3 s.</a:t>
            </a:r>
          </a:p>
          <a:p>
            <a:endParaRPr sz="950">
              <a:solidFill>
                <a:srgbClr val="E8F0E9"/>
              </a:solidFill>
              <a:latin typeface="Geist"/>
            </a:endParaRPr>
          </a:p>
          <a:p>
            <a:pPr algn="l"/>
            <a:r>
              <a:rPr sz="1150" b="1">
                <a:solidFill>
                  <a:srgbClr val="6A9A0F"/>
                </a:solidFill>
                <a:latin typeface="Syne"/>
              </a:rPr>
              <a:t>▸  Historical Dashboard</a:t>
            </a:r>
          </a:p>
          <a:p>
            <a:r>
              <a:rPr sz="950">
                <a:solidFill>
                  <a:srgbClr val="E8F0E9"/>
                </a:solidFill>
                <a:latin typeface="Geist"/>
              </a:rPr>
              <a:t>   Farmers can browse, filter, and export their full prediction history and health trends.</a:t>
            </a:r>
          </a:p>
          <a:p>
            <a:endParaRPr sz="950">
              <a:solidFill>
                <a:srgbClr val="E8F0E9"/>
              </a:solidFill>
              <a:latin typeface="Geist"/>
            </a:endParaRPr>
          </a:p>
        </p:txBody>
      </p:sp>
      <p:sp>
        <p:nvSpPr>
          <p:cNvPr id="9" name="Rectangle 8"/>
          <p:cNvSpPr/>
          <p:nvPr/>
        </p:nvSpPr>
        <p:spPr>
          <a:xfrm>
            <a:off x="4681728" y="1389888"/>
            <a:ext cx="4023360" cy="4983480"/>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681728" y="1389888"/>
            <a:ext cx="4023360" cy="347472"/>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73168" y="1426464"/>
            <a:ext cx="3840480" cy="347472"/>
          </a:xfrm>
          <a:prstGeom prst="rect">
            <a:avLst/>
          </a:prstGeom>
          <a:noFill/>
        </p:spPr>
        <p:txBody>
          <a:bodyPr wrap="square">
            <a:spAutoFit/>
          </a:bodyPr>
          <a:lstStyle/>
          <a:p>
            <a:pPr algn="l"/>
            <a:r>
              <a:rPr sz="1200" b="1" i="0">
                <a:solidFill>
                  <a:srgbClr val="FFFFFF"/>
                </a:solidFill>
                <a:latin typeface="Syne"/>
              </a:rPr>
              <a:t>🔒  Non-Functional Requirements</a:t>
            </a:r>
          </a:p>
        </p:txBody>
      </p:sp>
      <p:sp>
        <p:nvSpPr>
          <p:cNvPr id="12" name="TextBox 11"/>
          <p:cNvSpPr txBox="1"/>
          <p:nvPr/>
        </p:nvSpPr>
        <p:spPr>
          <a:xfrm>
            <a:off x="4809744" y="1847088"/>
            <a:ext cx="3767328" cy="4480560"/>
          </a:xfrm>
          <a:prstGeom prst="rect">
            <a:avLst/>
          </a:prstGeom>
          <a:noFill/>
        </p:spPr>
        <p:txBody>
          <a:bodyPr wrap="square">
            <a:spAutoFit/>
          </a:bodyPr>
          <a:lstStyle/>
          <a:p>
            <a:pPr algn="l"/>
            <a:r>
              <a:rPr sz="1150" b="1">
                <a:solidFill>
                  <a:srgbClr val="5BC0F5"/>
                </a:solidFill>
                <a:latin typeface="Syne"/>
              </a:rPr>
              <a:t>▸  Performance</a:t>
            </a:r>
          </a:p>
          <a:p>
            <a:r>
              <a:rPr sz="950">
                <a:solidFill>
                  <a:srgbClr val="E8F0E9"/>
                </a:solidFill>
                <a:latin typeface="Geist"/>
              </a:rPr>
              <a:t>   AI inference response &lt; 3 seconds; API endpoints respond &lt; 500 ms under normal load.</a:t>
            </a:r>
          </a:p>
          <a:p>
            <a:endParaRPr sz="950">
              <a:solidFill>
                <a:srgbClr val="E8F0E9"/>
              </a:solidFill>
              <a:latin typeface="Geist"/>
            </a:endParaRPr>
          </a:p>
          <a:p>
            <a:pPr algn="l"/>
            <a:r>
              <a:rPr sz="1150" b="1">
                <a:solidFill>
                  <a:srgbClr val="5BC0F5"/>
                </a:solidFill>
                <a:latin typeface="Syne"/>
              </a:rPr>
              <a:t>▸  Scalability</a:t>
            </a:r>
          </a:p>
          <a:p>
            <a:r>
              <a:rPr sz="950">
                <a:solidFill>
                  <a:srgbClr val="E8F0E9"/>
                </a:solidFill>
                <a:latin typeface="Geist"/>
              </a:rPr>
              <a:t>   Microservice design — Node.js and Flask scale independently via container orchestration.</a:t>
            </a:r>
          </a:p>
          <a:p>
            <a:endParaRPr sz="950">
              <a:solidFill>
                <a:srgbClr val="E8F0E9"/>
              </a:solidFill>
              <a:latin typeface="Geist"/>
            </a:endParaRPr>
          </a:p>
          <a:p>
            <a:pPr algn="l"/>
            <a:r>
              <a:rPr sz="1150" b="1">
                <a:solidFill>
                  <a:srgbClr val="5BC0F5"/>
                </a:solidFill>
                <a:latin typeface="Syne"/>
              </a:rPr>
              <a:t>▸  Security</a:t>
            </a:r>
          </a:p>
          <a:p>
            <a:r>
              <a:rPr sz="950">
                <a:solidFill>
                  <a:srgbClr val="E8F0E9"/>
                </a:solidFill>
                <a:latin typeface="Geist"/>
              </a:rPr>
              <a:t>   Bcrypt password hashing, JWT expiry, HTTPS-only cookies, and input sanitisation.</a:t>
            </a:r>
          </a:p>
          <a:p>
            <a:endParaRPr sz="950">
              <a:solidFill>
                <a:srgbClr val="E8F0E9"/>
              </a:solidFill>
              <a:latin typeface="Geist"/>
            </a:endParaRPr>
          </a:p>
          <a:p>
            <a:pPr algn="l"/>
            <a:r>
              <a:rPr sz="1150" b="1">
                <a:solidFill>
                  <a:srgbClr val="5BC0F5"/>
                </a:solidFill>
                <a:latin typeface="Syne"/>
              </a:rPr>
              <a:t>▸  Usability</a:t>
            </a:r>
          </a:p>
          <a:p>
            <a:r>
              <a:rPr sz="950">
                <a:solidFill>
                  <a:srgbClr val="E8F0E9"/>
                </a:solidFill>
                <a:latin typeface="Geist"/>
              </a:rPr>
              <a:t>   Fully responsive mobile-first React frontend; WCAG 2.1 AA colour contrast compliance.</a:t>
            </a:r>
          </a:p>
          <a:p>
            <a:endParaRPr sz="950">
              <a:solidFill>
                <a:srgbClr val="E8F0E9"/>
              </a:solidFill>
              <a:latin typeface="Gei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93776" y="493776"/>
            <a:ext cx="8430768" cy="658368"/>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530352"/>
            <a:ext cx="8046720" cy="612648"/>
          </a:xfrm>
          <a:prstGeom prst="rect">
            <a:avLst/>
          </a:prstGeom>
          <a:noFill/>
        </p:spPr>
        <p:txBody>
          <a:bodyPr wrap="square">
            <a:spAutoFit/>
          </a:bodyPr>
          <a:lstStyle/>
          <a:p>
            <a:pPr algn="l"/>
            <a:r>
              <a:rPr sz="2000" b="1" i="0">
                <a:solidFill>
                  <a:srgbClr val="FFFFFF"/>
                </a:solidFill>
                <a:latin typeface="Syne"/>
              </a:rPr>
              <a:t>Detailed System Architecture</a:t>
            </a:r>
          </a:p>
        </p:txBody>
      </p:sp>
      <p:sp>
        <p:nvSpPr>
          <p:cNvPr id="5" name="TextBox 4"/>
          <p:cNvSpPr txBox="1"/>
          <p:nvPr/>
        </p:nvSpPr>
        <p:spPr>
          <a:xfrm>
            <a:off x="594360" y="1188720"/>
            <a:ext cx="8229600" cy="292608"/>
          </a:xfrm>
          <a:prstGeom prst="rect">
            <a:avLst/>
          </a:prstGeom>
          <a:noFill/>
        </p:spPr>
        <p:txBody>
          <a:bodyPr wrap="square">
            <a:spAutoFit/>
          </a:bodyPr>
          <a:lstStyle/>
          <a:p>
            <a:pPr algn="l"/>
            <a:r>
              <a:rPr sz="1000" b="0" i="0">
                <a:solidFill>
                  <a:srgbClr val="A0B8A8"/>
                </a:solidFill>
                <a:latin typeface="Geist"/>
              </a:rPr>
              <a:t>Decoupled microservices: Node.js handles UI and DB logic, proxying image payloads to the isolated Flask AI service to prevent event-loop blocking.</a:t>
            </a:r>
          </a:p>
        </p:txBody>
      </p:sp>
      <p:sp>
        <p:nvSpPr>
          <p:cNvPr id="6" name="Rectangle 5"/>
          <p:cNvSpPr/>
          <p:nvPr/>
        </p:nvSpPr>
        <p:spPr>
          <a:xfrm>
            <a:off x="777240" y="1536192"/>
            <a:ext cx="1417320" cy="877824"/>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1792224"/>
            <a:ext cx="1280160" cy="384048"/>
          </a:xfrm>
          <a:prstGeom prst="rect">
            <a:avLst/>
          </a:prstGeom>
          <a:noFill/>
        </p:spPr>
        <p:txBody>
          <a:bodyPr wrap="square">
            <a:spAutoFit/>
          </a:bodyPr>
          <a:lstStyle/>
          <a:p>
            <a:pPr algn="ctr"/>
            <a:r>
              <a:rPr sz="900" b="1" i="0">
                <a:solidFill>
                  <a:srgbClr val="FFFFFF"/>
                </a:solidFill>
                <a:latin typeface="Syne"/>
              </a:rPr>
              <a:t>CLIENT TIER</a:t>
            </a:r>
          </a:p>
        </p:txBody>
      </p:sp>
      <p:sp>
        <p:nvSpPr>
          <p:cNvPr id="8" name="Rectangle 7"/>
          <p:cNvSpPr/>
          <p:nvPr/>
        </p:nvSpPr>
        <p:spPr>
          <a:xfrm>
            <a:off x="2240280" y="1536192"/>
            <a:ext cx="6217920" cy="877824"/>
          </a:xfrm>
          <a:prstGeom prst="rect">
            <a:avLst/>
          </a:prstGeom>
          <a:solidFill>
            <a:srgbClr val="13273A"/>
          </a:solidFill>
          <a:ln w="15240">
            <a:solidFill>
              <a:srgbClr val="228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368296" y="1609344"/>
            <a:ext cx="5961888" cy="347472"/>
          </a:xfrm>
          <a:prstGeom prst="rect">
            <a:avLst/>
          </a:prstGeom>
          <a:noFill/>
        </p:spPr>
        <p:txBody>
          <a:bodyPr wrap="square">
            <a:spAutoFit/>
          </a:bodyPr>
          <a:lstStyle/>
          <a:p>
            <a:pPr algn="l"/>
            <a:r>
              <a:rPr sz="1300" b="1" i="0">
                <a:solidFill>
                  <a:srgbClr val="228BE6"/>
                </a:solidFill>
                <a:latin typeface="Syne"/>
              </a:rPr>
              <a:t>React.js (Frontend UI)</a:t>
            </a:r>
          </a:p>
        </p:txBody>
      </p:sp>
      <p:sp>
        <p:nvSpPr>
          <p:cNvPr id="10" name="TextBox 9"/>
          <p:cNvSpPr txBox="1"/>
          <p:nvPr/>
        </p:nvSpPr>
        <p:spPr>
          <a:xfrm>
            <a:off x="2368296" y="1993392"/>
            <a:ext cx="5961888" cy="365760"/>
          </a:xfrm>
          <a:prstGeom prst="rect">
            <a:avLst/>
          </a:prstGeom>
          <a:noFill/>
        </p:spPr>
        <p:txBody>
          <a:bodyPr wrap="square">
            <a:spAutoFit/>
          </a:bodyPr>
          <a:lstStyle/>
          <a:p>
            <a:pPr algn="l"/>
            <a:r>
              <a:rPr sz="900" b="0" i="0">
                <a:solidFill>
                  <a:srgbClr val="E8F0E9"/>
                </a:solidFill>
                <a:latin typeface="Geist"/>
              </a:rPr>
              <a:t>Vite build toolchain · Axios HTTP client · React Context auth state · Role-based routing</a:t>
            </a:r>
          </a:p>
        </p:txBody>
      </p:sp>
      <p:sp>
        <p:nvSpPr>
          <p:cNvPr id="11" name="TextBox 10"/>
          <p:cNvSpPr txBox="1"/>
          <p:nvPr/>
        </p:nvSpPr>
        <p:spPr>
          <a:xfrm>
            <a:off x="4507992" y="2432304"/>
            <a:ext cx="219456" cy="128016"/>
          </a:xfrm>
          <a:prstGeom prst="rect">
            <a:avLst/>
          </a:prstGeom>
          <a:noFill/>
        </p:spPr>
        <p:txBody>
          <a:bodyPr wrap="square">
            <a:spAutoFit/>
          </a:bodyPr>
          <a:lstStyle/>
          <a:p>
            <a:pPr algn="ctr"/>
            <a:r>
              <a:rPr sz="1400" b="0" i="0">
                <a:solidFill>
                  <a:srgbClr val="A0B8A8"/>
                </a:solidFill>
                <a:latin typeface="Syne"/>
              </a:rPr>
              <a:t>↓</a:t>
            </a:r>
          </a:p>
        </p:txBody>
      </p:sp>
      <p:sp>
        <p:nvSpPr>
          <p:cNvPr id="12" name="Rectangle 11"/>
          <p:cNvSpPr/>
          <p:nvPr/>
        </p:nvSpPr>
        <p:spPr>
          <a:xfrm>
            <a:off x="777240" y="2560320"/>
            <a:ext cx="1417320" cy="877824"/>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0392" y="2816352"/>
            <a:ext cx="1280160" cy="384048"/>
          </a:xfrm>
          <a:prstGeom prst="rect">
            <a:avLst/>
          </a:prstGeom>
          <a:noFill/>
        </p:spPr>
        <p:txBody>
          <a:bodyPr wrap="square">
            <a:spAutoFit/>
          </a:bodyPr>
          <a:lstStyle/>
          <a:p>
            <a:pPr algn="ctr"/>
            <a:r>
              <a:rPr sz="900" b="1" i="0">
                <a:solidFill>
                  <a:srgbClr val="FFFFFF"/>
                </a:solidFill>
                <a:latin typeface="Syne"/>
              </a:rPr>
              <a:t>API GATEWAY</a:t>
            </a:r>
          </a:p>
        </p:txBody>
      </p:sp>
      <p:sp>
        <p:nvSpPr>
          <p:cNvPr id="14" name="Rectangle 13"/>
          <p:cNvSpPr/>
          <p:nvPr/>
        </p:nvSpPr>
        <p:spPr>
          <a:xfrm>
            <a:off x="2240280" y="2560320"/>
            <a:ext cx="6217920" cy="877824"/>
          </a:xfrm>
          <a:prstGeom prst="rect">
            <a:avLst/>
          </a:prstGeom>
          <a:solidFill>
            <a:srgbClr val="13273A"/>
          </a:solidFill>
          <a:ln w="1524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68296" y="2633472"/>
            <a:ext cx="5961888" cy="347472"/>
          </a:xfrm>
          <a:prstGeom prst="rect">
            <a:avLst/>
          </a:prstGeom>
          <a:noFill/>
        </p:spPr>
        <p:txBody>
          <a:bodyPr wrap="square">
            <a:spAutoFit/>
          </a:bodyPr>
          <a:lstStyle/>
          <a:p>
            <a:pPr algn="l"/>
            <a:r>
              <a:rPr sz="1300" b="1" i="0">
                <a:solidFill>
                  <a:srgbClr val="547808"/>
                </a:solidFill>
                <a:latin typeface="Syne"/>
              </a:rPr>
              <a:t>Node.js &amp; Express.js (REST Routing &amp; Auth)</a:t>
            </a:r>
          </a:p>
        </p:txBody>
      </p:sp>
      <p:sp>
        <p:nvSpPr>
          <p:cNvPr id="16" name="TextBox 15"/>
          <p:cNvSpPr txBox="1"/>
          <p:nvPr/>
        </p:nvSpPr>
        <p:spPr>
          <a:xfrm>
            <a:off x="2368296" y="3017520"/>
            <a:ext cx="5961888" cy="365760"/>
          </a:xfrm>
          <a:prstGeom prst="rect">
            <a:avLst/>
          </a:prstGeom>
          <a:noFill/>
        </p:spPr>
        <p:txBody>
          <a:bodyPr wrap="square">
            <a:spAutoFit/>
          </a:bodyPr>
          <a:lstStyle/>
          <a:p>
            <a:pPr algn="l"/>
            <a:r>
              <a:rPr sz="900" b="0" i="0">
                <a:solidFill>
                  <a:srgbClr val="E8F0E9"/>
                </a:solidFill>
                <a:latin typeface="Geist"/>
              </a:rPr>
              <a:t>JWT middleware · Multer file handling · Mongoose ODM · Proxy to Flask /predict endpoint</a:t>
            </a:r>
          </a:p>
        </p:txBody>
      </p:sp>
      <p:sp>
        <p:nvSpPr>
          <p:cNvPr id="17" name="TextBox 16"/>
          <p:cNvSpPr txBox="1"/>
          <p:nvPr/>
        </p:nvSpPr>
        <p:spPr>
          <a:xfrm>
            <a:off x="4507992" y="3456432"/>
            <a:ext cx="219456" cy="128016"/>
          </a:xfrm>
          <a:prstGeom prst="rect">
            <a:avLst/>
          </a:prstGeom>
          <a:noFill/>
        </p:spPr>
        <p:txBody>
          <a:bodyPr wrap="square">
            <a:spAutoFit/>
          </a:bodyPr>
          <a:lstStyle/>
          <a:p>
            <a:pPr algn="ctr"/>
            <a:r>
              <a:rPr sz="1400" b="0" i="0">
                <a:solidFill>
                  <a:srgbClr val="A0B8A8"/>
                </a:solidFill>
                <a:latin typeface="Syne"/>
              </a:rPr>
              <a:t>↓</a:t>
            </a:r>
          </a:p>
        </p:txBody>
      </p:sp>
      <p:sp>
        <p:nvSpPr>
          <p:cNvPr id="18" name="Rectangle 17"/>
          <p:cNvSpPr/>
          <p:nvPr/>
        </p:nvSpPr>
        <p:spPr>
          <a:xfrm>
            <a:off x="777240" y="3584448"/>
            <a:ext cx="1417320" cy="877824"/>
          </a:xfrm>
          <a:prstGeom prst="rect">
            <a:avLst/>
          </a:prstGeom>
          <a:solidFill>
            <a:srgbClr val="F09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0392" y="3840480"/>
            <a:ext cx="1280160" cy="384048"/>
          </a:xfrm>
          <a:prstGeom prst="rect">
            <a:avLst/>
          </a:prstGeom>
          <a:noFill/>
        </p:spPr>
        <p:txBody>
          <a:bodyPr wrap="square">
            <a:spAutoFit/>
          </a:bodyPr>
          <a:lstStyle/>
          <a:p>
            <a:pPr algn="ctr"/>
            <a:r>
              <a:rPr sz="900" b="1" i="0">
                <a:solidFill>
                  <a:srgbClr val="FFFFFF"/>
                </a:solidFill>
                <a:latin typeface="Syne"/>
              </a:rPr>
              <a:t>AI ENGINE</a:t>
            </a:r>
          </a:p>
        </p:txBody>
      </p:sp>
      <p:sp>
        <p:nvSpPr>
          <p:cNvPr id="20" name="Rectangle 19"/>
          <p:cNvSpPr/>
          <p:nvPr/>
        </p:nvSpPr>
        <p:spPr>
          <a:xfrm>
            <a:off x="2240280" y="3584448"/>
            <a:ext cx="6217920" cy="877824"/>
          </a:xfrm>
          <a:prstGeom prst="rect">
            <a:avLst/>
          </a:prstGeom>
          <a:solidFill>
            <a:srgbClr val="13273A"/>
          </a:solidFill>
          <a:ln w="15240">
            <a:solidFill>
              <a:srgbClr val="F09A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368296" y="3657600"/>
            <a:ext cx="5961888" cy="347472"/>
          </a:xfrm>
          <a:prstGeom prst="rect">
            <a:avLst/>
          </a:prstGeom>
          <a:noFill/>
        </p:spPr>
        <p:txBody>
          <a:bodyPr wrap="square">
            <a:spAutoFit/>
          </a:bodyPr>
          <a:lstStyle/>
          <a:p>
            <a:pPr algn="l"/>
            <a:r>
              <a:rPr sz="1300" b="1" i="0">
                <a:solidFill>
                  <a:srgbClr val="F09A18"/>
                </a:solidFill>
                <a:latin typeface="Syne"/>
              </a:rPr>
              <a:t>Python &amp; Flask (ResNet-50 CNN Inference)</a:t>
            </a:r>
          </a:p>
        </p:txBody>
      </p:sp>
      <p:sp>
        <p:nvSpPr>
          <p:cNvPr id="22" name="TextBox 21"/>
          <p:cNvSpPr txBox="1"/>
          <p:nvPr/>
        </p:nvSpPr>
        <p:spPr>
          <a:xfrm>
            <a:off x="2368296" y="4041648"/>
            <a:ext cx="5961888" cy="365760"/>
          </a:xfrm>
          <a:prstGeom prst="rect">
            <a:avLst/>
          </a:prstGeom>
          <a:noFill/>
        </p:spPr>
        <p:txBody>
          <a:bodyPr wrap="square">
            <a:spAutoFit/>
          </a:bodyPr>
          <a:lstStyle/>
          <a:p>
            <a:pPr algn="l"/>
            <a:r>
              <a:rPr sz="900" b="0" i="0">
                <a:solidFill>
                  <a:srgbClr val="E8F0E9"/>
                </a:solidFill>
                <a:latin typeface="Geist"/>
              </a:rPr>
              <a:t>PyTorch model loading · Image pre-processing (224×224 normalise) · JSON confidence response</a:t>
            </a:r>
          </a:p>
        </p:txBody>
      </p:sp>
      <p:sp>
        <p:nvSpPr>
          <p:cNvPr id="23" name="TextBox 22"/>
          <p:cNvSpPr txBox="1"/>
          <p:nvPr/>
        </p:nvSpPr>
        <p:spPr>
          <a:xfrm>
            <a:off x="4507992" y="4480560"/>
            <a:ext cx="219456" cy="128016"/>
          </a:xfrm>
          <a:prstGeom prst="rect">
            <a:avLst/>
          </a:prstGeom>
          <a:noFill/>
        </p:spPr>
        <p:txBody>
          <a:bodyPr wrap="square">
            <a:spAutoFit/>
          </a:bodyPr>
          <a:lstStyle/>
          <a:p>
            <a:pPr algn="ctr"/>
            <a:r>
              <a:rPr sz="1400" b="0" i="0">
                <a:solidFill>
                  <a:srgbClr val="A0B8A8"/>
                </a:solidFill>
                <a:latin typeface="Syne"/>
              </a:rPr>
              <a:t>↓</a:t>
            </a:r>
          </a:p>
        </p:txBody>
      </p:sp>
      <p:sp>
        <p:nvSpPr>
          <p:cNvPr id="24" name="Rectangle 23"/>
          <p:cNvSpPr/>
          <p:nvPr/>
        </p:nvSpPr>
        <p:spPr>
          <a:xfrm>
            <a:off x="777240" y="4608576"/>
            <a:ext cx="1417320" cy="877824"/>
          </a:xfrm>
          <a:prstGeom prst="rect">
            <a:avLst/>
          </a:prstGeom>
          <a:solidFill>
            <a:srgbClr val="8F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0392" y="4864608"/>
            <a:ext cx="1280160" cy="384048"/>
          </a:xfrm>
          <a:prstGeom prst="rect">
            <a:avLst/>
          </a:prstGeom>
          <a:noFill/>
        </p:spPr>
        <p:txBody>
          <a:bodyPr wrap="square">
            <a:spAutoFit/>
          </a:bodyPr>
          <a:lstStyle/>
          <a:p>
            <a:pPr algn="ctr"/>
            <a:r>
              <a:rPr sz="900" b="1" i="0">
                <a:solidFill>
                  <a:srgbClr val="FFFFFF"/>
                </a:solidFill>
                <a:latin typeface="Syne"/>
              </a:rPr>
              <a:t>DATA TIER</a:t>
            </a:r>
          </a:p>
        </p:txBody>
      </p:sp>
      <p:sp>
        <p:nvSpPr>
          <p:cNvPr id="26" name="Rectangle 25"/>
          <p:cNvSpPr/>
          <p:nvPr/>
        </p:nvSpPr>
        <p:spPr>
          <a:xfrm>
            <a:off x="2240280" y="4608576"/>
            <a:ext cx="6217920" cy="877824"/>
          </a:xfrm>
          <a:prstGeom prst="rect">
            <a:avLst/>
          </a:prstGeom>
          <a:solidFill>
            <a:srgbClr val="13273A"/>
          </a:solidFill>
          <a:ln w="15240">
            <a:solidFill>
              <a:srgbClr val="8F3B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368296" y="4681728"/>
            <a:ext cx="5961888" cy="347472"/>
          </a:xfrm>
          <a:prstGeom prst="rect">
            <a:avLst/>
          </a:prstGeom>
          <a:noFill/>
        </p:spPr>
        <p:txBody>
          <a:bodyPr wrap="square">
            <a:spAutoFit/>
          </a:bodyPr>
          <a:lstStyle/>
          <a:p>
            <a:pPr algn="l"/>
            <a:r>
              <a:rPr sz="1300" b="1" i="0">
                <a:solidFill>
                  <a:srgbClr val="8F3BC8"/>
                </a:solidFill>
                <a:latin typeface="Syne"/>
              </a:rPr>
              <a:t>MongoDB (NoSQL Document Store)</a:t>
            </a:r>
          </a:p>
        </p:txBody>
      </p:sp>
      <p:sp>
        <p:nvSpPr>
          <p:cNvPr id="28" name="TextBox 27"/>
          <p:cNvSpPr txBox="1"/>
          <p:nvPr/>
        </p:nvSpPr>
        <p:spPr>
          <a:xfrm>
            <a:off x="2368296" y="5065776"/>
            <a:ext cx="5961888" cy="365760"/>
          </a:xfrm>
          <a:prstGeom prst="rect">
            <a:avLst/>
          </a:prstGeom>
          <a:noFill/>
        </p:spPr>
        <p:txBody>
          <a:bodyPr wrap="square">
            <a:spAutoFit/>
          </a:bodyPr>
          <a:lstStyle/>
          <a:p>
            <a:pPr algn="l"/>
            <a:r>
              <a:rPr sz="900" b="0" i="0">
                <a:solidFill>
                  <a:srgbClr val="E8F0E9"/>
                </a:solidFill>
                <a:latin typeface="Geist"/>
              </a:rPr>
              <a:t>Users · Predictions (1-to-many) · Treatments · In-memory fallback for dev environments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93776" y="493776"/>
            <a:ext cx="8430768" cy="658368"/>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530352"/>
            <a:ext cx="8046720" cy="612648"/>
          </a:xfrm>
          <a:prstGeom prst="rect">
            <a:avLst/>
          </a:prstGeom>
          <a:noFill/>
        </p:spPr>
        <p:txBody>
          <a:bodyPr wrap="square">
            <a:spAutoFit/>
          </a:bodyPr>
          <a:lstStyle/>
          <a:p>
            <a:pPr algn="l"/>
            <a:r>
              <a:rPr sz="2000" b="1" i="0">
                <a:solidFill>
                  <a:srgbClr val="FFFFFF"/>
                </a:solidFill>
                <a:latin typeface="Syne"/>
              </a:rPr>
              <a:t>Use Case Diagram</a:t>
            </a:r>
          </a:p>
        </p:txBody>
      </p:sp>
      <p:pic>
        <p:nvPicPr>
          <p:cNvPr id="5" name="Picture 4" descr="use_case_diagram.png"/>
          <p:cNvPicPr>
            <a:picLocks noChangeAspect="1"/>
          </p:cNvPicPr>
          <p:nvPr/>
        </p:nvPicPr>
        <p:blipFill>
          <a:blip r:embed="rId2"/>
          <a:stretch>
            <a:fillRect/>
          </a:stretch>
        </p:blipFill>
        <p:spPr>
          <a:xfrm>
            <a:off x="457200" y="1234440"/>
            <a:ext cx="8229600" cy="37398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93776" y="493776"/>
            <a:ext cx="8430768" cy="658368"/>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530352"/>
            <a:ext cx="8046720" cy="612648"/>
          </a:xfrm>
          <a:prstGeom prst="rect">
            <a:avLst/>
          </a:prstGeom>
          <a:noFill/>
        </p:spPr>
        <p:txBody>
          <a:bodyPr wrap="square">
            <a:spAutoFit/>
          </a:bodyPr>
          <a:lstStyle/>
          <a:p>
            <a:pPr algn="l"/>
            <a:r>
              <a:rPr sz="2000" b="1" i="0">
                <a:solidFill>
                  <a:srgbClr val="FFFFFF"/>
                </a:solidFill>
                <a:latin typeface="Syne"/>
              </a:rPr>
              <a:t>Entity-Relationship (ER) Schema</a:t>
            </a:r>
          </a:p>
        </p:txBody>
      </p:sp>
      <p:sp>
        <p:nvSpPr>
          <p:cNvPr id="5" name="TextBox 4"/>
          <p:cNvSpPr txBox="1"/>
          <p:nvPr/>
        </p:nvSpPr>
        <p:spPr>
          <a:xfrm>
            <a:off x="594360" y="1188720"/>
            <a:ext cx="8229600" cy="292608"/>
          </a:xfrm>
          <a:prstGeom prst="rect">
            <a:avLst/>
          </a:prstGeom>
          <a:noFill/>
        </p:spPr>
        <p:txBody>
          <a:bodyPr wrap="square">
            <a:spAutoFit/>
          </a:bodyPr>
          <a:lstStyle/>
          <a:p>
            <a:pPr algn="l"/>
            <a:r>
              <a:rPr sz="1000" b="0" i="0">
                <a:solidFill>
                  <a:srgbClr val="A0B8A8"/>
                </a:solidFill>
                <a:latin typeface="Geist"/>
              </a:rPr>
              <a:t>MongoDB NoSQL document collections — relationships modelled via embedded documents and userId references.</a:t>
            </a:r>
          </a:p>
        </p:txBody>
      </p:sp>
      <p:sp>
        <p:nvSpPr>
          <p:cNvPr id="6" name="TextBox 5"/>
          <p:cNvSpPr txBox="1"/>
          <p:nvPr/>
        </p:nvSpPr>
        <p:spPr>
          <a:xfrm>
            <a:off x="4096512" y="3474720"/>
            <a:ext cx="329184" cy="329184"/>
          </a:xfrm>
          <a:prstGeom prst="rect">
            <a:avLst/>
          </a:prstGeom>
          <a:noFill/>
        </p:spPr>
        <p:txBody>
          <a:bodyPr wrap="square">
            <a:spAutoFit/>
          </a:bodyPr>
          <a:lstStyle/>
          <a:p>
            <a:pPr algn="ctr"/>
            <a:r>
              <a:rPr sz="2200" b="0" i="0">
                <a:solidFill>
                  <a:srgbClr val="A0B8A8"/>
                </a:solidFill>
                <a:latin typeface="Syne"/>
              </a:rPr>
              <a:t>→</a:t>
            </a:r>
          </a:p>
        </p:txBody>
      </p:sp>
      <p:sp>
        <p:nvSpPr>
          <p:cNvPr id="7" name="Rectangle 6"/>
          <p:cNvSpPr/>
          <p:nvPr/>
        </p:nvSpPr>
        <p:spPr>
          <a:xfrm>
            <a:off x="384048" y="1444752"/>
            <a:ext cx="3730752" cy="4846320"/>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84048" y="1444752"/>
            <a:ext cx="3730752" cy="347472"/>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8" y="1481328"/>
            <a:ext cx="3547872" cy="347472"/>
          </a:xfrm>
          <a:prstGeom prst="rect">
            <a:avLst/>
          </a:prstGeom>
          <a:noFill/>
        </p:spPr>
        <p:txBody>
          <a:bodyPr wrap="square">
            <a:spAutoFit/>
          </a:bodyPr>
          <a:lstStyle/>
          <a:p>
            <a:pPr algn="l"/>
            <a:r>
              <a:rPr sz="1200" b="1" i="0">
                <a:solidFill>
                  <a:srgbClr val="FFFFFF"/>
                </a:solidFill>
                <a:latin typeface="Syne"/>
              </a:rPr>
              <a:t>👤  Users Collection</a:t>
            </a:r>
          </a:p>
        </p:txBody>
      </p:sp>
      <p:sp>
        <p:nvSpPr>
          <p:cNvPr id="10" name="TextBox 9"/>
          <p:cNvSpPr txBox="1"/>
          <p:nvPr/>
        </p:nvSpPr>
        <p:spPr>
          <a:xfrm>
            <a:off x="493776" y="1883664"/>
            <a:ext cx="3511296" cy="4297680"/>
          </a:xfrm>
          <a:prstGeom prst="rect">
            <a:avLst/>
          </a:prstGeom>
          <a:noFill/>
        </p:spPr>
        <p:txBody>
          <a:bodyPr wrap="square">
            <a:spAutoFit/>
          </a:bodyPr>
          <a:lstStyle/>
          <a:p>
            <a:r>
              <a:rPr sz="1050" b="1">
                <a:solidFill>
                  <a:srgbClr val="547808"/>
                </a:solidFill>
                <a:latin typeface="Syne"/>
              </a:rPr>
              <a:t>_id</a:t>
            </a:r>
            <a:r>
              <a:rPr sz="950">
                <a:solidFill>
                  <a:srgbClr val="F09A18"/>
                </a:solidFill>
                <a:latin typeface="Geist"/>
              </a:rPr>
              <a:t>  : ObjectId</a:t>
            </a:r>
          </a:p>
          <a:p>
            <a:r>
              <a:rPr sz="850">
                <a:solidFill>
                  <a:srgbClr val="A0B8A8"/>
                </a:solidFill>
                <a:latin typeface="Geist"/>
              </a:rPr>
              <a:t>   Primary Key</a:t>
            </a:r>
          </a:p>
          <a:p>
            <a:endParaRPr sz="850">
              <a:solidFill>
                <a:srgbClr val="A0B8A8"/>
              </a:solidFill>
              <a:latin typeface="Geist"/>
            </a:endParaRPr>
          </a:p>
          <a:p>
            <a:r>
              <a:rPr sz="1050" b="1">
                <a:solidFill>
                  <a:srgbClr val="547808"/>
                </a:solidFill>
                <a:latin typeface="Syne"/>
              </a:rPr>
              <a:t>fullName</a:t>
            </a:r>
            <a:r>
              <a:rPr sz="950">
                <a:solidFill>
                  <a:srgbClr val="F09A18"/>
                </a:solidFill>
                <a:latin typeface="Geist"/>
              </a:rPr>
              <a:t>  : String</a:t>
            </a:r>
          </a:p>
          <a:p>
            <a:r>
              <a:rPr sz="850">
                <a:solidFill>
                  <a:srgbClr val="A0B8A8"/>
                </a:solidFill>
                <a:latin typeface="Geist"/>
              </a:rPr>
              <a:t>   User display name</a:t>
            </a:r>
          </a:p>
          <a:p>
            <a:endParaRPr sz="850">
              <a:solidFill>
                <a:srgbClr val="A0B8A8"/>
              </a:solidFill>
              <a:latin typeface="Geist"/>
            </a:endParaRPr>
          </a:p>
          <a:p>
            <a:r>
              <a:rPr sz="1050" b="1">
                <a:solidFill>
                  <a:srgbClr val="547808"/>
                </a:solidFill>
                <a:latin typeface="Syne"/>
              </a:rPr>
              <a:t>email</a:t>
            </a:r>
            <a:r>
              <a:rPr sz="950">
                <a:solidFill>
                  <a:srgbClr val="F09A18"/>
                </a:solidFill>
                <a:latin typeface="Geist"/>
              </a:rPr>
              <a:t>  : String</a:t>
            </a:r>
          </a:p>
          <a:p>
            <a:r>
              <a:rPr sz="850">
                <a:solidFill>
                  <a:srgbClr val="A0B8A8"/>
                </a:solidFill>
                <a:latin typeface="Geist"/>
              </a:rPr>
              <a:t>   Unique login identifier</a:t>
            </a:r>
          </a:p>
          <a:p>
            <a:endParaRPr sz="850">
              <a:solidFill>
                <a:srgbClr val="A0B8A8"/>
              </a:solidFill>
              <a:latin typeface="Geist"/>
            </a:endParaRPr>
          </a:p>
          <a:p>
            <a:r>
              <a:rPr sz="1050" b="1">
                <a:solidFill>
                  <a:srgbClr val="547808"/>
                </a:solidFill>
                <a:latin typeface="Syne"/>
              </a:rPr>
              <a:t>passwordHash</a:t>
            </a:r>
            <a:r>
              <a:rPr sz="950">
                <a:solidFill>
                  <a:srgbClr val="F09A18"/>
                </a:solidFill>
                <a:latin typeface="Geist"/>
              </a:rPr>
              <a:t>  : String</a:t>
            </a:r>
          </a:p>
          <a:p>
            <a:r>
              <a:rPr sz="850">
                <a:solidFill>
                  <a:srgbClr val="A0B8A8"/>
                </a:solidFill>
                <a:latin typeface="Geist"/>
              </a:rPr>
              <a:t>   Bcrypt hash — never stored plain</a:t>
            </a:r>
          </a:p>
          <a:p>
            <a:endParaRPr sz="850">
              <a:solidFill>
                <a:srgbClr val="A0B8A8"/>
              </a:solidFill>
              <a:latin typeface="Geist"/>
            </a:endParaRPr>
          </a:p>
          <a:p>
            <a:r>
              <a:rPr sz="1050" b="1">
                <a:solidFill>
                  <a:srgbClr val="547808"/>
                </a:solidFill>
                <a:latin typeface="Syne"/>
              </a:rPr>
              <a:t>role</a:t>
            </a:r>
            <a:r>
              <a:rPr sz="950">
                <a:solidFill>
                  <a:srgbClr val="F09A18"/>
                </a:solidFill>
                <a:latin typeface="Geist"/>
              </a:rPr>
              <a:t>  : Enum</a:t>
            </a:r>
          </a:p>
          <a:p>
            <a:r>
              <a:rPr sz="850">
                <a:solidFill>
                  <a:srgbClr val="A0B8A8"/>
                </a:solidFill>
                <a:latin typeface="Geist"/>
              </a:rPr>
              <a:t>   'farmer' | 'officer' | 'admin'</a:t>
            </a:r>
          </a:p>
          <a:p>
            <a:endParaRPr sz="850">
              <a:solidFill>
                <a:srgbClr val="A0B8A8"/>
              </a:solidFill>
              <a:latin typeface="Geist"/>
            </a:endParaRPr>
          </a:p>
          <a:p>
            <a:r>
              <a:rPr sz="1050" b="1">
                <a:solidFill>
                  <a:srgbClr val="547808"/>
                </a:solidFill>
                <a:latin typeface="Syne"/>
              </a:rPr>
              <a:t>createdAt</a:t>
            </a:r>
            <a:r>
              <a:rPr sz="950">
                <a:solidFill>
                  <a:srgbClr val="F09A18"/>
                </a:solidFill>
                <a:latin typeface="Geist"/>
              </a:rPr>
              <a:t>  : Date</a:t>
            </a:r>
          </a:p>
          <a:p>
            <a:r>
              <a:rPr sz="850">
                <a:solidFill>
                  <a:srgbClr val="A0B8A8"/>
                </a:solidFill>
                <a:latin typeface="Geist"/>
              </a:rPr>
              <a:t>   ISO 8601 timestamp</a:t>
            </a:r>
          </a:p>
          <a:p>
            <a:endParaRPr sz="850">
              <a:solidFill>
                <a:srgbClr val="A0B8A8"/>
              </a:solidFill>
              <a:latin typeface="Geist"/>
            </a:endParaRPr>
          </a:p>
        </p:txBody>
      </p:sp>
      <p:sp>
        <p:nvSpPr>
          <p:cNvPr id="11" name="Rectangle 10"/>
          <p:cNvSpPr/>
          <p:nvPr/>
        </p:nvSpPr>
        <p:spPr>
          <a:xfrm>
            <a:off x="4297680" y="1444752"/>
            <a:ext cx="3730752" cy="4846320"/>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1444752"/>
            <a:ext cx="3730752" cy="347472"/>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1481328"/>
            <a:ext cx="3547872" cy="347472"/>
          </a:xfrm>
          <a:prstGeom prst="rect">
            <a:avLst/>
          </a:prstGeom>
          <a:noFill/>
        </p:spPr>
        <p:txBody>
          <a:bodyPr wrap="square">
            <a:spAutoFit/>
          </a:bodyPr>
          <a:lstStyle/>
          <a:p>
            <a:pPr algn="l"/>
            <a:r>
              <a:rPr sz="1200" b="1" i="0">
                <a:solidFill>
                  <a:srgbClr val="FFFFFF"/>
                </a:solidFill>
                <a:latin typeface="Syne"/>
              </a:rPr>
              <a:t>🔬  Predictions Collection</a:t>
            </a:r>
          </a:p>
        </p:txBody>
      </p:sp>
      <p:sp>
        <p:nvSpPr>
          <p:cNvPr id="14" name="TextBox 13"/>
          <p:cNvSpPr txBox="1"/>
          <p:nvPr/>
        </p:nvSpPr>
        <p:spPr>
          <a:xfrm>
            <a:off x="4407408" y="1883664"/>
            <a:ext cx="3511296" cy="4297680"/>
          </a:xfrm>
          <a:prstGeom prst="rect">
            <a:avLst/>
          </a:prstGeom>
          <a:noFill/>
        </p:spPr>
        <p:txBody>
          <a:bodyPr wrap="square">
            <a:spAutoFit/>
          </a:bodyPr>
          <a:lstStyle/>
          <a:p>
            <a:r>
              <a:rPr sz="1050" b="1">
                <a:solidFill>
                  <a:srgbClr val="228BE6"/>
                </a:solidFill>
                <a:latin typeface="Syne"/>
              </a:rPr>
              <a:t>_id</a:t>
            </a:r>
            <a:r>
              <a:rPr sz="950">
                <a:solidFill>
                  <a:srgbClr val="F09A18"/>
                </a:solidFill>
                <a:latin typeface="Geist"/>
              </a:rPr>
              <a:t>  : ObjectId</a:t>
            </a:r>
          </a:p>
          <a:p>
            <a:r>
              <a:rPr sz="850">
                <a:solidFill>
                  <a:srgbClr val="A0B8A8"/>
                </a:solidFill>
                <a:latin typeface="Geist"/>
              </a:rPr>
              <a:t>   Primary Key</a:t>
            </a:r>
          </a:p>
          <a:p>
            <a:endParaRPr sz="850">
              <a:solidFill>
                <a:srgbClr val="A0B8A8"/>
              </a:solidFill>
              <a:latin typeface="Geist"/>
            </a:endParaRPr>
          </a:p>
          <a:p>
            <a:r>
              <a:rPr sz="1050" b="1">
                <a:solidFill>
                  <a:srgbClr val="228BE6"/>
                </a:solidFill>
                <a:latin typeface="Syne"/>
              </a:rPr>
              <a:t>userId</a:t>
            </a:r>
            <a:r>
              <a:rPr sz="950">
                <a:solidFill>
                  <a:srgbClr val="F09A18"/>
                </a:solidFill>
                <a:latin typeface="Geist"/>
              </a:rPr>
              <a:t>  : ObjectId</a:t>
            </a:r>
          </a:p>
          <a:p>
            <a:r>
              <a:rPr sz="850">
                <a:solidFill>
                  <a:srgbClr val="A0B8A8"/>
                </a:solidFill>
                <a:latin typeface="Geist"/>
              </a:rPr>
              <a:t>   Foreign Key → Users._id</a:t>
            </a:r>
          </a:p>
          <a:p>
            <a:endParaRPr sz="850">
              <a:solidFill>
                <a:srgbClr val="A0B8A8"/>
              </a:solidFill>
              <a:latin typeface="Geist"/>
            </a:endParaRPr>
          </a:p>
          <a:p>
            <a:r>
              <a:rPr sz="1050" b="1">
                <a:solidFill>
                  <a:srgbClr val="228BE6"/>
                </a:solidFill>
                <a:latin typeface="Syne"/>
              </a:rPr>
              <a:t>imageUrl</a:t>
            </a:r>
            <a:r>
              <a:rPr sz="950">
                <a:solidFill>
                  <a:srgbClr val="F09A18"/>
                </a:solidFill>
                <a:latin typeface="Geist"/>
              </a:rPr>
              <a:t>  : String</a:t>
            </a:r>
          </a:p>
          <a:p>
            <a:r>
              <a:rPr sz="850">
                <a:solidFill>
                  <a:srgbClr val="A0B8A8"/>
                </a:solidFill>
                <a:latin typeface="Geist"/>
              </a:rPr>
              <a:t>   Stored image path / CDN URL</a:t>
            </a:r>
          </a:p>
          <a:p>
            <a:endParaRPr sz="850">
              <a:solidFill>
                <a:srgbClr val="A0B8A8"/>
              </a:solidFill>
              <a:latin typeface="Geist"/>
            </a:endParaRPr>
          </a:p>
          <a:p>
            <a:r>
              <a:rPr sz="1050" b="1">
                <a:solidFill>
                  <a:srgbClr val="228BE6"/>
                </a:solidFill>
                <a:latin typeface="Syne"/>
              </a:rPr>
              <a:t>predictedDisease</a:t>
            </a:r>
            <a:r>
              <a:rPr sz="950">
                <a:solidFill>
                  <a:srgbClr val="F09A18"/>
                </a:solidFill>
                <a:latin typeface="Geist"/>
              </a:rPr>
              <a:t>  : String</a:t>
            </a:r>
          </a:p>
          <a:p>
            <a:r>
              <a:rPr sz="850">
                <a:solidFill>
                  <a:srgbClr val="A0B8A8"/>
                </a:solidFill>
                <a:latin typeface="Geist"/>
              </a:rPr>
              <a:t>   CNN output label (38 classes)</a:t>
            </a:r>
          </a:p>
          <a:p>
            <a:endParaRPr sz="850">
              <a:solidFill>
                <a:srgbClr val="A0B8A8"/>
              </a:solidFill>
              <a:latin typeface="Geist"/>
            </a:endParaRPr>
          </a:p>
          <a:p>
            <a:r>
              <a:rPr sz="1050" b="1">
                <a:solidFill>
                  <a:srgbClr val="228BE6"/>
                </a:solidFill>
                <a:latin typeface="Syne"/>
              </a:rPr>
              <a:t>confidenceScore</a:t>
            </a:r>
            <a:r>
              <a:rPr sz="950">
                <a:solidFill>
                  <a:srgbClr val="F09A18"/>
                </a:solidFill>
                <a:latin typeface="Geist"/>
              </a:rPr>
              <a:t>  : Float</a:t>
            </a:r>
          </a:p>
          <a:p>
            <a:r>
              <a:rPr sz="850">
                <a:solidFill>
                  <a:srgbClr val="A0B8A8"/>
                </a:solidFill>
                <a:latin typeface="Geist"/>
              </a:rPr>
              <a:t>   0.00 – 1.00 probability</a:t>
            </a:r>
          </a:p>
          <a:p>
            <a:endParaRPr sz="850">
              <a:solidFill>
                <a:srgbClr val="A0B8A8"/>
              </a:solidFill>
              <a:latin typeface="Geist"/>
            </a:endParaRPr>
          </a:p>
          <a:p>
            <a:r>
              <a:rPr sz="1050" b="1">
                <a:solidFill>
                  <a:srgbClr val="228BE6"/>
                </a:solidFill>
                <a:latin typeface="Syne"/>
              </a:rPr>
              <a:t>cropSpecies</a:t>
            </a:r>
            <a:r>
              <a:rPr sz="950">
                <a:solidFill>
                  <a:srgbClr val="F09A18"/>
                </a:solidFill>
                <a:latin typeface="Geist"/>
              </a:rPr>
              <a:t>  : String</a:t>
            </a:r>
          </a:p>
          <a:p>
            <a:r>
              <a:rPr sz="850">
                <a:solidFill>
                  <a:srgbClr val="A0B8A8"/>
                </a:solidFill>
                <a:latin typeface="Geist"/>
              </a:rPr>
              <a:t>   User-entered crop name</a:t>
            </a:r>
          </a:p>
          <a:p>
            <a:endParaRPr sz="850">
              <a:solidFill>
                <a:srgbClr val="A0B8A8"/>
              </a:solidFill>
              <a:latin typeface="Geist"/>
            </a:endParaRPr>
          </a:p>
          <a:p>
            <a:r>
              <a:rPr sz="1050" b="1">
                <a:solidFill>
                  <a:srgbClr val="228BE6"/>
                </a:solidFill>
                <a:latin typeface="Syne"/>
              </a:rPr>
              <a:t>scannedAt</a:t>
            </a:r>
            <a:r>
              <a:rPr sz="950">
                <a:solidFill>
                  <a:srgbClr val="F09A18"/>
                </a:solidFill>
                <a:latin typeface="Geist"/>
              </a:rPr>
              <a:t>  : Date</a:t>
            </a:r>
          </a:p>
          <a:p>
            <a:r>
              <a:rPr sz="850">
                <a:solidFill>
                  <a:srgbClr val="A0B8A8"/>
                </a:solidFill>
                <a:latin typeface="Geist"/>
              </a:rPr>
              <a:t>   Timestamp of scan</a:t>
            </a:r>
          </a:p>
          <a:p>
            <a:endParaRPr sz="850">
              <a:solidFill>
                <a:srgbClr val="A0B8A8"/>
              </a:solidFill>
              <a:latin typeface="Geist"/>
            </a:endParaRPr>
          </a:p>
        </p:txBody>
      </p:sp>
      <p:sp>
        <p:nvSpPr>
          <p:cNvPr id="15" name="Rectangle 14"/>
          <p:cNvSpPr/>
          <p:nvPr/>
        </p:nvSpPr>
        <p:spPr>
          <a:xfrm>
            <a:off x="8211312" y="1444752"/>
            <a:ext cx="3730752" cy="4846320"/>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11312" y="1444752"/>
            <a:ext cx="3730752" cy="347472"/>
          </a:xfrm>
          <a:prstGeom prst="rect">
            <a:avLst/>
          </a:prstGeom>
          <a:solidFill>
            <a:srgbClr val="F09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02752" y="1481328"/>
            <a:ext cx="3547872" cy="347472"/>
          </a:xfrm>
          <a:prstGeom prst="rect">
            <a:avLst/>
          </a:prstGeom>
          <a:noFill/>
        </p:spPr>
        <p:txBody>
          <a:bodyPr wrap="square">
            <a:spAutoFit/>
          </a:bodyPr>
          <a:lstStyle/>
          <a:p>
            <a:pPr algn="l"/>
            <a:r>
              <a:rPr sz="1200" b="1" i="0">
                <a:solidFill>
                  <a:srgbClr val="FFFFFF"/>
                </a:solidFill>
                <a:latin typeface="Syne"/>
              </a:rPr>
              <a:t>💊  Treatments Collection</a:t>
            </a:r>
          </a:p>
        </p:txBody>
      </p:sp>
      <p:sp>
        <p:nvSpPr>
          <p:cNvPr id="18" name="TextBox 17"/>
          <p:cNvSpPr txBox="1"/>
          <p:nvPr/>
        </p:nvSpPr>
        <p:spPr>
          <a:xfrm>
            <a:off x="8321040" y="1883664"/>
            <a:ext cx="3511296" cy="4297680"/>
          </a:xfrm>
          <a:prstGeom prst="rect">
            <a:avLst/>
          </a:prstGeom>
          <a:noFill/>
        </p:spPr>
        <p:txBody>
          <a:bodyPr wrap="square">
            <a:spAutoFit/>
          </a:bodyPr>
          <a:lstStyle/>
          <a:p>
            <a:r>
              <a:rPr sz="1050" b="1">
                <a:solidFill>
                  <a:srgbClr val="F09A18"/>
                </a:solidFill>
                <a:latin typeface="Syne"/>
              </a:rPr>
              <a:t>diseaseName</a:t>
            </a:r>
            <a:r>
              <a:rPr sz="950">
                <a:solidFill>
                  <a:srgbClr val="F09A18"/>
                </a:solidFill>
                <a:latin typeface="Geist"/>
              </a:rPr>
              <a:t>  : String</a:t>
            </a:r>
          </a:p>
          <a:p>
            <a:r>
              <a:rPr sz="850">
                <a:solidFill>
                  <a:srgbClr val="A0B8A8"/>
                </a:solidFill>
                <a:latin typeface="Geist"/>
              </a:rPr>
              <a:t>   Primary Key — matches CNN label</a:t>
            </a:r>
          </a:p>
          <a:p>
            <a:endParaRPr sz="850">
              <a:solidFill>
                <a:srgbClr val="A0B8A8"/>
              </a:solidFill>
              <a:latin typeface="Geist"/>
            </a:endParaRPr>
          </a:p>
          <a:p>
            <a:r>
              <a:rPr sz="1050" b="1">
                <a:solidFill>
                  <a:srgbClr val="F09A18"/>
                </a:solidFill>
                <a:latin typeface="Syne"/>
              </a:rPr>
              <a:t>organicTreatment</a:t>
            </a:r>
            <a:r>
              <a:rPr sz="950">
                <a:solidFill>
                  <a:srgbClr val="F09A18"/>
                </a:solidFill>
                <a:latin typeface="Geist"/>
              </a:rPr>
              <a:t>  : String</a:t>
            </a:r>
          </a:p>
          <a:p>
            <a:r>
              <a:rPr sz="850">
                <a:solidFill>
                  <a:srgbClr val="A0B8A8"/>
                </a:solidFill>
                <a:latin typeface="Geist"/>
              </a:rPr>
              <a:t>   Neem oil, copper sulphate, etc.</a:t>
            </a:r>
          </a:p>
          <a:p>
            <a:endParaRPr sz="850">
              <a:solidFill>
                <a:srgbClr val="A0B8A8"/>
              </a:solidFill>
              <a:latin typeface="Geist"/>
            </a:endParaRPr>
          </a:p>
          <a:p>
            <a:r>
              <a:rPr sz="1050" b="1">
                <a:solidFill>
                  <a:srgbClr val="F09A18"/>
                </a:solidFill>
                <a:latin typeface="Syne"/>
              </a:rPr>
              <a:t>chemicalTreatment</a:t>
            </a:r>
            <a:r>
              <a:rPr sz="950">
                <a:solidFill>
                  <a:srgbClr val="F09A18"/>
                </a:solidFill>
                <a:latin typeface="Geist"/>
              </a:rPr>
              <a:t>  : String</a:t>
            </a:r>
          </a:p>
          <a:p>
            <a:r>
              <a:rPr sz="850">
                <a:solidFill>
                  <a:srgbClr val="A0B8A8"/>
                </a:solidFill>
                <a:latin typeface="Geist"/>
              </a:rPr>
              <a:t>   Fungicide / bactericide protocol</a:t>
            </a:r>
          </a:p>
          <a:p>
            <a:endParaRPr sz="850">
              <a:solidFill>
                <a:srgbClr val="A0B8A8"/>
              </a:solidFill>
              <a:latin typeface="Geist"/>
            </a:endParaRPr>
          </a:p>
          <a:p>
            <a:r>
              <a:rPr sz="1050" b="1">
                <a:solidFill>
                  <a:srgbClr val="F09A18"/>
                </a:solidFill>
                <a:latin typeface="Syne"/>
              </a:rPr>
              <a:t>preventionSteps</a:t>
            </a:r>
            <a:r>
              <a:rPr sz="950">
                <a:solidFill>
                  <a:srgbClr val="F09A18"/>
                </a:solidFill>
                <a:latin typeface="Geist"/>
              </a:rPr>
              <a:t>  : Array</a:t>
            </a:r>
          </a:p>
          <a:p>
            <a:r>
              <a:rPr sz="850">
                <a:solidFill>
                  <a:srgbClr val="A0B8A8"/>
                </a:solidFill>
                <a:latin typeface="Geist"/>
              </a:rPr>
              <a:t>   Ordered list of prevention tips</a:t>
            </a:r>
          </a:p>
          <a:p>
            <a:endParaRPr sz="850">
              <a:solidFill>
                <a:srgbClr val="A0B8A8"/>
              </a:solidFill>
              <a:latin typeface="Geist"/>
            </a:endParaRPr>
          </a:p>
          <a:p>
            <a:r>
              <a:rPr sz="1050" b="1">
                <a:solidFill>
                  <a:srgbClr val="F09A18"/>
                </a:solidFill>
                <a:latin typeface="Syne"/>
              </a:rPr>
              <a:t>severity</a:t>
            </a:r>
            <a:r>
              <a:rPr sz="950">
                <a:solidFill>
                  <a:srgbClr val="F09A18"/>
                </a:solidFill>
                <a:latin typeface="Geist"/>
              </a:rPr>
              <a:t>  : Enum</a:t>
            </a:r>
          </a:p>
          <a:p>
            <a:r>
              <a:rPr sz="850">
                <a:solidFill>
                  <a:srgbClr val="A0B8A8"/>
                </a:solidFill>
                <a:latin typeface="Geist"/>
              </a:rPr>
              <a:t>   'low' | 'medium' | 'high'</a:t>
            </a:r>
          </a:p>
          <a:p>
            <a:endParaRPr sz="850">
              <a:solidFill>
                <a:srgbClr val="A0B8A8"/>
              </a:solidFill>
              <a:latin typeface="Gei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93776" y="493776"/>
            <a:ext cx="8430768" cy="658368"/>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530352"/>
            <a:ext cx="8046720" cy="612648"/>
          </a:xfrm>
          <a:prstGeom prst="rect">
            <a:avLst/>
          </a:prstGeom>
          <a:noFill/>
        </p:spPr>
        <p:txBody>
          <a:bodyPr wrap="square">
            <a:spAutoFit/>
          </a:bodyPr>
          <a:lstStyle/>
          <a:p>
            <a:pPr algn="l"/>
            <a:r>
              <a:rPr sz="2000" b="1" i="0">
                <a:solidFill>
                  <a:srgbClr val="FFFFFF"/>
                </a:solidFill>
                <a:latin typeface="Syne"/>
              </a:rPr>
              <a:t>Detailed Module Description</a:t>
            </a:r>
          </a:p>
        </p:txBody>
      </p:sp>
      <p:sp>
        <p:nvSpPr>
          <p:cNvPr id="5" name="Rectangle 4"/>
          <p:cNvSpPr/>
          <p:nvPr/>
        </p:nvSpPr>
        <p:spPr>
          <a:xfrm>
            <a:off x="493776" y="1389888"/>
            <a:ext cx="3986784" cy="2331720"/>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93776" y="1389888"/>
            <a:ext cx="3986784" cy="347472"/>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85216" y="1426464"/>
            <a:ext cx="3803904" cy="347472"/>
          </a:xfrm>
          <a:prstGeom prst="rect">
            <a:avLst/>
          </a:prstGeom>
          <a:noFill/>
        </p:spPr>
        <p:txBody>
          <a:bodyPr wrap="square">
            <a:spAutoFit/>
          </a:bodyPr>
          <a:lstStyle/>
          <a:p>
            <a:pPr algn="l"/>
            <a:r>
              <a:rPr sz="1200" b="1" i="0">
                <a:solidFill>
                  <a:srgbClr val="FFFFFF"/>
                </a:solidFill>
                <a:latin typeface="Syne"/>
              </a:rPr>
              <a:t>🔐  01. User Auth Module</a:t>
            </a:r>
          </a:p>
        </p:txBody>
      </p:sp>
      <p:sp>
        <p:nvSpPr>
          <p:cNvPr id="8" name="TextBox 7"/>
          <p:cNvSpPr txBox="1"/>
          <p:nvPr/>
        </p:nvSpPr>
        <p:spPr>
          <a:xfrm>
            <a:off x="603504" y="1810512"/>
            <a:ext cx="3767328" cy="256032"/>
          </a:xfrm>
          <a:prstGeom prst="rect">
            <a:avLst/>
          </a:prstGeom>
          <a:noFill/>
        </p:spPr>
        <p:txBody>
          <a:bodyPr wrap="square">
            <a:spAutoFit/>
          </a:bodyPr>
          <a:lstStyle/>
          <a:p>
            <a:pPr algn="l"/>
            <a:r>
              <a:rPr sz="850" b="0" i="1">
                <a:solidFill>
                  <a:srgbClr val="547808"/>
                </a:solidFill>
                <a:latin typeface="Geist"/>
              </a:rPr>
              <a:t>Node.js · Express · JWT · Bcrypt</a:t>
            </a:r>
          </a:p>
        </p:txBody>
      </p:sp>
      <p:sp>
        <p:nvSpPr>
          <p:cNvPr id="9" name="TextBox 8"/>
          <p:cNvSpPr txBox="1"/>
          <p:nvPr/>
        </p:nvSpPr>
        <p:spPr>
          <a:xfrm>
            <a:off x="603504" y="2103120"/>
            <a:ext cx="3767328" cy="1417320"/>
          </a:xfrm>
          <a:prstGeom prst="rect">
            <a:avLst/>
          </a:prstGeom>
          <a:noFill/>
        </p:spPr>
        <p:txBody>
          <a:bodyPr wrap="square">
            <a:spAutoFit/>
          </a:bodyPr>
          <a:lstStyle/>
          <a:p>
            <a:pPr algn="l"/>
            <a:r>
              <a:rPr sz="950" b="0" i="0" dirty="0">
                <a:solidFill>
                  <a:srgbClr val="E8F0E9"/>
                </a:solidFill>
                <a:latin typeface="Geist"/>
              </a:rPr>
              <a:t>Handles end-to-end identity: registration form validation, </a:t>
            </a:r>
            <a:r>
              <a:rPr sz="950" b="0" i="0" dirty="0" err="1">
                <a:solidFill>
                  <a:srgbClr val="E8F0E9"/>
                </a:solidFill>
                <a:latin typeface="Geist"/>
              </a:rPr>
              <a:t>Bcrypt</a:t>
            </a:r>
            <a:r>
              <a:rPr sz="950" b="0" i="0" dirty="0">
                <a:solidFill>
                  <a:srgbClr val="E8F0E9"/>
                </a:solidFill>
                <a:latin typeface="Geist"/>
              </a:rPr>
              <a:t> hashing before MongoDB write, JWT issuance on login, role middleware protecting /farmer, /officer, /admin routes, and automatic token refresh on every API request.</a:t>
            </a:r>
          </a:p>
        </p:txBody>
      </p:sp>
      <p:sp>
        <p:nvSpPr>
          <p:cNvPr id="10" name="Rectangle 9"/>
          <p:cNvSpPr/>
          <p:nvPr/>
        </p:nvSpPr>
        <p:spPr>
          <a:xfrm>
            <a:off x="4681728" y="1389888"/>
            <a:ext cx="3986784" cy="2331720"/>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681728" y="1389888"/>
            <a:ext cx="3986784" cy="347472"/>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73168" y="1426464"/>
            <a:ext cx="3803904" cy="347472"/>
          </a:xfrm>
          <a:prstGeom prst="rect">
            <a:avLst/>
          </a:prstGeom>
          <a:noFill/>
        </p:spPr>
        <p:txBody>
          <a:bodyPr wrap="square">
            <a:spAutoFit/>
          </a:bodyPr>
          <a:lstStyle/>
          <a:p>
            <a:pPr algn="l"/>
            <a:r>
              <a:rPr sz="1200" b="1" i="0">
                <a:solidFill>
                  <a:srgbClr val="FFFFFF"/>
                </a:solidFill>
                <a:latin typeface="Syne"/>
              </a:rPr>
              <a:t>🤖  02. AI Diagnostic Module</a:t>
            </a:r>
          </a:p>
        </p:txBody>
      </p:sp>
      <p:sp>
        <p:nvSpPr>
          <p:cNvPr id="13" name="TextBox 12"/>
          <p:cNvSpPr txBox="1"/>
          <p:nvPr/>
        </p:nvSpPr>
        <p:spPr>
          <a:xfrm>
            <a:off x="4791456" y="1810512"/>
            <a:ext cx="3767328" cy="256032"/>
          </a:xfrm>
          <a:prstGeom prst="rect">
            <a:avLst/>
          </a:prstGeom>
          <a:noFill/>
        </p:spPr>
        <p:txBody>
          <a:bodyPr wrap="square">
            <a:spAutoFit/>
          </a:bodyPr>
          <a:lstStyle/>
          <a:p>
            <a:pPr algn="l"/>
            <a:r>
              <a:rPr sz="850" b="0" i="1">
                <a:solidFill>
                  <a:srgbClr val="228BE6"/>
                </a:solidFill>
                <a:latin typeface="Geist"/>
              </a:rPr>
              <a:t>Python · Flask · PyTorch · ResNet-50</a:t>
            </a:r>
          </a:p>
        </p:txBody>
      </p:sp>
      <p:sp>
        <p:nvSpPr>
          <p:cNvPr id="14" name="TextBox 13"/>
          <p:cNvSpPr txBox="1"/>
          <p:nvPr/>
        </p:nvSpPr>
        <p:spPr>
          <a:xfrm>
            <a:off x="4791456" y="2103120"/>
            <a:ext cx="3767328" cy="1417320"/>
          </a:xfrm>
          <a:prstGeom prst="rect">
            <a:avLst/>
          </a:prstGeom>
          <a:noFill/>
        </p:spPr>
        <p:txBody>
          <a:bodyPr wrap="square">
            <a:spAutoFit/>
          </a:bodyPr>
          <a:lstStyle/>
          <a:p>
            <a:pPr algn="l"/>
            <a:r>
              <a:rPr sz="950" b="0" i="0">
                <a:solidFill>
                  <a:srgbClr val="E8F0E9"/>
                </a:solidFill>
                <a:latin typeface="Geist"/>
              </a:rPr>
              <a:t>Isolated microservice on port 5000. Loads pre-trained plant_disease_model.pth at startup. Accepts multipart image POST, resizes to 224×224, normalises with ImageNet mean/std, runs forward pass, and returns top-1 disease label + confidence.</a:t>
            </a:r>
          </a:p>
        </p:txBody>
      </p:sp>
      <p:sp>
        <p:nvSpPr>
          <p:cNvPr id="15" name="Rectangle 14"/>
          <p:cNvSpPr/>
          <p:nvPr/>
        </p:nvSpPr>
        <p:spPr>
          <a:xfrm>
            <a:off x="493776" y="3886200"/>
            <a:ext cx="3986784" cy="2331720"/>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93776" y="3886200"/>
            <a:ext cx="3986784" cy="347472"/>
          </a:xfrm>
          <a:prstGeom prst="rect">
            <a:avLst/>
          </a:prstGeom>
          <a:solidFill>
            <a:srgbClr val="F09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5216" y="3922776"/>
            <a:ext cx="3803904" cy="347472"/>
          </a:xfrm>
          <a:prstGeom prst="rect">
            <a:avLst/>
          </a:prstGeom>
          <a:noFill/>
        </p:spPr>
        <p:txBody>
          <a:bodyPr wrap="square">
            <a:spAutoFit/>
          </a:bodyPr>
          <a:lstStyle/>
          <a:p>
            <a:pPr algn="l"/>
            <a:r>
              <a:rPr sz="1200" b="1" i="0">
                <a:solidFill>
                  <a:srgbClr val="FFFFFF"/>
                </a:solidFill>
                <a:latin typeface="Syne"/>
              </a:rPr>
              <a:t>💊  03. Treatment Mapping Module</a:t>
            </a:r>
          </a:p>
        </p:txBody>
      </p:sp>
      <p:sp>
        <p:nvSpPr>
          <p:cNvPr id="18" name="TextBox 17"/>
          <p:cNvSpPr txBox="1"/>
          <p:nvPr/>
        </p:nvSpPr>
        <p:spPr>
          <a:xfrm>
            <a:off x="603504" y="4306824"/>
            <a:ext cx="3767328" cy="256032"/>
          </a:xfrm>
          <a:prstGeom prst="rect">
            <a:avLst/>
          </a:prstGeom>
          <a:noFill/>
        </p:spPr>
        <p:txBody>
          <a:bodyPr wrap="square">
            <a:spAutoFit/>
          </a:bodyPr>
          <a:lstStyle/>
          <a:p>
            <a:pPr algn="l"/>
            <a:r>
              <a:rPr sz="850" b="0" i="1">
                <a:solidFill>
                  <a:srgbClr val="F09A18"/>
                </a:solidFill>
                <a:latin typeface="Geist"/>
              </a:rPr>
              <a:t>Node.js · MongoDB · Mongoose</a:t>
            </a:r>
          </a:p>
        </p:txBody>
      </p:sp>
      <p:sp>
        <p:nvSpPr>
          <p:cNvPr id="19" name="TextBox 18"/>
          <p:cNvSpPr txBox="1"/>
          <p:nvPr/>
        </p:nvSpPr>
        <p:spPr>
          <a:xfrm>
            <a:off x="603504" y="4599432"/>
            <a:ext cx="3767328" cy="1417320"/>
          </a:xfrm>
          <a:prstGeom prst="rect">
            <a:avLst/>
          </a:prstGeom>
          <a:noFill/>
        </p:spPr>
        <p:txBody>
          <a:bodyPr wrap="square">
            <a:spAutoFit/>
          </a:bodyPr>
          <a:lstStyle/>
          <a:p>
            <a:pPr algn="l"/>
            <a:r>
              <a:rPr sz="950" b="0" i="0">
                <a:solidFill>
                  <a:srgbClr val="E8F0E9"/>
                </a:solidFill>
                <a:latin typeface="Geist"/>
              </a:rPr>
              <a:t>Business logic layer correlating CNN output disease string with the Treatments collection. Returns structured organic remedy, chemical protocol, and ordered prevention steps. Falls back to in-memory store during development when MongoDB is unavailable.</a:t>
            </a:r>
          </a:p>
        </p:txBody>
      </p:sp>
      <p:sp>
        <p:nvSpPr>
          <p:cNvPr id="20" name="Rectangle 19"/>
          <p:cNvSpPr/>
          <p:nvPr/>
        </p:nvSpPr>
        <p:spPr>
          <a:xfrm>
            <a:off x="4681728" y="3886200"/>
            <a:ext cx="3986784" cy="2331720"/>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681728" y="3886200"/>
            <a:ext cx="3986784" cy="347472"/>
          </a:xfrm>
          <a:prstGeom prst="rect">
            <a:avLst/>
          </a:prstGeom>
          <a:solidFill>
            <a:srgbClr val="8F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73168" y="3922776"/>
            <a:ext cx="3803904" cy="347472"/>
          </a:xfrm>
          <a:prstGeom prst="rect">
            <a:avLst/>
          </a:prstGeom>
          <a:noFill/>
        </p:spPr>
        <p:txBody>
          <a:bodyPr wrap="square">
            <a:spAutoFit/>
          </a:bodyPr>
          <a:lstStyle/>
          <a:p>
            <a:pPr algn="l"/>
            <a:r>
              <a:rPr sz="1200" b="1" i="0">
                <a:solidFill>
                  <a:srgbClr val="FFFFFF"/>
                </a:solidFill>
                <a:latin typeface="Syne"/>
              </a:rPr>
              <a:t>📊  04. History Dashboard Module</a:t>
            </a:r>
          </a:p>
        </p:txBody>
      </p:sp>
      <p:sp>
        <p:nvSpPr>
          <p:cNvPr id="23" name="TextBox 22"/>
          <p:cNvSpPr txBox="1"/>
          <p:nvPr/>
        </p:nvSpPr>
        <p:spPr>
          <a:xfrm>
            <a:off x="4791456" y="4306824"/>
            <a:ext cx="3767328" cy="256032"/>
          </a:xfrm>
          <a:prstGeom prst="rect">
            <a:avLst/>
          </a:prstGeom>
          <a:noFill/>
        </p:spPr>
        <p:txBody>
          <a:bodyPr wrap="square">
            <a:spAutoFit/>
          </a:bodyPr>
          <a:lstStyle/>
          <a:p>
            <a:pPr algn="l"/>
            <a:r>
              <a:rPr sz="850" b="0" i="1">
                <a:solidFill>
                  <a:srgbClr val="8F3BC8"/>
                </a:solidFill>
                <a:latin typeface="Geist"/>
              </a:rPr>
              <a:t>React.js · Axios · Chart.js</a:t>
            </a:r>
          </a:p>
        </p:txBody>
      </p:sp>
      <p:sp>
        <p:nvSpPr>
          <p:cNvPr id="24" name="TextBox 23"/>
          <p:cNvSpPr txBox="1"/>
          <p:nvPr/>
        </p:nvSpPr>
        <p:spPr>
          <a:xfrm>
            <a:off x="4791456" y="4599432"/>
            <a:ext cx="3767328" cy="1417320"/>
          </a:xfrm>
          <a:prstGeom prst="rect">
            <a:avLst/>
          </a:prstGeom>
          <a:noFill/>
        </p:spPr>
        <p:txBody>
          <a:bodyPr wrap="square">
            <a:spAutoFit/>
          </a:bodyPr>
          <a:lstStyle/>
          <a:p>
            <a:pPr algn="l"/>
            <a:r>
              <a:rPr sz="950" b="0" i="0">
                <a:solidFill>
                  <a:srgbClr val="E8F0E9"/>
                </a:solidFill>
                <a:latin typeface="Geist"/>
              </a:rPr>
              <a:t>React component aggregating all historical scans for the authenticated farmer. Renders a timeline chart of disease frequency, sortable/filterable prediction table, and export to CSV. Real-time update via polling /api/history every 30 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48056" y="219456"/>
            <a:ext cx="8261047" cy="475488"/>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7884731" cy="400110"/>
          </a:xfrm>
          <a:prstGeom prst="rect">
            <a:avLst/>
          </a:prstGeom>
          <a:noFill/>
        </p:spPr>
        <p:txBody>
          <a:bodyPr wrap="square">
            <a:spAutoFit/>
          </a:bodyPr>
          <a:lstStyle/>
          <a:p>
            <a:pPr algn="l"/>
            <a:r>
              <a:rPr sz="2000" b="1" i="0" dirty="0">
                <a:solidFill>
                  <a:srgbClr val="FFFFFF"/>
                </a:solidFill>
                <a:latin typeface="Syne"/>
              </a:rPr>
              <a:t>Technology Stack Breakdown</a:t>
            </a:r>
          </a:p>
        </p:txBody>
      </p:sp>
      <p:sp>
        <p:nvSpPr>
          <p:cNvPr id="5" name="Rectangle 4"/>
          <p:cNvSpPr/>
          <p:nvPr/>
        </p:nvSpPr>
        <p:spPr>
          <a:xfrm>
            <a:off x="448056" y="1115568"/>
            <a:ext cx="1523187" cy="353050"/>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25296"/>
            <a:ext cx="1415668" cy="253916"/>
          </a:xfrm>
          <a:prstGeom prst="rect">
            <a:avLst/>
          </a:prstGeom>
          <a:noFill/>
        </p:spPr>
        <p:txBody>
          <a:bodyPr wrap="square">
            <a:spAutoFit/>
          </a:bodyPr>
          <a:lstStyle/>
          <a:p>
            <a:pPr algn="ctr"/>
            <a:r>
              <a:rPr sz="1050" b="1" i="0">
                <a:solidFill>
                  <a:srgbClr val="FFFFFF"/>
                </a:solidFill>
                <a:latin typeface="Syne"/>
              </a:rPr>
              <a:t>🖥️  Frontend UI</a:t>
            </a:r>
          </a:p>
        </p:txBody>
      </p:sp>
      <p:sp>
        <p:nvSpPr>
          <p:cNvPr id="7" name="Rectangle 6"/>
          <p:cNvSpPr/>
          <p:nvPr/>
        </p:nvSpPr>
        <p:spPr>
          <a:xfrm>
            <a:off x="2093976" y="1115568"/>
            <a:ext cx="6379464" cy="321380"/>
          </a:xfrm>
          <a:prstGeom prst="rect">
            <a:avLst/>
          </a:prstGeom>
          <a:solidFill>
            <a:srgbClr val="13273A"/>
          </a:solidFill>
          <a:ln w="12700">
            <a:solidFill>
              <a:srgbClr val="228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21992" y="1207008"/>
            <a:ext cx="6128586" cy="261610"/>
          </a:xfrm>
          <a:prstGeom prst="rect">
            <a:avLst/>
          </a:prstGeom>
          <a:noFill/>
        </p:spPr>
        <p:txBody>
          <a:bodyPr wrap="square">
            <a:spAutoFit/>
          </a:bodyPr>
          <a:lstStyle/>
          <a:p>
            <a:pPr algn="l"/>
            <a:r>
              <a:rPr sz="1100" b="1" i="0">
                <a:solidFill>
                  <a:srgbClr val="228BE6"/>
                </a:solidFill>
                <a:latin typeface="Syne"/>
              </a:rPr>
              <a:t>React.js 18  ·  Vite 5  ·  Tailwind CSS 3  ·  Axios  ·  React Router v6</a:t>
            </a:r>
          </a:p>
        </p:txBody>
      </p:sp>
      <p:sp>
        <p:nvSpPr>
          <p:cNvPr id="9" name="TextBox 8"/>
          <p:cNvSpPr txBox="1"/>
          <p:nvPr/>
        </p:nvSpPr>
        <p:spPr>
          <a:xfrm>
            <a:off x="2221992" y="1591056"/>
            <a:ext cx="6128586" cy="230832"/>
          </a:xfrm>
          <a:prstGeom prst="rect">
            <a:avLst/>
          </a:prstGeom>
          <a:noFill/>
        </p:spPr>
        <p:txBody>
          <a:bodyPr wrap="square">
            <a:spAutoFit/>
          </a:bodyPr>
          <a:lstStyle/>
          <a:p>
            <a:pPr algn="l"/>
            <a:r>
              <a:rPr sz="900" b="0" i="0">
                <a:solidFill>
                  <a:srgbClr val="E8F0E9"/>
                </a:solidFill>
                <a:latin typeface="Geist"/>
              </a:rPr>
              <a:t>SPA with role-based routing, responsive layouts, drag-and-drop scanner, WebRTC camera.</a:t>
            </a:r>
          </a:p>
        </p:txBody>
      </p:sp>
      <p:sp>
        <p:nvSpPr>
          <p:cNvPr id="10" name="Rectangle 9"/>
          <p:cNvSpPr/>
          <p:nvPr/>
        </p:nvSpPr>
        <p:spPr>
          <a:xfrm>
            <a:off x="407987" y="1956816"/>
            <a:ext cx="1510601" cy="409956"/>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2851" y="2066544"/>
            <a:ext cx="1415668" cy="253916"/>
          </a:xfrm>
          <a:prstGeom prst="rect">
            <a:avLst/>
          </a:prstGeom>
          <a:noFill/>
        </p:spPr>
        <p:txBody>
          <a:bodyPr wrap="square">
            <a:spAutoFit/>
          </a:bodyPr>
          <a:lstStyle/>
          <a:p>
            <a:pPr algn="ctr"/>
            <a:r>
              <a:rPr sz="1050" b="1" i="0">
                <a:solidFill>
                  <a:srgbClr val="FFFFFF"/>
                </a:solidFill>
                <a:latin typeface="Syne"/>
              </a:rPr>
              <a:t>⚙️  Backend API</a:t>
            </a:r>
          </a:p>
        </p:txBody>
      </p:sp>
      <p:sp>
        <p:nvSpPr>
          <p:cNvPr id="12" name="Rectangle 11"/>
          <p:cNvSpPr/>
          <p:nvPr/>
        </p:nvSpPr>
        <p:spPr>
          <a:xfrm>
            <a:off x="2093975" y="1956816"/>
            <a:ext cx="6339395" cy="409956"/>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181923" y="2048256"/>
            <a:ext cx="6128586" cy="261610"/>
          </a:xfrm>
          <a:prstGeom prst="rect">
            <a:avLst/>
          </a:prstGeom>
          <a:noFill/>
        </p:spPr>
        <p:txBody>
          <a:bodyPr wrap="square">
            <a:spAutoFit/>
          </a:bodyPr>
          <a:lstStyle/>
          <a:p>
            <a:pPr algn="l"/>
            <a:r>
              <a:rPr sz="1100" b="1" i="0">
                <a:solidFill>
                  <a:srgbClr val="547808"/>
                </a:solidFill>
                <a:latin typeface="Syne"/>
              </a:rPr>
              <a:t>Node.js 20  ·  Express.js 4  ·  JWT (jsonwebtoken)  ·  Multer  ·  Bcrypt.js</a:t>
            </a:r>
          </a:p>
        </p:txBody>
      </p:sp>
      <p:sp>
        <p:nvSpPr>
          <p:cNvPr id="14" name="TextBox 13"/>
          <p:cNvSpPr txBox="1"/>
          <p:nvPr/>
        </p:nvSpPr>
        <p:spPr>
          <a:xfrm>
            <a:off x="2181923" y="2432304"/>
            <a:ext cx="6128586" cy="230832"/>
          </a:xfrm>
          <a:prstGeom prst="rect">
            <a:avLst/>
          </a:prstGeom>
          <a:noFill/>
        </p:spPr>
        <p:txBody>
          <a:bodyPr wrap="square">
            <a:spAutoFit/>
          </a:bodyPr>
          <a:lstStyle/>
          <a:p>
            <a:pPr algn="l"/>
            <a:r>
              <a:rPr sz="900" b="0" i="0">
                <a:solidFill>
                  <a:srgbClr val="E8F0E9"/>
                </a:solidFill>
                <a:latin typeface="Geist"/>
              </a:rPr>
              <a:t>RESTful API gateway: auth, predict-proxy, history, operations, weather, recommendation routes.</a:t>
            </a:r>
          </a:p>
        </p:txBody>
      </p:sp>
      <p:sp>
        <p:nvSpPr>
          <p:cNvPr id="15" name="Rectangle 14"/>
          <p:cNvSpPr/>
          <p:nvPr/>
        </p:nvSpPr>
        <p:spPr>
          <a:xfrm>
            <a:off x="407987" y="3090672"/>
            <a:ext cx="1523187" cy="525226"/>
          </a:xfrm>
          <a:prstGeom prst="rect">
            <a:avLst/>
          </a:prstGeom>
          <a:solidFill>
            <a:srgbClr val="F09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2851" y="3200400"/>
            <a:ext cx="1415668" cy="415498"/>
          </a:xfrm>
          <a:prstGeom prst="rect">
            <a:avLst/>
          </a:prstGeom>
          <a:noFill/>
        </p:spPr>
        <p:txBody>
          <a:bodyPr wrap="square">
            <a:spAutoFit/>
          </a:bodyPr>
          <a:lstStyle/>
          <a:p>
            <a:pPr algn="ctr"/>
            <a:r>
              <a:rPr sz="1050" b="1" i="0">
                <a:solidFill>
                  <a:srgbClr val="FFFFFF"/>
                </a:solidFill>
                <a:latin typeface="Syne"/>
              </a:rPr>
              <a:t>🤖  AI Microservice</a:t>
            </a:r>
          </a:p>
        </p:txBody>
      </p:sp>
      <p:sp>
        <p:nvSpPr>
          <p:cNvPr id="17" name="Rectangle 16"/>
          <p:cNvSpPr/>
          <p:nvPr/>
        </p:nvSpPr>
        <p:spPr>
          <a:xfrm>
            <a:off x="2053907" y="3090672"/>
            <a:ext cx="6379464" cy="409956"/>
          </a:xfrm>
          <a:prstGeom prst="rect">
            <a:avLst/>
          </a:prstGeom>
          <a:solidFill>
            <a:srgbClr val="13273A"/>
          </a:solidFill>
          <a:ln w="12700">
            <a:solidFill>
              <a:srgbClr val="F09A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81923" y="3182112"/>
            <a:ext cx="6128586" cy="261610"/>
          </a:xfrm>
          <a:prstGeom prst="rect">
            <a:avLst/>
          </a:prstGeom>
          <a:noFill/>
        </p:spPr>
        <p:txBody>
          <a:bodyPr wrap="square">
            <a:spAutoFit/>
          </a:bodyPr>
          <a:lstStyle/>
          <a:p>
            <a:pPr algn="l"/>
            <a:r>
              <a:rPr sz="1100" b="1" i="0">
                <a:solidFill>
                  <a:srgbClr val="F09A18"/>
                </a:solidFill>
                <a:latin typeface="Syne"/>
              </a:rPr>
              <a:t>Python 3.10  ·  Flask 3  ·  PyTorch 2  ·  ResNet-50  ·  Pillow / OpenCV</a:t>
            </a:r>
          </a:p>
        </p:txBody>
      </p:sp>
      <p:sp>
        <p:nvSpPr>
          <p:cNvPr id="19" name="TextBox 18"/>
          <p:cNvSpPr txBox="1"/>
          <p:nvPr/>
        </p:nvSpPr>
        <p:spPr>
          <a:xfrm>
            <a:off x="2181923" y="3566160"/>
            <a:ext cx="6128586" cy="230832"/>
          </a:xfrm>
          <a:prstGeom prst="rect">
            <a:avLst/>
          </a:prstGeom>
          <a:noFill/>
        </p:spPr>
        <p:txBody>
          <a:bodyPr wrap="square">
            <a:spAutoFit/>
          </a:bodyPr>
          <a:lstStyle/>
          <a:p>
            <a:pPr algn="l"/>
            <a:r>
              <a:rPr sz="900" b="0" i="0">
                <a:solidFill>
                  <a:srgbClr val="E8F0E9"/>
                </a:solidFill>
                <a:latin typeface="Geist"/>
              </a:rPr>
              <a:t>Isolated on port 5000; loads plant_disease_model.pth; returns JSON disease + confidence.</a:t>
            </a:r>
          </a:p>
        </p:txBody>
      </p:sp>
      <p:sp>
        <p:nvSpPr>
          <p:cNvPr id="20" name="Rectangle 19"/>
          <p:cNvSpPr/>
          <p:nvPr/>
        </p:nvSpPr>
        <p:spPr>
          <a:xfrm>
            <a:off x="407987" y="4224527"/>
            <a:ext cx="1523187" cy="522327"/>
          </a:xfrm>
          <a:prstGeom prst="rect">
            <a:avLst/>
          </a:prstGeom>
          <a:solidFill>
            <a:srgbClr val="8F3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2851" y="4334256"/>
            <a:ext cx="1415668" cy="415498"/>
          </a:xfrm>
          <a:prstGeom prst="rect">
            <a:avLst/>
          </a:prstGeom>
          <a:noFill/>
        </p:spPr>
        <p:txBody>
          <a:bodyPr wrap="square">
            <a:spAutoFit/>
          </a:bodyPr>
          <a:lstStyle/>
          <a:p>
            <a:pPr algn="ctr"/>
            <a:r>
              <a:rPr sz="1050" b="1" i="0">
                <a:solidFill>
                  <a:srgbClr val="FFFFFF"/>
                </a:solidFill>
                <a:latin typeface="Syne"/>
              </a:rPr>
              <a:t>🗄️  Database &amp; Storage</a:t>
            </a:r>
          </a:p>
        </p:txBody>
      </p:sp>
      <p:sp>
        <p:nvSpPr>
          <p:cNvPr id="22" name="Rectangle 21"/>
          <p:cNvSpPr/>
          <p:nvPr/>
        </p:nvSpPr>
        <p:spPr>
          <a:xfrm>
            <a:off x="2053907" y="4224528"/>
            <a:ext cx="6379464" cy="475488"/>
          </a:xfrm>
          <a:prstGeom prst="rect">
            <a:avLst/>
          </a:prstGeom>
          <a:solidFill>
            <a:srgbClr val="13273A"/>
          </a:solidFill>
          <a:ln w="12700">
            <a:solidFill>
              <a:srgbClr val="8F3B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181923" y="4315968"/>
            <a:ext cx="6128586" cy="430887"/>
          </a:xfrm>
          <a:prstGeom prst="rect">
            <a:avLst/>
          </a:prstGeom>
          <a:noFill/>
        </p:spPr>
        <p:txBody>
          <a:bodyPr wrap="square">
            <a:spAutoFit/>
          </a:bodyPr>
          <a:lstStyle/>
          <a:p>
            <a:pPr algn="l"/>
            <a:r>
              <a:rPr sz="1100" b="1" i="0">
                <a:solidFill>
                  <a:srgbClr val="8F3BC8"/>
                </a:solidFill>
                <a:latin typeface="Syne"/>
              </a:rPr>
              <a:t>MongoDB Atlas / Local  ·  Mongoose ODM 8  ·  In-Memory Dev Store  ·  GridFS (images)</a:t>
            </a:r>
          </a:p>
        </p:txBody>
      </p:sp>
      <p:sp>
        <p:nvSpPr>
          <p:cNvPr id="24" name="TextBox 23"/>
          <p:cNvSpPr txBox="1"/>
          <p:nvPr/>
        </p:nvSpPr>
        <p:spPr>
          <a:xfrm>
            <a:off x="2181923" y="4700016"/>
            <a:ext cx="6128586" cy="230832"/>
          </a:xfrm>
          <a:prstGeom prst="rect">
            <a:avLst/>
          </a:prstGeom>
          <a:noFill/>
        </p:spPr>
        <p:txBody>
          <a:bodyPr wrap="square">
            <a:spAutoFit/>
          </a:bodyPr>
          <a:lstStyle/>
          <a:p>
            <a:pPr algn="l"/>
            <a:r>
              <a:rPr sz="900" b="0" i="0">
                <a:solidFill>
                  <a:srgbClr val="E8F0E9"/>
                </a:solidFill>
                <a:latin typeface="Geist"/>
              </a:rPr>
              <a:t>Document store with Users, Predictions (1-many), Treatments collections.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93776" y="493776"/>
            <a:ext cx="8430768" cy="658368"/>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530352"/>
            <a:ext cx="8110728" cy="400110"/>
          </a:xfrm>
          <a:prstGeom prst="rect">
            <a:avLst/>
          </a:prstGeom>
          <a:noFill/>
        </p:spPr>
        <p:txBody>
          <a:bodyPr wrap="square">
            <a:spAutoFit/>
          </a:bodyPr>
          <a:lstStyle/>
          <a:p>
            <a:pPr algn="l"/>
            <a:r>
              <a:rPr sz="2000" b="1" i="0" dirty="0">
                <a:solidFill>
                  <a:srgbClr val="FFFFFF"/>
                </a:solidFill>
                <a:latin typeface="Syne"/>
              </a:rPr>
              <a:t>UI Design &amp; Wireframes</a:t>
            </a:r>
          </a:p>
        </p:txBody>
      </p:sp>
      <p:sp>
        <p:nvSpPr>
          <p:cNvPr id="5" name="Rectangle 4"/>
          <p:cNvSpPr/>
          <p:nvPr/>
        </p:nvSpPr>
        <p:spPr>
          <a:xfrm>
            <a:off x="384048" y="1389888"/>
            <a:ext cx="3730752" cy="3111566"/>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84048" y="1389888"/>
            <a:ext cx="3730752" cy="219776"/>
          </a:xfrm>
          <a:prstGeom prst="rect">
            <a:avLst/>
          </a:prstGeom>
          <a:solidFill>
            <a:srgbClr val="547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5488" y="1426464"/>
            <a:ext cx="3547872" cy="347472"/>
          </a:xfrm>
          <a:prstGeom prst="rect">
            <a:avLst/>
          </a:prstGeom>
          <a:noFill/>
        </p:spPr>
        <p:txBody>
          <a:bodyPr wrap="square">
            <a:spAutoFit/>
          </a:bodyPr>
          <a:lstStyle/>
          <a:p>
            <a:pPr algn="l"/>
            <a:r>
              <a:rPr sz="1200" b="1" i="0">
                <a:solidFill>
                  <a:srgbClr val="FFFFFF"/>
                </a:solidFill>
                <a:latin typeface="Syne"/>
              </a:rPr>
              <a:t>📊  View 1 — Farmer Dashboard</a:t>
            </a:r>
          </a:p>
        </p:txBody>
      </p:sp>
      <p:sp>
        <p:nvSpPr>
          <p:cNvPr id="8" name="TextBox 7"/>
          <p:cNvSpPr txBox="1"/>
          <p:nvPr/>
        </p:nvSpPr>
        <p:spPr>
          <a:xfrm>
            <a:off x="493776" y="1810512"/>
            <a:ext cx="3511296" cy="749808"/>
          </a:xfrm>
          <a:prstGeom prst="rect">
            <a:avLst/>
          </a:prstGeom>
          <a:noFill/>
        </p:spPr>
        <p:txBody>
          <a:bodyPr wrap="square">
            <a:spAutoFit/>
          </a:bodyPr>
          <a:lstStyle/>
          <a:p>
            <a:pPr algn="l"/>
            <a:r>
              <a:rPr sz="880" b="0" i="0">
                <a:solidFill>
                  <a:srgbClr val="E8F0E9"/>
                </a:solidFill>
                <a:latin typeface="Geist"/>
              </a:rPr>
              <a:t>Clean, modern interface displaying quick statistics (total scans, disease alerts, recent activity) and a sortable/filterable table of past prediction history.</a:t>
            </a:r>
          </a:p>
        </p:txBody>
      </p:sp>
      <p:sp>
        <p:nvSpPr>
          <p:cNvPr id="9" name="Rectangle 8"/>
          <p:cNvSpPr/>
          <p:nvPr/>
        </p:nvSpPr>
        <p:spPr>
          <a:xfrm>
            <a:off x="493776" y="2651760"/>
            <a:ext cx="3511296" cy="1098880"/>
          </a:xfrm>
          <a:prstGeom prst="rect">
            <a:avLst/>
          </a:prstGeom>
          <a:solidFill>
            <a:srgbClr val="0A121E"/>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0352" y="2706624"/>
            <a:ext cx="3438144" cy="1627632"/>
          </a:xfrm>
          <a:prstGeom prst="rect">
            <a:avLst/>
          </a:prstGeom>
          <a:noFill/>
        </p:spPr>
        <p:txBody>
          <a:bodyPr wrap="none">
            <a:spAutoFit/>
          </a:bodyPr>
          <a:lstStyle/>
          <a:p>
            <a:r>
              <a:rPr sz="680">
                <a:solidFill>
                  <a:srgbClr val="547808"/>
                </a:solidFill>
                <a:latin typeface="Courier New"/>
              </a:rPr>
              <a:t>┌─────────────────────────────┐</a:t>
            </a:r>
          </a:p>
          <a:p>
            <a:r>
              <a:rPr sz="680">
                <a:solidFill>
                  <a:srgbClr val="FFFFFF"/>
                </a:solidFill>
                <a:latin typeface="Courier New"/>
              </a:rPr>
              <a:t>│  🌾 Farmer Dashboard         │</a:t>
            </a:r>
          </a:p>
          <a:p>
            <a:r>
              <a:rPr sz="680">
                <a:solidFill>
                  <a:srgbClr val="E8F0E9"/>
                </a:solidFill>
                <a:latin typeface="Courier New"/>
              </a:rPr>
              <a:t>│  [Scans: 24] [Alerts: 3]    │</a:t>
            </a:r>
          </a:p>
          <a:p>
            <a:r>
              <a:rPr sz="680">
                <a:solidFill>
                  <a:srgbClr val="A0B8A8"/>
                </a:solidFill>
                <a:latin typeface="Courier New"/>
              </a:rPr>
              <a:t>│  ─────────────────────────  │</a:t>
            </a:r>
          </a:p>
          <a:p>
            <a:r>
              <a:rPr sz="680">
                <a:solidFill>
                  <a:srgbClr val="E8F0E9"/>
                </a:solidFill>
                <a:latin typeface="Courier New"/>
              </a:rPr>
              <a:t>│  Date   Crop    Disease  Conf│</a:t>
            </a:r>
          </a:p>
          <a:p>
            <a:r>
              <a:rPr sz="680">
                <a:solidFill>
                  <a:srgbClr val="6A9A0F"/>
                </a:solidFill>
                <a:latin typeface="Courier New"/>
              </a:rPr>
              <a:t>│  13 Oct Tomato  Late Blt 91% │</a:t>
            </a:r>
          </a:p>
          <a:p>
            <a:r>
              <a:rPr sz="680">
                <a:solidFill>
                  <a:srgbClr val="E8F0E9"/>
                </a:solidFill>
                <a:latin typeface="Courier New"/>
              </a:rPr>
              <a:t>│  11 Oct Maize   Grey Leaf 78%│</a:t>
            </a:r>
          </a:p>
          <a:p>
            <a:r>
              <a:rPr sz="680">
                <a:solidFill>
                  <a:srgbClr val="547808"/>
                </a:solidFill>
                <a:latin typeface="Courier New"/>
              </a:rPr>
              <a:t>└─────────────────────────────┘</a:t>
            </a:r>
          </a:p>
        </p:txBody>
      </p:sp>
      <p:sp>
        <p:nvSpPr>
          <p:cNvPr id="11" name="TextBox 10"/>
          <p:cNvSpPr txBox="1"/>
          <p:nvPr/>
        </p:nvSpPr>
        <p:spPr>
          <a:xfrm>
            <a:off x="493776" y="4480560"/>
            <a:ext cx="3511296" cy="1828800"/>
          </a:xfrm>
          <a:prstGeom prst="rect">
            <a:avLst/>
          </a:prstGeom>
          <a:noFill/>
        </p:spPr>
        <p:txBody>
          <a:bodyPr wrap="square">
            <a:spAutoFit/>
          </a:bodyPr>
          <a:lstStyle/>
          <a:p>
            <a:r>
              <a:rPr sz="880">
                <a:solidFill>
                  <a:srgbClr val="E8F0E9"/>
                </a:solidFill>
                <a:latin typeface="Geist"/>
              </a:rPr>
              <a:t>✓  KPI stat cards: scans, diseases, resolved</a:t>
            </a:r>
          </a:p>
          <a:p>
            <a:r>
              <a:rPr sz="880">
                <a:solidFill>
                  <a:srgbClr val="E8F0E9"/>
                </a:solidFill>
                <a:latin typeface="Geist"/>
              </a:rPr>
              <a:t>✓  Prediction history table with search &amp; sort</a:t>
            </a:r>
          </a:p>
          <a:p>
            <a:r>
              <a:rPr sz="880">
                <a:solidFill>
                  <a:srgbClr val="E8F0E9"/>
                </a:solidFill>
                <a:latin typeface="Geist"/>
              </a:rPr>
              <a:t>✓  Disease frequency trend line chart</a:t>
            </a:r>
          </a:p>
          <a:p>
            <a:r>
              <a:rPr sz="880">
                <a:solidFill>
                  <a:srgbClr val="E8F0E9"/>
                </a:solidFill>
                <a:latin typeface="Geist"/>
              </a:rPr>
              <a:t>✓  Quick-scan action button (top right)</a:t>
            </a:r>
          </a:p>
        </p:txBody>
      </p:sp>
      <p:sp>
        <p:nvSpPr>
          <p:cNvPr id="12" name="Rectangle 11"/>
          <p:cNvSpPr/>
          <p:nvPr/>
        </p:nvSpPr>
        <p:spPr>
          <a:xfrm>
            <a:off x="4297680" y="1389888"/>
            <a:ext cx="3730752" cy="3111566"/>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97680" y="1389888"/>
            <a:ext cx="3730752" cy="219776"/>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0" y="1426464"/>
            <a:ext cx="3547872" cy="347472"/>
          </a:xfrm>
          <a:prstGeom prst="rect">
            <a:avLst/>
          </a:prstGeom>
          <a:noFill/>
        </p:spPr>
        <p:txBody>
          <a:bodyPr wrap="square">
            <a:spAutoFit/>
          </a:bodyPr>
          <a:lstStyle/>
          <a:p>
            <a:pPr algn="l"/>
            <a:r>
              <a:rPr sz="1200" b="1" i="0">
                <a:solidFill>
                  <a:srgbClr val="FFFFFF"/>
                </a:solidFill>
                <a:latin typeface="Syne"/>
              </a:rPr>
              <a:t>📷  View 2 — Upload Interface</a:t>
            </a:r>
          </a:p>
        </p:txBody>
      </p:sp>
      <p:sp>
        <p:nvSpPr>
          <p:cNvPr id="15" name="TextBox 14"/>
          <p:cNvSpPr txBox="1"/>
          <p:nvPr/>
        </p:nvSpPr>
        <p:spPr>
          <a:xfrm>
            <a:off x="4407408" y="1810512"/>
            <a:ext cx="3511296" cy="749808"/>
          </a:xfrm>
          <a:prstGeom prst="rect">
            <a:avLst/>
          </a:prstGeom>
          <a:noFill/>
        </p:spPr>
        <p:txBody>
          <a:bodyPr wrap="square">
            <a:spAutoFit/>
          </a:bodyPr>
          <a:lstStyle/>
          <a:p>
            <a:pPr algn="l"/>
            <a:r>
              <a:rPr sz="880" b="0" i="0">
                <a:solidFill>
                  <a:srgbClr val="E8F0E9"/>
                </a:solidFill>
                <a:latin typeface="Geist"/>
              </a:rPr>
              <a:t>Drag-and-drop leaf upload zone with live image preview, crop species selector, farm plot notes field, and prominent 'Predict Disease' action button.</a:t>
            </a:r>
          </a:p>
        </p:txBody>
      </p:sp>
      <p:sp>
        <p:nvSpPr>
          <p:cNvPr id="16" name="Rectangle 15"/>
          <p:cNvSpPr/>
          <p:nvPr/>
        </p:nvSpPr>
        <p:spPr>
          <a:xfrm>
            <a:off x="4407408" y="2651760"/>
            <a:ext cx="3511296" cy="1098880"/>
          </a:xfrm>
          <a:prstGeom prst="rect">
            <a:avLst/>
          </a:prstGeom>
          <a:solidFill>
            <a:srgbClr val="0A121E"/>
          </a:solidFill>
          <a:ln w="12700">
            <a:solidFill>
              <a:srgbClr val="228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43984" y="2706624"/>
            <a:ext cx="3438144" cy="1627632"/>
          </a:xfrm>
          <a:prstGeom prst="rect">
            <a:avLst/>
          </a:prstGeom>
          <a:noFill/>
        </p:spPr>
        <p:txBody>
          <a:bodyPr wrap="none">
            <a:spAutoFit/>
          </a:bodyPr>
          <a:lstStyle/>
          <a:p>
            <a:r>
              <a:rPr sz="680">
                <a:solidFill>
                  <a:srgbClr val="228BE6"/>
                </a:solidFill>
                <a:latin typeface="Courier New"/>
              </a:rPr>
              <a:t>┌─────────────────────────────┐</a:t>
            </a:r>
          </a:p>
          <a:p>
            <a:r>
              <a:rPr sz="680">
                <a:solidFill>
                  <a:srgbClr val="FFFFFF"/>
                </a:solidFill>
                <a:latin typeface="Courier New"/>
              </a:rPr>
              <a:t>│  📷 Scan Leaf Image          │</a:t>
            </a:r>
          </a:p>
          <a:p>
            <a:r>
              <a:rPr sz="680">
                <a:solidFill>
                  <a:srgbClr val="A0B8A8"/>
                </a:solidFill>
                <a:latin typeface="Courier New"/>
              </a:rPr>
              <a:t>│  ┌───────────────────────┐  │</a:t>
            </a:r>
          </a:p>
          <a:p>
            <a:r>
              <a:rPr sz="680">
                <a:solidFill>
                  <a:srgbClr val="E8F0E9"/>
                </a:solidFill>
                <a:latin typeface="Courier New"/>
              </a:rPr>
              <a:t>│  │   Drop image here     │  │</a:t>
            </a:r>
          </a:p>
          <a:p>
            <a:r>
              <a:rPr sz="680">
                <a:solidFill>
                  <a:srgbClr val="A0B8A8"/>
                </a:solidFill>
                <a:latin typeface="Courier New"/>
              </a:rPr>
              <a:t>│  │   or tap to capture   │  │</a:t>
            </a:r>
          </a:p>
          <a:p>
            <a:r>
              <a:rPr sz="680">
                <a:solidFill>
                  <a:srgbClr val="A0B8A8"/>
                </a:solidFill>
                <a:latin typeface="Courier New"/>
              </a:rPr>
              <a:t>│  └───────────────────────┘  │</a:t>
            </a:r>
          </a:p>
          <a:p>
            <a:r>
              <a:rPr sz="680">
                <a:solidFill>
                  <a:srgbClr val="E8F0E9"/>
                </a:solidFill>
                <a:latin typeface="Courier New"/>
              </a:rPr>
              <a:t>│  [Crop ▾]  [Notes...]       │</a:t>
            </a:r>
          </a:p>
          <a:p>
            <a:r>
              <a:rPr sz="680">
                <a:solidFill>
                  <a:srgbClr val="228BE6"/>
                </a:solidFill>
                <a:latin typeface="Courier New"/>
              </a:rPr>
              <a:t>│  [  🔍 Predict Disease  ]   │</a:t>
            </a:r>
          </a:p>
          <a:p>
            <a:r>
              <a:rPr sz="680">
                <a:solidFill>
                  <a:srgbClr val="228BE6"/>
                </a:solidFill>
                <a:latin typeface="Courier New"/>
              </a:rPr>
              <a:t>└─────────────────────────────┘</a:t>
            </a:r>
          </a:p>
        </p:txBody>
      </p:sp>
      <p:sp>
        <p:nvSpPr>
          <p:cNvPr id="18" name="TextBox 17"/>
          <p:cNvSpPr txBox="1"/>
          <p:nvPr/>
        </p:nvSpPr>
        <p:spPr>
          <a:xfrm>
            <a:off x="4407408" y="4480560"/>
            <a:ext cx="3511296" cy="1828800"/>
          </a:xfrm>
          <a:prstGeom prst="rect">
            <a:avLst/>
          </a:prstGeom>
          <a:noFill/>
        </p:spPr>
        <p:txBody>
          <a:bodyPr wrap="square">
            <a:spAutoFit/>
          </a:bodyPr>
          <a:lstStyle/>
          <a:p>
            <a:r>
              <a:rPr sz="880">
                <a:solidFill>
                  <a:srgbClr val="E8F0E9"/>
                </a:solidFill>
                <a:latin typeface="Geist"/>
              </a:rPr>
              <a:t>✓  Drag-and-drop + click-to-browse upload zone</a:t>
            </a:r>
          </a:p>
          <a:p>
            <a:r>
              <a:rPr sz="880">
                <a:solidFill>
                  <a:srgbClr val="E8F0E9"/>
                </a:solidFill>
                <a:latin typeface="Geist"/>
              </a:rPr>
              <a:t>✓  Mobile rear camera capture (capture=environment)</a:t>
            </a:r>
          </a:p>
          <a:p>
            <a:r>
              <a:rPr sz="880">
                <a:solidFill>
                  <a:srgbClr val="E8F0E9"/>
                </a:solidFill>
                <a:latin typeface="Geist"/>
              </a:rPr>
              <a:t>✓  WebRTC live webcam viewfinder toggle</a:t>
            </a:r>
          </a:p>
          <a:p>
            <a:r>
              <a:rPr sz="880">
                <a:solidFill>
                  <a:srgbClr val="E8F0E9"/>
                </a:solidFill>
                <a:latin typeface="Geist"/>
              </a:rPr>
              <a:t>✓  Crop species dropdown + plot notes input</a:t>
            </a:r>
          </a:p>
        </p:txBody>
      </p:sp>
      <p:sp>
        <p:nvSpPr>
          <p:cNvPr id="19" name="Rectangle 18"/>
          <p:cNvSpPr/>
          <p:nvPr/>
        </p:nvSpPr>
        <p:spPr>
          <a:xfrm>
            <a:off x="8211312" y="1389888"/>
            <a:ext cx="3730752" cy="3111566"/>
          </a:xfrm>
          <a:prstGeom prst="rect">
            <a:avLst/>
          </a:prstGeom>
          <a:solidFill>
            <a:srgbClr val="13273A"/>
          </a:solidFill>
          <a:ln w="12700">
            <a:solidFill>
              <a:srgbClr val="547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11312" y="1389888"/>
            <a:ext cx="3730752" cy="219776"/>
          </a:xfrm>
          <a:prstGeom prst="rect">
            <a:avLst/>
          </a:prstGeom>
          <a:solidFill>
            <a:srgbClr val="F09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02752" y="1426464"/>
            <a:ext cx="3547872" cy="347472"/>
          </a:xfrm>
          <a:prstGeom prst="rect">
            <a:avLst/>
          </a:prstGeom>
          <a:noFill/>
        </p:spPr>
        <p:txBody>
          <a:bodyPr wrap="square">
            <a:spAutoFit/>
          </a:bodyPr>
          <a:lstStyle/>
          <a:p>
            <a:pPr algn="l"/>
            <a:r>
              <a:rPr sz="1200" b="1" i="0">
                <a:solidFill>
                  <a:srgbClr val="FFFFFF"/>
                </a:solidFill>
                <a:latin typeface="Syne"/>
              </a:rPr>
              <a:t>🔬  View 3 — Results Modal</a:t>
            </a:r>
          </a:p>
        </p:txBody>
      </p:sp>
      <p:sp>
        <p:nvSpPr>
          <p:cNvPr id="22" name="TextBox 21"/>
          <p:cNvSpPr txBox="1"/>
          <p:nvPr/>
        </p:nvSpPr>
        <p:spPr>
          <a:xfrm>
            <a:off x="8321040" y="1810512"/>
            <a:ext cx="3511296" cy="749808"/>
          </a:xfrm>
          <a:prstGeom prst="rect">
            <a:avLst/>
          </a:prstGeom>
          <a:noFill/>
        </p:spPr>
        <p:txBody>
          <a:bodyPr wrap="square">
            <a:spAutoFit/>
          </a:bodyPr>
          <a:lstStyle/>
          <a:p>
            <a:pPr algn="l"/>
            <a:r>
              <a:rPr sz="880" b="0" i="0">
                <a:solidFill>
                  <a:srgbClr val="E8F0E9"/>
                </a:solidFill>
                <a:latin typeface="Geist"/>
              </a:rPr>
              <a:t>Dynamic results panel showing identified condition, AI confidence score with visual gauge, severity badge, and recommended organic &amp; chemical treatment protocols.</a:t>
            </a:r>
          </a:p>
        </p:txBody>
      </p:sp>
      <p:sp>
        <p:nvSpPr>
          <p:cNvPr id="23" name="Rectangle 22"/>
          <p:cNvSpPr/>
          <p:nvPr/>
        </p:nvSpPr>
        <p:spPr>
          <a:xfrm>
            <a:off x="8321040" y="2651760"/>
            <a:ext cx="3511296" cy="1098880"/>
          </a:xfrm>
          <a:prstGeom prst="rect">
            <a:avLst/>
          </a:prstGeom>
          <a:solidFill>
            <a:srgbClr val="0A121E"/>
          </a:solidFill>
          <a:ln w="12700">
            <a:solidFill>
              <a:srgbClr val="F09A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57616" y="2706624"/>
            <a:ext cx="3438144" cy="1627632"/>
          </a:xfrm>
          <a:prstGeom prst="rect">
            <a:avLst/>
          </a:prstGeom>
          <a:noFill/>
        </p:spPr>
        <p:txBody>
          <a:bodyPr wrap="none">
            <a:spAutoFit/>
          </a:bodyPr>
          <a:lstStyle/>
          <a:p>
            <a:r>
              <a:rPr sz="680">
                <a:solidFill>
                  <a:srgbClr val="F09A18"/>
                </a:solidFill>
                <a:latin typeface="Courier New"/>
              </a:rPr>
              <a:t>┌─────────────────────────────┐</a:t>
            </a:r>
          </a:p>
          <a:p>
            <a:r>
              <a:rPr sz="680">
                <a:solidFill>
                  <a:srgbClr val="FFFFFF"/>
                </a:solidFill>
                <a:latin typeface="Courier New"/>
              </a:rPr>
              <a:t>│  🔬 Prediction Result        │</a:t>
            </a:r>
          </a:p>
          <a:p>
            <a:r>
              <a:rPr sz="680">
                <a:solidFill>
                  <a:srgbClr val="F09A18"/>
                </a:solidFill>
                <a:latin typeface="Courier New"/>
              </a:rPr>
              <a:t>│  Late Blight  [HIGH ⚠️]      │</a:t>
            </a:r>
          </a:p>
          <a:p>
            <a:r>
              <a:rPr sz="680">
                <a:solidFill>
                  <a:srgbClr val="E8F0E9"/>
                </a:solidFill>
                <a:latin typeface="Courier New"/>
              </a:rPr>
              <a:t>│  Confidence: ████████░ 91%   │</a:t>
            </a:r>
          </a:p>
          <a:p>
            <a:r>
              <a:rPr sz="680">
                <a:solidFill>
                  <a:srgbClr val="A0B8A8"/>
                </a:solidFill>
                <a:latin typeface="Courier New"/>
              </a:rPr>
              <a:t>│  ─────────────────────────  │</a:t>
            </a:r>
          </a:p>
          <a:p>
            <a:r>
              <a:rPr sz="680">
                <a:solidFill>
                  <a:srgbClr val="6A9A0F"/>
                </a:solidFill>
                <a:latin typeface="Courier New"/>
              </a:rPr>
              <a:t>│  Organic: Copper Sulphate   │</a:t>
            </a:r>
          </a:p>
          <a:p>
            <a:r>
              <a:rPr sz="680">
                <a:solidFill>
                  <a:srgbClr val="228BE6"/>
                </a:solidFill>
                <a:latin typeface="Courier New"/>
              </a:rPr>
              <a:t>│  Chemical: Mancozeb 2g/L    │</a:t>
            </a:r>
          </a:p>
          <a:p>
            <a:r>
              <a:rPr sz="680">
                <a:solidFill>
                  <a:srgbClr val="E8F0E9"/>
                </a:solidFill>
                <a:latin typeface="Courier New"/>
              </a:rPr>
              <a:t>│  [📄 Export]  [✓ Confirm]   │</a:t>
            </a:r>
          </a:p>
          <a:p>
            <a:r>
              <a:rPr sz="680">
                <a:solidFill>
                  <a:srgbClr val="F09A18"/>
                </a:solidFill>
                <a:latin typeface="Courier New"/>
              </a:rPr>
              <a:t>└─────────────────────────────┘</a:t>
            </a:r>
          </a:p>
        </p:txBody>
      </p:sp>
      <p:sp>
        <p:nvSpPr>
          <p:cNvPr id="25" name="TextBox 24"/>
          <p:cNvSpPr txBox="1"/>
          <p:nvPr/>
        </p:nvSpPr>
        <p:spPr>
          <a:xfrm>
            <a:off x="8321040" y="4480560"/>
            <a:ext cx="3511296" cy="1828800"/>
          </a:xfrm>
          <a:prstGeom prst="rect">
            <a:avLst/>
          </a:prstGeom>
          <a:noFill/>
        </p:spPr>
        <p:txBody>
          <a:bodyPr wrap="square">
            <a:spAutoFit/>
          </a:bodyPr>
          <a:lstStyle/>
          <a:p>
            <a:r>
              <a:rPr sz="880">
                <a:solidFill>
                  <a:srgbClr val="E8F0E9"/>
                </a:solidFill>
                <a:latin typeface="Geist"/>
              </a:rPr>
              <a:t>✓  Disease name with severity badge (Low/Med/High)</a:t>
            </a:r>
          </a:p>
          <a:p>
            <a:r>
              <a:rPr sz="880">
                <a:solidFill>
                  <a:srgbClr val="E8F0E9"/>
                </a:solidFill>
                <a:latin typeface="Geist"/>
              </a:rPr>
              <a:t>✓  Animated confidence percentage gauge</a:t>
            </a:r>
          </a:p>
          <a:p>
            <a:r>
              <a:rPr sz="880">
                <a:solidFill>
                  <a:srgbClr val="E8F0E9"/>
                </a:solidFill>
                <a:latin typeface="Geist"/>
              </a:rPr>
              <a:t>✓  Organic &amp; chemical treatment protocol cards</a:t>
            </a:r>
          </a:p>
          <a:p>
            <a:r>
              <a:rPr sz="880">
                <a:solidFill>
                  <a:srgbClr val="E8F0E9"/>
                </a:solidFill>
                <a:latin typeface="Geist"/>
              </a:rPr>
              <a:t>✓  Download PDF report + share button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41E24"/>
        </a:solidFill>
        <a:effectLst/>
      </p:bgPr>
    </p:bg>
    <p:spTree>
      <p:nvGrpSpPr>
        <p:cNvPr id="1" name="Shape 231"/>
        <p:cNvGrpSpPr/>
        <p:nvPr/>
      </p:nvGrpSpPr>
      <p:grpSpPr>
        <a:xfrm>
          <a:off x="0" y="0"/>
          <a:ext cx="0" cy="0"/>
          <a:chOff x="0" y="0"/>
          <a:chExt cx="0" cy="0"/>
        </a:xfrm>
      </p:grpSpPr>
      <p:sp>
        <p:nvSpPr>
          <p:cNvPr id="232" name="Google Shape;232;p13"/>
          <p:cNvSpPr/>
          <p:nvPr/>
        </p:nvSpPr>
        <p:spPr>
          <a:xfrm>
            <a:off x="496119" y="488156"/>
            <a:ext cx="8151763" cy="708720"/>
          </a:xfrm>
          <a:prstGeom prst="rect">
            <a:avLst/>
          </a:prstGeom>
          <a:solidFill>
            <a:srgbClr val="547808"/>
          </a:solid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0F4F1"/>
              </a:buClr>
              <a:buSzPts val="2200"/>
              <a:buFont typeface="Syne ExtraBold"/>
              <a:buNone/>
            </a:pPr>
            <a:r>
              <a:rPr lang="en-US" sz="2200" b="0" i="0" u="none" strike="noStrike" cap="none">
                <a:solidFill>
                  <a:srgbClr val="F0F4F1"/>
                </a:solidFill>
                <a:latin typeface="Syne ExtraBold"/>
                <a:ea typeface="Syne ExtraBold"/>
                <a:cs typeface="Syne ExtraBold"/>
                <a:sym typeface="Syne ExtraBold"/>
              </a:rPr>
              <a:t>AgriVision makes advanced AI actionable</a:t>
            </a:r>
            <a:endParaRPr sz="2200" b="0" i="0" u="none" strike="noStrike" cap="none">
              <a:solidFill>
                <a:schemeClr val="dk1"/>
              </a:solidFill>
              <a:latin typeface="Calibri"/>
              <a:ea typeface="Calibri"/>
              <a:cs typeface="Calibri"/>
              <a:sym typeface="Calibri"/>
            </a:endParaRPr>
          </a:p>
        </p:txBody>
      </p:sp>
      <p:sp>
        <p:nvSpPr>
          <p:cNvPr id="233" name="Google Shape;233;p13"/>
          <p:cNvSpPr/>
          <p:nvPr/>
        </p:nvSpPr>
        <p:spPr>
          <a:xfrm>
            <a:off x="414486" y="1332905"/>
            <a:ext cx="4100810" cy="2828106"/>
          </a:xfrm>
          <a:prstGeom prst="roundRect">
            <a:avLst>
              <a:gd name="adj" fmla="val 2887"/>
            </a:avLst>
          </a:prstGeom>
          <a:solidFill>
            <a:srgbClr val="111A23">
              <a:alpha val="9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3"/>
          <p:cNvSpPr/>
          <p:nvPr/>
        </p:nvSpPr>
        <p:spPr>
          <a:xfrm>
            <a:off x="527893" y="1423615"/>
            <a:ext cx="3873996" cy="17718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0F4F1"/>
              </a:buClr>
              <a:buSzPts val="1100"/>
              <a:buFont typeface="Syne ExtraBold"/>
              <a:buNone/>
            </a:pPr>
            <a:r>
              <a:rPr lang="en-US" sz="1100" b="0" i="0" u="none" strike="noStrike" cap="none">
                <a:solidFill>
                  <a:srgbClr val="F0F4F1"/>
                </a:solidFill>
                <a:latin typeface="Syne ExtraBold"/>
                <a:ea typeface="Syne ExtraBold"/>
                <a:cs typeface="Syne ExtraBold"/>
                <a:sym typeface="Syne ExtraBold"/>
              </a:rPr>
              <a:t>What We Buil</a:t>
            </a:r>
            <a:r>
              <a:rPr lang="en-US" sz="1100">
                <a:solidFill>
                  <a:srgbClr val="F0F4F1"/>
                </a:solidFill>
                <a:latin typeface="Syne ExtraBold"/>
                <a:ea typeface="Syne ExtraBold"/>
                <a:cs typeface="Syne ExtraBold"/>
                <a:sym typeface="Syne ExtraBold"/>
              </a:rPr>
              <a:t>d</a:t>
            </a:r>
            <a:endParaRPr sz="1100" b="0" i="0" u="none" strike="noStrike" cap="none">
              <a:solidFill>
                <a:schemeClr val="dk1"/>
              </a:solidFill>
              <a:latin typeface="Calibri"/>
              <a:ea typeface="Calibri"/>
              <a:cs typeface="Calibri"/>
              <a:sym typeface="Calibri"/>
            </a:endParaRPr>
          </a:p>
        </p:txBody>
      </p:sp>
      <p:sp>
        <p:nvSpPr>
          <p:cNvPr id="235" name="Google Shape;235;p13"/>
          <p:cNvSpPr/>
          <p:nvPr/>
        </p:nvSpPr>
        <p:spPr>
          <a:xfrm>
            <a:off x="527893" y="1691506"/>
            <a:ext cx="3873996" cy="489793"/>
          </a:xfrm>
          <a:prstGeom prst="rect">
            <a:avLst/>
          </a:prstGeom>
          <a:noFill/>
          <a:ln>
            <a:noFill/>
          </a:ln>
        </p:spPr>
        <p:txBody>
          <a:bodyPr spcFirstLastPara="1" wrap="square" lIns="0" tIns="0" rIns="0" bIns="0" anchor="t" anchorCtr="0">
            <a:noAutofit/>
          </a:bodyPr>
          <a:lstStyle/>
          <a:p>
            <a:pPr marL="0" marR="0" lvl="0" indent="0" algn="just" rtl="0">
              <a:lnSpc>
                <a:spcPct val="120000"/>
              </a:lnSpc>
              <a:spcBef>
                <a:spcPts val="0"/>
              </a:spcBef>
              <a:spcAft>
                <a:spcPts val="0"/>
              </a:spcAft>
              <a:buClr>
                <a:srgbClr val="D7E5D8"/>
              </a:buClr>
              <a:buSzPts val="850"/>
              <a:buFont typeface="Syne"/>
              <a:buNone/>
            </a:pPr>
            <a:r>
              <a:rPr lang="en-US" sz="850" b="0" i="0" u="none" strike="noStrike" cap="none">
                <a:solidFill>
                  <a:srgbClr val="D7E5D8"/>
                </a:solidFill>
                <a:latin typeface="Syne"/>
                <a:ea typeface="Syne"/>
                <a:cs typeface="Syne"/>
                <a:sym typeface="Syne"/>
              </a:rPr>
              <a:t>A MERN-based web platform concept that connects </a:t>
            </a:r>
            <a:r>
              <a:rPr lang="en-US" sz="850" b="1" i="0" u="none" strike="noStrike" cap="none">
                <a:solidFill>
                  <a:srgbClr val="D7E5D8"/>
                </a:solidFill>
                <a:latin typeface="Syne"/>
                <a:ea typeface="Syne"/>
                <a:cs typeface="Syne"/>
                <a:sym typeface="Syne"/>
              </a:rPr>
              <a:t>authenticated users, image submission, CNN inference, prediction history, and treatment-oriented results</a:t>
            </a:r>
            <a:r>
              <a:rPr lang="en-US" sz="850" b="0" i="0" u="none" strike="noStrike" cap="none">
                <a:solidFill>
                  <a:srgbClr val="D7E5D8"/>
                </a:solidFill>
                <a:latin typeface="Syne"/>
                <a:ea typeface="Syne"/>
                <a:cs typeface="Syne"/>
                <a:sym typeface="Syne"/>
              </a:rPr>
              <a:t> through an AI microservice.</a:t>
            </a:r>
            <a:endParaRPr sz="850" b="0" i="0" u="none" strike="noStrike" cap="none">
              <a:solidFill>
                <a:schemeClr val="dk1"/>
              </a:solidFill>
              <a:latin typeface="Calibri"/>
              <a:ea typeface="Calibri"/>
              <a:cs typeface="Calibri"/>
              <a:sym typeface="Calibri"/>
            </a:endParaRPr>
          </a:p>
        </p:txBody>
      </p:sp>
      <p:sp>
        <p:nvSpPr>
          <p:cNvPr id="236" name="Google Shape;236;p13"/>
          <p:cNvSpPr/>
          <p:nvPr/>
        </p:nvSpPr>
        <p:spPr>
          <a:xfrm>
            <a:off x="527893" y="2283321"/>
            <a:ext cx="1891605" cy="1012701"/>
          </a:xfrm>
          <a:prstGeom prst="roundRect">
            <a:avLst>
              <a:gd name="adj" fmla="val 4704"/>
            </a:avLst>
          </a:prstGeom>
          <a:solidFill>
            <a:srgbClr val="547808"/>
          </a:solidFill>
          <a:ln w="9525" cap="flat" cmpd="sng">
            <a:solidFill>
              <a:srgbClr val="6D91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3"/>
          <p:cNvSpPr/>
          <p:nvPr/>
        </p:nvSpPr>
        <p:spPr>
          <a:xfrm>
            <a:off x="646063" y="2401491"/>
            <a:ext cx="1655266" cy="18194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100"/>
              <a:buFont typeface="Arial"/>
              <a:buNone/>
            </a:pPr>
            <a:r>
              <a:rPr lang="en-US" sz="1100" b="0" i="0" u="none" strike="noStrike" cap="none">
                <a:solidFill>
                  <a:srgbClr val="000000"/>
                </a:solidFill>
                <a:latin typeface="Arial"/>
                <a:ea typeface="Arial"/>
                <a:cs typeface="Arial"/>
                <a:sym typeface="Arial"/>
              </a:rPr>
              <a:t>🌿</a:t>
            </a:r>
            <a:r>
              <a:rPr lang="en-US" sz="1100" b="0" i="0" u="none" strike="noStrike" cap="none">
                <a:solidFill>
                  <a:srgbClr val="FFFFFF"/>
                </a:solidFill>
                <a:latin typeface="Syne ExtraBold"/>
                <a:ea typeface="Syne ExtraBold"/>
                <a:cs typeface="Syne ExtraBold"/>
                <a:sym typeface="Syne ExtraBold"/>
              </a:rPr>
              <a:t> Leaf Anchor</a:t>
            </a:r>
            <a:endParaRPr sz="1100" b="0" i="0" u="none" strike="noStrike" cap="none">
              <a:solidFill>
                <a:schemeClr val="dk1"/>
              </a:solidFill>
              <a:latin typeface="Calibri"/>
              <a:ea typeface="Calibri"/>
              <a:cs typeface="Calibri"/>
              <a:sym typeface="Calibri"/>
            </a:endParaRPr>
          </a:p>
        </p:txBody>
      </p:sp>
      <p:sp>
        <p:nvSpPr>
          <p:cNvPr id="238" name="Google Shape;238;p13"/>
          <p:cNvSpPr/>
          <p:nvPr/>
        </p:nvSpPr>
        <p:spPr>
          <a:xfrm>
            <a:off x="646063" y="2674144"/>
            <a:ext cx="1655266" cy="326529"/>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850"/>
              <a:buFont typeface="Syne"/>
              <a:buNone/>
            </a:pPr>
            <a:r>
              <a:rPr lang="en-US" sz="850" b="0" i="0" u="none" strike="noStrike" cap="none">
                <a:solidFill>
                  <a:srgbClr val="FFFFFF"/>
                </a:solidFill>
                <a:latin typeface="Syne"/>
                <a:ea typeface="Syne"/>
                <a:cs typeface="Syne"/>
                <a:sym typeface="Syne"/>
              </a:rPr>
              <a:t>Persistent visual identity across the entire system</a:t>
            </a:r>
            <a:endParaRPr sz="850" b="0" i="0" u="none" strike="noStrike" cap="none">
              <a:solidFill>
                <a:schemeClr val="dk1"/>
              </a:solidFill>
              <a:latin typeface="Calibri"/>
              <a:ea typeface="Calibri"/>
              <a:cs typeface="Calibri"/>
              <a:sym typeface="Calibri"/>
            </a:endParaRPr>
          </a:p>
        </p:txBody>
      </p:sp>
      <p:sp>
        <p:nvSpPr>
          <p:cNvPr id="239" name="Google Shape;239;p13"/>
          <p:cNvSpPr/>
          <p:nvPr/>
        </p:nvSpPr>
        <p:spPr>
          <a:xfrm>
            <a:off x="2510210" y="2283321"/>
            <a:ext cx="1891680" cy="1012701"/>
          </a:xfrm>
          <a:prstGeom prst="roundRect">
            <a:avLst>
              <a:gd name="adj" fmla="val 4704"/>
            </a:avLst>
          </a:prstGeom>
          <a:solidFill>
            <a:srgbClr val="547808"/>
          </a:solidFill>
          <a:ln w="9525" cap="flat" cmpd="sng">
            <a:solidFill>
              <a:srgbClr val="6D91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3"/>
          <p:cNvSpPr/>
          <p:nvPr/>
        </p:nvSpPr>
        <p:spPr>
          <a:xfrm>
            <a:off x="2628379" y="2401491"/>
            <a:ext cx="1655341" cy="35912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100"/>
              <a:buFont typeface="Arial"/>
              <a:buNone/>
            </a:pPr>
            <a:r>
              <a:rPr lang="en-US" sz="1100" b="0" i="0" u="none" strike="noStrike" cap="none">
                <a:solidFill>
                  <a:srgbClr val="000000"/>
                </a:solidFill>
                <a:latin typeface="Arial"/>
                <a:ea typeface="Arial"/>
                <a:cs typeface="Arial"/>
                <a:sym typeface="Arial"/>
              </a:rPr>
              <a:t>🔗</a:t>
            </a:r>
            <a:r>
              <a:rPr lang="en-US" sz="1100" b="0" i="0" u="none" strike="noStrike" cap="none">
                <a:solidFill>
                  <a:srgbClr val="FFFFFF"/>
                </a:solidFill>
                <a:latin typeface="Syne ExtraBold"/>
                <a:ea typeface="Syne ExtraBold"/>
                <a:cs typeface="Syne ExtraBold"/>
                <a:sym typeface="Syne ExtraBold"/>
              </a:rPr>
              <a:t> API Contract</a:t>
            </a:r>
            <a:endParaRPr sz="1100" b="0" i="0" u="none" strike="noStrike" cap="none">
              <a:solidFill>
                <a:schemeClr val="dk1"/>
              </a:solidFill>
              <a:latin typeface="Calibri"/>
              <a:ea typeface="Calibri"/>
              <a:cs typeface="Calibri"/>
              <a:sym typeface="Calibri"/>
            </a:endParaRPr>
          </a:p>
        </p:txBody>
      </p:sp>
      <p:sp>
        <p:nvSpPr>
          <p:cNvPr id="241" name="Google Shape;241;p13"/>
          <p:cNvSpPr/>
          <p:nvPr/>
        </p:nvSpPr>
        <p:spPr>
          <a:xfrm>
            <a:off x="2628379" y="2851324"/>
            <a:ext cx="1655341" cy="326529"/>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850"/>
              <a:buFont typeface="Syne"/>
              <a:buNone/>
            </a:pPr>
            <a:r>
              <a:rPr lang="en-US" sz="850" b="0" i="0" u="none" strike="noStrike" cap="none">
                <a:solidFill>
                  <a:srgbClr val="FFFFFF"/>
                </a:solidFill>
                <a:latin typeface="Syne"/>
                <a:ea typeface="Syne"/>
                <a:cs typeface="Syne"/>
                <a:sym typeface="Syne"/>
              </a:rPr>
              <a:t>Clean boundary between MERN and Python inference</a:t>
            </a:r>
            <a:endParaRPr sz="850" b="0" i="0" u="none" strike="noStrike" cap="none">
              <a:solidFill>
                <a:schemeClr val="dk1"/>
              </a:solidFill>
              <a:latin typeface="Calibri"/>
              <a:ea typeface="Calibri"/>
              <a:cs typeface="Calibri"/>
              <a:sym typeface="Calibri"/>
            </a:endParaRPr>
          </a:p>
        </p:txBody>
      </p:sp>
      <p:sp>
        <p:nvSpPr>
          <p:cNvPr id="242" name="Google Shape;242;p13"/>
          <p:cNvSpPr/>
          <p:nvPr/>
        </p:nvSpPr>
        <p:spPr>
          <a:xfrm>
            <a:off x="527893" y="3386733"/>
            <a:ext cx="3873996" cy="672257"/>
          </a:xfrm>
          <a:prstGeom prst="roundRect">
            <a:avLst>
              <a:gd name="adj" fmla="val 7086"/>
            </a:avLst>
          </a:prstGeom>
          <a:solidFill>
            <a:srgbClr val="547808"/>
          </a:solidFill>
          <a:ln w="9525" cap="flat" cmpd="sng">
            <a:solidFill>
              <a:srgbClr val="6D91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3"/>
          <p:cNvSpPr/>
          <p:nvPr/>
        </p:nvSpPr>
        <p:spPr>
          <a:xfrm>
            <a:off x="646063" y="3504902"/>
            <a:ext cx="3637657" cy="18194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100"/>
              <a:buFont typeface="Arial"/>
              <a:buNone/>
            </a:pPr>
            <a:r>
              <a:rPr lang="en-US" sz="1100" b="0" i="0" u="none" strike="noStrike" cap="none">
                <a:solidFill>
                  <a:srgbClr val="000000"/>
                </a:solidFill>
                <a:latin typeface="Arial"/>
                <a:ea typeface="Arial"/>
                <a:cs typeface="Arial"/>
                <a:sym typeface="Arial"/>
              </a:rPr>
              <a:t>📊</a:t>
            </a:r>
            <a:r>
              <a:rPr lang="en-US" sz="1100" b="0" i="0" u="none" strike="noStrike" cap="none">
                <a:solidFill>
                  <a:srgbClr val="FFFFFF"/>
                </a:solidFill>
                <a:latin typeface="Syne ExtraBold"/>
                <a:ea typeface="Syne ExtraBold"/>
                <a:cs typeface="Syne ExtraBold"/>
                <a:sym typeface="Syne ExtraBold"/>
              </a:rPr>
              <a:t> History</a:t>
            </a:r>
            <a:endParaRPr sz="1100" b="0" i="0" u="none" strike="noStrike" cap="none">
              <a:solidFill>
                <a:schemeClr val="dk1"/>
              </a:solidFill>
              <a:latin typeface="Calibri"/>
              <a:ea typeface="Calibri"/>
              <a:cs typeface="Calibri"/>
              <a:sym typeface="Calibri"/>
            </a:endParaRPr>
          </a:p>
        </p:txBody>
      </p:sp>
      <p:sp>
        <p:nvSpPr>
          <p:cNvPr id="244" name="Google Shape;244;p13"/>
          <p:cNvSpPr/>
          <p:nvPr/>
        </p:nvSpPr>
        <p:spPr>
          <a:xfrm>
            <a:off x="646063" y="3777555"/>
            <a:ext cx="3637657" cy="163264"/>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850"/>
              <a:buFont typeface="Syne"/>
              <a:buNone/>
            </a:pPr>
            <a:r>
              <a:rPr lang="en-US" sz="850" b="0" i="0" u="none" strike="noStrike" cap="none">
                <a:solidFill>
                  <a:srgbClr val="FFFFFF"/>
                </a:solidFill>
                <a:latin typeface="Syne"/>
                <a:ea typeface="Syne"/>
                <a:cs typeface="Syne"/>
                <a:sym typeface="Syne"/>
              </a:rPr>
              <a:t>MongoDB-backed prediction logs for trend review</a:t>
            </a:r>
            <a:endParaRPr sz="850" b="0" i="0" u="none" strike="noStrike" cap="none">
              <a:solidFill>
                <a:schemeClr val="dk1"/>
              </a:solidFill>
              <a:latin typeface="Calibri"/>
              <a:ea typeface="Calibri"/>
              <a:cs typeface="Calibri"/>
              <a:sym typeface="Calibri"/>
            </a:endParaRPr>
          </a:p>
        </p:txBody>
      </p:sp>
      <p:sp>
        <p:nvSpPr>
          <p:cNvPr id="245" name="Google Shape;245;p13"/>
          <p:cNvSpPr/>
          <p:nvPr/>
        </p:nvSpPr>
        <p:spPr>
          <a:xfrm>
            <a:off x="4715098" y="1423615"/>
            <a:ext cx="3937546" cy="17718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0F4F1"/>
              </a:buClr>
              <a:buSzPts val="1100"/>
              <a:buFont typeface="Syne ExtraBold"/>
              <a:buNone/>
            </a:pPr>
            <a:r>
              <a:rPr lang="en-US" sz="1100" b="0" i="0" u="none" strike="noStrike" cap="none">
                <a:solidFill>
                  <a:srgbClr val="F0F4F1"/>
                </a:solidFill>
                <a:latin typeface="Syne ExtraBold"/>
                <a:ea typeface="Syne ExtraBold"/>
                <a:cs typeface="Syne ExtraBold"/>
                <a:sym typeface="Syne ExtraBold"/>
              </a:rPr>
              <a:t>Why It Matters</a:t>
            </a:r>
            <a:endParaRPr sz="1100" b="0" i="0" u="none" strike="noStrike" cap="none">
              <a:solidFill>
                <a:schemeClr val="dk1"/>
              </a:solidFill>
              <a:latin typeface="Calibri"/>
              <a:ea typeface="Calibri"/>
              <a:cs typeface="Calibri"/>
              <a:sym typeface="Calibri"/>
            </a:endParaRPr>
          </a:p>
        </p:txBody>
      </p:sp>
      <p:sp>
        <p:nvSpPr>
          <p:cNvPr id="246" name="Google Shape;246;p13"/>
          <p:cNvSpPr/>
          <p:nvPr/>
        </p:nvSpPr>
        <p:spPr>
          <a:xfrm>
            <a:off x="4715098" y="1691506"/>
            <a:ext cx="3937546" cy="489793"/>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D7E5D8"/>
              </a:buClr>
              <a:buSzPts val="850"/>
              <a:buFont typeface="Syne"/>
              <a:buNone/>
            </a:pPr>
            <a:r>
              <a:rPr lang="en-US" sz="850" b="0" i="0" u="none" strike="noStrike" cap="none">
                <a:solidFill>
                  <a:srgbClr val="D7E5D8"/>
                </a:solidFill>
                <a:latin typeface="Syne"/>
                <a:ea typeface="Syne"/>
                <a:cs typeface="Syne"/>
                <a:sym typeface="Syne"/>
              </a:rPr>
              <a:t>Accessible early screening can help farmers </a:t>
            </a:r>
            <a:r>
              <a:rPr lang="en-US" sz="850" b="1" i="0" u="none" strike="noStrike" cap="none">
                <a:solidFill>
                  <a:srgbClr val="D7E5D8"/>
                </a:solidFill>
                <a:latin typeface="Syne"/>
                <a:ea typeface="Syne"/>
                <a:cs typeface="Syne"/>
                <a:sym typeface="Syne"/>
              </a:rPr>
              <a:t>respond sooner</a:t>
            </a:r>
            <a:r>
              <a:rPr lang="en-US" sz="850" b="0" i="0" u="none" strike="noStrike" cap="none">
                <a:solidFill>
                  <a:srgbClr val="D7E5D8"/>
                </a:solidFill>
                <a:latin typeface="Syne"/>
                <a:ea typeface="Syne"/>
                <a:cs typeface="Syne"/>
                <a:sym typeface="Syne"/>
              </a:rPr>
              <a:t>, reduce avoidable yield loss, and support more </a:t>
            </a:r>
            <a:r>
              <a:rPr lang="en-US" sz="850" b="1" i="0" u="none" strike="noStrike" cap="none">
                <a:solidFill>
                  <a:srgbClr val="D7E5D8"/>
                </a:solidFill>
                <a:latin typeface="Syne"/>
                <a:ea typeface="Syne"/>
                <a:cs typeface="Syne"/>
                <a:sym typeface="Syne"/>
              </a:rPr>
              <a:t>sustainable agricultural decisions</a:t>
            </a:r>
            <a:r>
              <a:rPr lang="en-US" sz="850" b="0" i="0" u="none" strike="noStrike" cap="none">
                <a:solidFill>
                  <a:srgbClr val="D7E5D8"/>
                </a:solidFill>
                <a:latin typeface="Syne"/>
                <a:ea typeface="Syne"/>
                <a:cs typeface="Syne"/>
                <a:sym typeface="Syne"/>
              </a:rPr>
              <a:t>.</a:t>
            </a:r>
            <a:endParaRPr sz="850" b="0" i="0" u="none" strike="noStrike" cap="none">
              <a:solidFill>
                <a:schemeClr val="dk1"/>
              </a:solidFill>
              <a:latin typeface="Calibri"/>
              <a:ea typeface="Calibri"/>
              <a:cs typeface="Calibri"/>
              <a:sym typeface="Calibri"/>
            </a:endParaRPr>
          </a:p>
        </p:txBody>
      </p:sp>
      <p:sp>
        <p:nvSpPr>
          <p:cNvPr id="247" name="Google Shape;247;p13"/>
          <p:cNvSpPr/>
          <p:nvPr/>
        </p:nvSpPr>
        <p:spPr>
          <a:xfrm>
            <a:off x="4885209" y="2364953"/>
            <a:ext cx="3767435" cy="326529"/>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D7E5D8"/>
              </a:buClr>
              <a:buSzPts val="850"/>
              <a:buFont typeface="Syne"/>
              <a:buNone/>
            </a:pPr>
            <a:r>
              <a:rPr lang="en-US" sz="850" b="0" i="0" u="none" strike="noStrike" cap="none">
                <a:solidFill>
                  <a:srgbClr val="D7E5D8"/>
                </a:solidFill>
                <a:latin typeface="Syne"/>
                <a:ea typeface="Syne"/>
                <a:cs typeface="Syne"/>
                <a:sym typeface="Syne"/>
              </a:rPr>
              <a:t>The differentiator is not the model — it is the complete workflow that puts the model in a farmer's hands.</a:t>
            </a:r>
            <a:endParaRPr sz="850" b="0" i="0" u="none" strike="noStrike" cap="none">
              <a:solidFill>
                <a:schemeClr val="dk1"/>
              </a:solidFill>
              <a:latin typeface="Calibri"/>
              <a:ea typeface="Calibri"/>
              <a:cs typeface="Calibri"/>
              <a:sym typeface="Calibri"/>
            </a:endParaRPr>
          </a:p>
        </p:txBody>
      </p:sp>
      <p:sp>
        <p:nvSpPr>
          <p:cNvPr id="248" name="Google Shape;248;p13"/>
          <p:cNvSpPr/>
          <p:nvPr/>
        </p:nvSpPr>
        <p:spPr>
          <a:xfrm>
            <a:off x="4715098" y="2283321"/>
            <a:ext cx="14288" cy="489793"/>
          </a:xfrm>
          <a:prstGeom prst="roundRect">
            <a:avLst>
              <a:gd name="adj" fmla="val 49998"/>
            </a:avLst>
          </a:prstGeom>
          <a:solidFill>
            <a:srgbClr val="A9F0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3"/>
          <p:cNvSpPr/>
          <p:nvPr/>
        </p:nvSpPr>
        <p:spPr>
          <a:xfrm>
            <a:off x="4715098" y="2903488"/>
            <a:ext cx="3937546" cy="14288"/>
          </a:xfrm>
          <a:prstGeom prst="roundRect">
            <a:avLst>
              <a:gd name="adj" fmla="val 49998"/>
            </a:avLst>
          </a:prstGeom>
          <a:solidFill>
            <a:srgbClr val="D7E5D8">
              <a:alpha val="5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3"/>
          <p:cNvSpPr/>
          <p:nvPr/>
        </p:nvSpPr>
        <p:spPr>
          <a:xfrm>
            <a:off x="4715098" y="3048149"/>
            <a:ext cx="3937546" cy="17718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0F4F1"/>
              </a:buClr>
              <a:buSzPts val="1100"/>
              <a:buFont typeface="Syne ExtraBold"/>
              <a:buNone/>
            </a:pPr>
            <a:r>
              <a:rPr lang="en-US" sz="1100" b="0" i="0" u="none" strike="noStrike" cap="none">
                <a:solidFill>
                  <a:srgbClr val="F0F4F1"/>
                </a:solidFill>
                <a:latin typeface="Syne ExtraBold"/>
                <a:ea typeface="Syne ExtraBold"/>
                <a:cs typeface="Syne ExtraBold"/>
                <a:sym typeface="Syne ExtraBold"/>
              </a:rPr>
              <a:t>Questions?</a:t>
            </a:r>
            <a:endParaRPr sz="1100" b="0" i="0" u="none" strike="noStrike" cap="none">
              <a:solidFill>
                <a:schemeClr val="dk1"/>
              </a:solidFill>
              <a:latin typeface="Calibri"/>
              <a:ea typeface="Calibri"/>
              <a:cs typeface="Calibri"/>
              <a:sym typeface="Calibri"/>
            </a:endParaRPr>
          </a:p>
        </p:txBody>
      </p:sp>
      <p:sp>
        <p:nvSpPr>
          <p:cNvPr id="251" name="Google Shape;251;p13"/>
          <p:cNvSpPr/>
          <p:nvPr/>
        </p:nvSpPr>
        <p:spPr>
          <a:xfrm>
            <a:off x="4715098" y="3316039"/>
            <a:ext cx="3937546" cy="653058"/>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D7E5D8"/>
              </a:buClr>
              <a:buSzPts val="850"/>
              <a:buFont typeface="Syne"/>
              <a:buNone/>
            </a:pPr>
            <a:r>
              <a:rPr lang="en-US" sz="850" b="0" i="0" u="none" strike="noStrike" cap="none">
                <a:solidFill>
                  <a:srgbClr val="D7E5D8"/>
                </a:solidFill>
                <a:latin typeface="Syne"/>
                <a:ea typeface="Syne"/>
                <a:cs typeface="Syne"/>
                <a:sym typeface="Syne"/>
              </a:rPr>
              <a:t>Presented by: </a:t>
            </a:r>
            <a:r>
              <a:rPr lang="en-US" sz="850" b="1" i="0" u="none" strike="noStrike" cap="none">
                <a:solidFill>
                  <a:srgbClr val="D7E5D8"/>
                </a:solidFill>
                <a:latin typeface="Syne"/>
                <a:ea typeface="Syne"/>
                <a:cs typeface="Syne"/>
                <a:sym typeface="Syne"/>
              </a:rPr>
              <a:t>[Madhan V M]</a:t>
            </a:r>
            <a:endParaRPr sz="850" b="0" i="0" u="none" strike="noStrike" cap="none">
              <a:solidFill>
                <a:schemeClr val="dk1"/>
              </a:solidFill>
              <a:latin typeface="Calibri"/>
              <a:ea typeface="Calibri"/>
              <a:cs typeface="Calibri"/>
              <a:sym typeface="Calibri"/>
            </a:endParaRPr>
          </a:p>
          <a:p>
            <a:pPr marL="0" marR="0" lvl="0" indent="0" algn="l" rtl="0">
              <a:lnSpc>
                <a:spcPct val="120000"/>
              </a:lnSpc>
              <a:spcBef>
                <a:spcPts val="600"/>
              </a:spcBef>
              <a:spcAft>
                <a:spcPts val="0"/>
              </a:spcAft>
              <a:buClr>
                <a:srgbClr val="D7E5D8"/>
              </a:buClr>
              <a:buSzPts val="850"/>
              <a:buFont typeface="Syne"/>
              <a:buNone/>
            </a:pPr>
            <a:r>
              <a:rPr lang="en-US" sz="850" b="0" i="0" u="none" strike="noStrike" cap="none">
                <a:solidFill>
                  <a:srgbClr val="D7E5D8"/>
                </a:solidFill>
                <a:latin typeface="Syne"/>
                <a:ea typeface="Syne"/>
                <a:cs typeface="Syne"/>
                <a:sym typeface="Syne"/>
              </a:rPr>
              <a:t>CLASS: </a:t>
            </a:r>
            <a:r>
              <a:rPr lang="en-US" sz="850" b="1" i="0" u="none" strike="noStrike" cap="none">
                <a:solidFill>
                  <a:srgbClr val="D7E5D8"/>
                </a:solidFill>
                <a:latin typeface="Syne"/>
                <a:ea typeface="Syne"/>
                <a:cs typeface="Syne"/>
                <a:sym typeface="Syne"/>
              </a:rPr>
              <a:t>[CSE III C]</a:t>
            </a:r>
            <a:endParaRPr sz="850" b="0" i="0" u="none" strike="noStrike" cap="none">
              <a:solidFill>
                <a:schemeClr val="dk1"/>
              </a:solidFill>
              <a:latin typeface="Calibri"/>
              <a:ea typeface="Calibri"/>
              <a:cs typeface="Calibri"/>
              <a:sym typeface="Calibri"/>
            </a:endParaRPr>
          </a:p>
          <a:p>
            <a:pPr marL="0" marR="0" lvl="0" indent="0" algn="l" rtl="0">
              <a:lnSpc>
                <a:spcPct val="120000"/>
              </a:lnSpc>
              <a:spcBef>
                <a:spcPts val="600"/>
              </a:spcBef>
              <a:spcAft>
                <a:spcPts val="0"/>
              </a:spcAft>
              <a:buClr>
                <a:srgbClr val="D7E5D8"/>
              </a:buClr>
              <a:buSzPts val="850"/>
              <a:buFont typeface="Syne"/>
              <a:buNone/>
            </a:pPr>
            <a:r>
              <a:rPr lang="en-US" sz="850" b="1" i="0" u="none" strike="noStrike" cap="none">
                <a:solidFill>
                  <a:srgbClr val="D7E5D8"/>
                </a:solidFill>
                <a:latin typeface="Syne"/>
                <a:ea typeface="Syne"/>
                <a:cs typeface="Syne"/>
                <a:sym typeface="Syne"/>
              </a:rPr>
              <a:t>REGISTER NUMBER : [310624104172]</a:t>
            </a:r>
            <a:endParaRPr sz="850" b="0" i="0" u="none" strike="noStrike" cap="none">
              <a:solidFill>
                <a:schemeClr val="dk1"/>
              </a:solidFill>
              <a:latin typeface="Calibri"/>
              <a:ea typeface="Calibri"/>
              <a:cs typeface="Calibri"/>
              <a:sym typeface="Calibri"/>
            </a:endParaRPr>
          </a:p>
        </p:txBody>
      </p:sp>
      <p:sp>
        <p:nvSpPr>
          <p:cNvPr id="252" name="Google Shape;252;p13"/>
          <p:cNvSpPr/>
          <p:nvPr/>
        </p:nvSpPr>
        <p:spPr>
          <a:xfrm>
            <a:off x="496119" y="4263033"/>
            <a:ext cx="8151763" cy="708720"/>
          </a:xfrm>
          <a:prstGeom prst="roundRect">
            <a:avLst>
              <a:gd name="adj" fmla="val 12142"/>
            </a:avLst>
          </a:prstGeom>
          <a:solidFill>
            <a:srgbClr val="54780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3" name="Google Shape;253;p13" descr="preencoded.png"/>
          <p:cNvPicPr preferRelativeResize="0"/>
          <p:nvPr/>
        </p:nvPicPr>
        <p:blipFill rotWithShape="1">
          <a:blip r:embed="rId3">
            <a:alphaModFix/>
          </a:blip>
          <a:srcRect/>
          <a:stretch/>
        </p:blipFill>
        <p:spPr>
          <a:xfrm>
            <a:off x="609526" y="4392364"/>
            <a:ext cx="141759" cy="113407"/>
          </a:xfrm>
          <a:prstGeom prst="rect">
            <a:avLst/>
          </a:prstGeom>
          <a:noFill/>
          <a:ln>
            <a:noFill/>
          </a:ln>
        </p:spPr>
      </p:pic>
      <p:sp>
        <p:nvSpPr>
          <p:cNvPr id="254" name="Google Shape;254;p13"/>
          <p:cNvSpPr/>
          <p:nvPr/>
        </p:nvSpPr>
        <p:spPr>
          <a:xfrm>
            <a:off x="864691" y="4382095"/>
            <a:ext cx="8126983" cy="163264"/>
          </a:xfrm>
          <a:prstGeom prst="rect">
            <a:avLst/>
          </a:prstGeom>
          <a:noFill/>
          <a:ln>
            <a:noFill/>
          </a:ln>
        </p:spPr>
        <p:txBody>
          <a:bodyPr spcFirstLastPara="1" wrap="square" lIns="0" tIns="0" rIns="0" bIns="0" anchor="t" anchorCtr="0">
            <a:noAutofit/>
          </a:bodyPr>
          <a:lstStyle/>
          <a:p>
            <a:pPr marL="0" lvl="0" indent="0" algn="l" rtl="0">
              <a:lnSpc>
                <a:spcPct val="130000"/>
              </a:lnSpc>
              <a:spcBef>
                <a:spcPts val="900"/>
              </a:spcBef>
              <a:spcAft>
                <a:spcPts val="0"/>
              </a:spcAft>
              <a:buClr>
                <a:srgbClr val="4B4A4A"/>
              </a:buClr>
              <a:buSzPts val="1050"/>
              <a:buFont typeface="Geist"/>
              <a:buNone/>
            </a:pPr>
            <a:r>
              <a:rPr lang="en-US" sz="1050" b="1">
                <a:solidFill>
                  <a:schemeClr val="lt1"/>
                </a:solidFill>
                <a:latin typeface="Syne"/>
                <a:ea typeface="Syne"/>
                <a:cs typeface="Syne"/>
                <a:sym typeface="Syne"/>
              </a:rPr>
              <a:t>"From Image Capture to Verified Treatment."</a:t>
            </a:r>
            <a:endParaRPr sz="1050" b="1">
              <a:solidFill>
                <a:schemeClr val="lt1"/>
              </a:solidFill>
              <a:latin typeface="Syne"/>
              <a:ea typeface="Syne"/>
              <a:cs typeface="Syne"/>
              <a:sym typeface="Syne"/>
            </a:endParaRPr>
          </a:p>
          <a:p>
            <a:pPr marL="0" marR="0" lvl="0" indent="0" algn="l" rtl="0">
              <a:lnSpc>
                <a:spcPct val="120000"/>
              </a:lnSpc>
              <a:spcBef>
                <a:spcPts val="0"/>
              </a:spcBef>
              <a:spcAft>
                <a:spcPts val="0"/>
              </a:spcAft>
              <a:buClr>
                <a:srgbClr val="FFFFFF"/>
              </a:buClr>
              <a:buSzPts val="850"/>
              <a:buFont typeface="Syne"/>
              <a:buNone/>
            </a:pPr>
            <a:endParaRPr sz="850" b="1">
              <a:solidFill>
                <a:schemeClr val="lt1"/>
              </a:solidFill>
              <a:latin typeface="Syne"/>
              <a:ea typeface="Syne"/>
              <a:cs typeface="Syne"/>
              <a:sym typeface="Syne"/>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2339</Words>
  <Application>Microsoft Office PowerPoint</Application>
  <PresentationFormat>On-screen Show (16:9)</PresentationFormat>
  <Paragraphs>353</Paragraphs>
  <Slides>17</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Calibri</vt:lpstr>
      <vt:lpstr>Syne ExtraBold</vt:lpstr>
      <vt:lpstr>Courier New</vt:lpstr>
      <vt:lpstr>Syne</vt:lpstr>
      <vt:lpstr>Arial</vt:lpstr>
      <vt:lpstr>Syne SemiBold</vt:lpstr>
      <vt:lpstr>Geist</vt:lpstr>
      <vt:lpstr>Syne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Vivin Anand</cp:lastModifiedBy>
  <cp:revision>1</cp:revision>
  <dcterms:modified xsi:type="dcterms:W3CDTF">2026-10-15T03:34:01Z</dcterms:modified>
</cp:coreProperties>
</file>